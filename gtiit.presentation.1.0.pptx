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26"/>
  </p:notesMasterIdLst>
  <p:sldIdLst>
    <p:sldId id="2561" r:id="rId2"/>
    <p:sldId id="2563" r:id="rId3"/>
    <p:sldId id="2585" r:id="rId4"/>
    <p:sldId id="256" r:id="rId5"/>
    <p:sldId id="2568" r:id="rId6"/>
    <p:sldId id="2569" r:id="rId7"/>
    <p:sldId id="2566" r:id="rId8"/>
    <p:sldId id="2567" r:id="rId9"/>
    <p:sldId id="2587" r:id="rId10"/>
    <p:sldId id="2586" r:id="rId11"/>
    <p:sldId id="2584" r:id="rId12"/>
    <p:sldId id="2572" r:id="rId13"/>
    <p:sldId id="2573" r:id="rId14"/>
    <p:sldId id="2588" r:id="rId15"/>
    <p:sldId id="2570" r:id="rId16"/>
    <p:sldId id="2591" r:id="rId17"/>
    <p:sldId id="2592" r:id="rId18"/>
    <p:sldId id="2593" r:id="rId19"/>
    <p:sldId id="257" r:id="rId20"/>
    <p:sldId id="2574" r:id="rId21"/>
    <p:sldId id="2575" r:id="rId22"/>
    <p:sldId id="2576" r:id="rId23"/>
    <p:sldId id="2580" r:id="rId24"/>
    <p:sldId id="25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07" d="100"/>
          <a:sy n="107" d="100"/>
        </p:scale>
        <p:origin x="128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6243E-B4D0-024A-94CF-47AB80EFC660}" type="datetimeFigureOut">
              <a:rPr lang="en-US" smtClean="0"/>
              <a:t>11/22/25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42FD1D-2884-6741-9DE4-8AD7C31CE529}" type="slidenum">
              <a:rPr lang="en-US" smtClean="0"/>
              <a:t>‹#›</a:t>
            </a:fld>
            <a:endParaRPr lang="en-US"/>
          </a:p>
        </p:txBody>
      </p:sp>
    </p:spTree>
    <p:extLst>
      <p:ext uri="{BB962C8B-B14F-4D97-AF65-F5344CB8AC3E}">
        <p14:creationId xmlns:p14="http://schemas.microsoft.com/office/powerpoint/2010/main" val="64715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38BB884C-A4F5-40D7-B4EA-405B2B1FF391}" type="slidenum">
              <a:t>1</a:t>
            </a:fld>
            <a:endParaRPr lang="en-US"/>
          </a:p>
        </p:txBody>
      </p:sp>
    </p:spTree>
    <p:extLst>
      <p:ext uri="{BB962C8B-B14F-4D97-AF65-F5344CB8AC3E}">
        <p14:creationId xmlns:p14="http://schemas.microsoft.com/office/powerpoint/2010/main" val="853440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 holds a Ph.D. in Bioinformatics &amp; Systems Biology from Boston University, where he conducted pioneering research in computational biology. He further advanced his expertise through postdoctoral fellowships at Harvard T.H. Chan School of Public Health and Harvard Medical School, focusing on cancer genetic epidemiology and bioinformatics. His academic foundation is strengthened by two Master's degrees—one in Computer Science from the University of Kansas and another in Biochemistry &amp; Molecular Biology from the University of Kansas Medical Center. Additionally, he completed a Bachelor of Science in Genetics at Wuhan University in China. This diverse educational background equips him with a robust interdisciplinary skill set, combining computational proficiency with deep biological insights, ideal for tackling complex problems in genomics and bioinformatics.
</a:t>
            </a:r>
          </a:p>
        </p:txBody>
      </p:sp>
      <p:sp>
        <p:nvSpPr>
          <p:cNvPr id="4" name="Slide Number Placeholder 3"/>
          <p:cNvSpPr>
            <a:spLocks noGrp="1"/>
          </p:cNvSpPr>
          <p:nvPr>
            <p:ph type="sldNum" sz="quarter" idx="5"/>
          </p:nvPr>
        </p:nvSpPr>
        <p:spPr/>
        <p:txBody>
          <a:bodyPr/>
          <a:lstStyle/>
          <a:p>
            <a:fld id="{38BB884C-A4F5-40D7-B4EA-405B2B1FF391}" type="slidenum">
              <a:t>2</a:t>
            </a:fld>
            <a:endParaRPr lang="en-US"/>
          </a:p>
        </p:txBody>
      </p:sp>
    </p:spTree>
    <p:extLst>
      <p:ext uri="{BB962C8B-B14F-4D97-AF65-F5344CB8AC3E}">
        <p14:creationId xmlns:p14="http://schemas.microsoft.com/office/powerpoint/2010/main" val="1947371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90CE7-CAF1-C282-3653-7015D42D1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81D67-7B0E-9EA0-E736-4123003518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A42933-E7AB-591B-79E6-BA6D1E16B0F3}"/>
              </a:ext>
            </a:extLst>
          </p:cNvPr>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 holds a Ph.D. in Bioinformatics &amp; Systems Biology from Boston University, where he conducted pioneering research in computational biology. He further advanced his expertise through postdoctoral fellowships at Harvard T.H. Chan School of Public Health and Harvard Medical School, focusing on cancer genetic epidemiology and bioinformatics. His academic foundation is strengthened by two Master's degrees—one in Computer Science from the University of Kansas and another in Biochemistry &amp; Molecular Biology from the University of Kansas Medical Center. Additionally, he completed a Bachelor of Science in Genetics at Wuhan University in China. This diverse educational background equips him with a robust interdisciplinary skill set, combining computational proficiency with deep biological insights, ideal for tackling complex problems in genomics and bioinformatics.
</a:t>
            </a:r>
          </a:p>
        </p:txBody>
      </p:sp>
      <p:sp>
        <p:nvSpPr>
          <p:cNvPr id="4" name="Slide Number Placeholder 3">
            <a:extLst>
              <a:ext uri="{FF2B5EF4-FFF2-40B4-BE49-F238E27FC236}">
                <a16:creationId xmlns:a16="http://schemas.microsoft.com/office/drawing/2014/main" id="{58969C23-7BE9-A062-825B-D2B825A383AD}"/>
              </a:ext>
            </a:extLst>
          </p:cNvPr>
          <p:cNvSpPr>
            <a:spLocks noGrp="1"/>
          </p:cNvSpPr>
          <p:nvPr>
            <p:ph type="sldNum" sz="quarter" idx="5"/>
          </p:nvPr>
        </p:nvSpPr>
        <p:spPr/>
        <p:txBody>
          <a:bodyPr/>
          <a:lstStyle/>
          <a:p>
            <a:fld id="{38BB884C-A4F5-40D7-B4EA-405B2B1FF391}" type="slidenum">
              <a:t>3</a:t>
            </a:fld>
            <a:endParaRPr lang="en-US"/>
          </a:p>
        </p:txBody>
      </p:sp>
    </p:spTree>
    <p:extLst>
      <p:ext uri="{BB962C8B-B14F-4D97-AF65-F5344CB8AC3E}">
        <p14:creationId xmlns:p14="http://schemas.microsoft.com/office/powerpoint/2010/main" val="1723983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Understanding GWAS and Statistical Concepts</a:t>
            </a:r>
          </a:p>
        </p:txBody>
      </p:sp>
      <p:sp>
        <p:nvSpPr>
          <p:cNvPr id="4" name="Slide Number Placeholder 3"/>
          <p:cNvSpPr>
            <a:spLocks noGrp="1"/>
          </p:cNvSpPr>
          <p:nvPr>
            <p:ph type="sldNum" sz="quarter" idx="5"/>
          </p:nvPr>
        </p:nvSpPr>
        <p:spPr/>
        <p:txBody>
          <a:bodyPr/>
          <a:lstStyle/>
          <a:p>
            <a:fld id="{38BB884C-A4F5-40D7-B4EA-405B2B1FF391}" type="slidenum">
              <a:t>5</a:t>
            </a:fld>
            <a:endParaRPr lang="en-US"/>
          </a:p>
        </p:txBody>
      </p:sp>
    </p:spTree>
    <p:extLst>
      <p:ext uri="{BB962C8B-B14F-4D97-AF65-F5344CB8AC3E}">
        <p14:creationId xmlns:p14="http://schemas.microsoft.com/office/powerpoint/2010/main" val="3076748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Genome-Wide Association Studies (GWAS) are designed to identify genetic variants associated with specific traits or diseases by scanning millions of single nucleotide polymorphisms (SNPs) across the genome. Each SNP is tested for association with a phenotype using regression models—logistic regression for case/control traits and linear regression for quantitative traits. The statistical significance of each SNP's association is measured using a p-value, derived from the test statistic under the null hypothesis that the SNP has no effect. Typically, the test statistic follows a chi-squared distribution with one degree of freedom, and the resulting p-value is adjusted for multiple testing using a genome-wide significance threshold, commonly set at 5×10⁻⁸. The results are visualized using a Manhattan plot, where the x-axis represents chromosomal positions and the y-axis shows –log10(p-value). Peaks in the plot indicate significant associations, with a horizontal line marking the genome-wide significance threshold. This visualization helps researchers quickly identify genomic regions of interest and potential causal variants.</a:t>
            </a:r>
          </a:p>
        </p:txBody>
      </p:sp>
      <p:sp>
        <p:nvSpPr>
          <p:cNvPr id="4" name="Slide Number Placeholder 3"/>
          <p:cNvSpPr>
            <a:spLocks noGrp="1"/>
          </p:cNvSpPr>
          <p:nvPr>
            <p:ph type="sldNum" sz="quarter" idx="5"/>
          </p:nvPr>
        </p:nvSpPr>
        <p:spPr/>
        <p:txBody>
          <a:bodyPr/>
          <a:lstStyle/>
          <a:p>
            <a:fld id="{38BB884C-A4F5-40D7-B4EA-405B2B1FF391}" type="slidenum">
              <a:t>6</a:t>
            </a:fld>
            <a:endParaRPr lang="en-US"/>
          </a:p>
        </p:txBody>
      </p:sp>
    </p:spTree>
    <p:extLst>
      <p:ext uri="{BB962C8B-B14F-4D97-AF65-F5344CB8AC3E}">
        <p14:creationId xmlns:p14="http://schemas.microsoft.com/office/powerpoint/2010/main" val="28793200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NID1 &amp; Melanoma Risk
</a:t>
            </a:r>
          </a:p>
        </p:txBody>
      </p:sp>
      <p:sp>
        <p:nvSpPr>
          <p:cNvPr id="4" name="Slide Number Placeholder 3"/>
          <p:cNvSpPr>
            <a:spLocks noGrp="1"/>
          </p:cNvSpPr>
          <p:nvPr>
            <p:ph type="sldNum" sz="quarter" idx="5"/>
          </p:nvPr>
        </p:nvSpPr>
        <p:spPr/>
        <p:txBody>
          <a:bodyPr/>
          <a:lstStyle/>
          <a:p>
            <a:fld id="{38BB884C-A4F5-40D7-B4EA-405B2B1FF391}" type="slidenum">
              <a:t>7</a:t>
            </a:fld>
            <a:endParaRPr lang="en-US"/>
          </a:p>
        </p:txBody>
      </p:sp>
    </p:spTree>
    <p:extLst>
      <p:ext uri="{BB962C8B-B14F-4D97-AF65-F5344CB8AC3E}">
        <p14:creationId xmlns:p14="http://schemas.microsoft.com/office/powerpoint/2010/main" val="2773312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The featured GWAS study co-authored by Mousheng Xu, published in Human Molecular Genetics (2011), investigates the genetic basis of melanocytic nevi and their link to melanoma risk. This two-stage GWAS involved a discovery cohort of 9,136 Europeans with self-reported nevus counts and a replication cohort of 3,581 individuals. The study identified the NID1 locus on chromosome 1q42 as significantly associated with nevus count, with lead SNPs rs3768080 and rs10754833 reaching genome-wide significance. Follow-up analyses revealed decreased NID1 expression in nevi and melanoma tissues, providing biological validation for the genetic findings. This study exemplifies a clean GWAS design with robust discovery and replication phases, integrating genetic association with expression data to elucidate disease mechanisms. It highlights the genetic control of nevus count as a contributing factor to melanoma susceptibility, offering insights into cancer risk stratification and potential therapeutic targets.
</a:t>
            </a:r>
          </a:p>
        </p:txBody>
      </p:sp>
      <p:sp>
        <p:nvSpPr>
          <p:cNvPr id="4" name="Slide Number Placeholder 3"/>
          <p:cNvSpPr>
            <a:spLocks noGrp="1"/>
          </p:cNvSpPr>
          <p:nvPr>
            <p:ph type="sldNum" sz="quarter" idx="5"/>
          </p:nvPr>
        </p:nvSpPr>
        <p:spPr/>
        <p:txBody>
          <a:bodyPr/>
          <a:lstStyle/>
          <a:p>
            <a:fld id="{38BB884C-A4F5-40D7-B4EA-405B2B1FF391}" type="slidenum">
              <a:t>8</a:t>
            </a:fld>
            <a:endParaRPr lang="en-US"/>
          </a:p>
        </p:txBody>
      </p:sp>
    </p:spTree>
    <p:extLst>
      <p:ext uri="{BB962C8B-B14F-4D97-AF65-F5344CB8AC3E}">
        <p14:creationId xmlns:p14="http://schemas.microsoft.com/office/powerpoint/2010/main" val="2861062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ED30-B2E5-CF65-99FB-83EC1509D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46B66-5AD0-7354-B2E2-86B67675F3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260341-1F98-89DE-0CFD-E7085F6CC2D2}"/>
              </a:ext>
            </a:extLst>
          </p:cNvPr>
          <p:cNvSpPr>
            <a:spLocks noGrp="1"/>
          </p:cNvSpPr>
          <p:nvPr>
            <p:ph type="body" idx="1"/>
          </p:nvPr>
        </p:nvSpPr>
        <p:spPr/>
        <p:txBody>
          <a:bodyPr/>
          <a:lstStyle/>
          <a:p>
            <a:r>
              <a:rPr lang="en-US"/>
              <a:t>
---
This slide references information from the following file: https://d.docs.live.net/8BF200E48EB695D5/Microsoft%20Copilot%20Chat%20Files/moushengxu_resume2d.docx
NID1 &amp; Melanoma Risk
</a:t>
            </a:r>
          </a:p>
        </p:txBody>
      </p:sp>
      <p:sp>
        <p:nvSpPr>
          <p:cNvPr id="4" name="Slide Number Placeholder 3">
            <a:extLst>
              <a:ext uri="{FF2B5EF4-FFF2-40B4-BE49-F238E27FC236}">
                <a16:creationId xmlns:a16="http://schemas.microsoft.com/office/drawing/2014/main" id="{BCA31E58-DBF5-1628-18DB-8EAA243F6CB9}"/>
              </a:ext>
            </a:extLst>
          </p:cNvPr>
          <p:cNvSpPr>
            <a:spLocks noGrp="1"/>
          </p:cNvSpPr>
          <p:nvPr>
            <p:ph type="sldNum" sz="quarter" idx="5"/>
          </p:nvPr>
        </p:nvSpPr>
        <p:spPr/>
        <p:txBody>
          <a:bodyPr/>
          <a:lstStyle/>
          <a:p>
            <a:fld id="{38BB884C-A4F5-40D7-B4EA-405B2B1FF391}" type="slidenum">
              <a:t>9</a:t>
            </a:fld>
            <a:endParaRPr lang="en-US"/>
          </a:p>
        </p:txBody>
      </p:sp>
    </p:spTree>
    <p:extLst>
      <p:ext uri="{BB962C8B-B14F-4D97-AF65-F5344CB8AC3E}">
        <p14:creationId xmlns:p14="http://schemas.microsoft.com/office/powerpoint/2010/main" val="2765930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A7F23-D3A9-2D84-F3D3-DD567F068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163C6-E986-3E59-EB14-3817EEFC8C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C25619-AF9D-3034-3628-EED48A6D6F23}"/>
              </a:ext>
            </a:extLst>
          </p:cNvPr>
          <p:cNvSpPr>
            <a:spLocks noGrp="1"/>
          </p:cNvSpPr>
          <p:nvPr>
            <p:ph type="body" idx="1"/>
          </p:nvPr>
        </p:nvSpPr>
        <p:spPr/>
        <p:txBody>
          <a:bodyPr/>
          <a:lstStyle/>
          <a:p>
            <a:r>
              <a:rPr lang="en-US"/>
              <a:t>
---
This slide references information from the following file: https://d.docs.live.net/8BF200E48EB695D5/Microsoft%20Copilot%20Chat%20Files/moushengxu_resume2d.docx
The featured GWAS study co-authored by Mousheng Xu, published in Human Molecular Genetics (2011), investigates the genetic basis of melanocytic nevi and their link to melanoma risk. This two-stage GWAS involved a discovery cohort of 9,136 Europeans with self-reported nevus counts and a replication cohort of 3,581 individuals. The study identified the NID1 locus on chromosome 1q42 as significantly associated with nevus count, with lead SNPs rs3768080 and rs10754833 reaching genome-wide significance. Follow-up analyses revealed decreased NID1 expression in nevi and melanoma tissues, providing biological validation for the genetic findings. This study exemplifies a clean GWAS design with robust discovery and replication phases, integrating genetic association with expression data to elucidate disease mechanisms. It highlights the genetic control of nevus count as a contributing factor to melanoma susceptibility, offering insights into cancer risk stratification and potential therapeutic targets.
</a:t>
            </a:r>
          </a:p>
        </p:txBody>
      </p:sp>
      <p:sp>
        <p:nvSpPr>
          <p:cNvPr id="4" name="Slide Number Placeholder 3">
            <a:extLst>
              <a:ext uri="{FF2B5EF4-FFF2-40B4-BE49-F238E27FC236}">
                <a16:creationId xmlns:a16="http://schemas.microsoft.com/office/drawing/2014/main" id="{72E4DBBA-DDA4-246B-B5D7-C3C3534525F3}"/>
              </a:ext>
            </a:extLst>
          </p:cNvPr>
          <p:cNvSpPr>
            <a:spLocks noGrp="1"/>
          </p:cNvSpPr>
          <p:nvPr>
            <p:ph type="sldNum" sz="quarter" idx="5"/>
          </p:nvPr>
        </p:nvSpPr>
        <p:spPr/>
        <p:txBody>
          <a:bodyPr/>
          <a:lstStyle/>
          <a:p>
            <a:fld id="{38BB884C-A4F5-40D7-B4EA-405B2B1FF391}" type="slidenum">
              <a:t>10</a:t>
            </a:fld>
            <a:endParaRPr lang="en-US"/>
          </a:p>
        </p:txBody>
      </p:sp>
    </p:spTree>
    <p:extLst>
      <p:ext uri="{BB962C8B-B14F-4D97-AF65-F5344CB8AC3E}">
        <p14:creationId xmlns:p14="http://schemas.microsoft.com/office/powerpoint/2010/main" val="1006230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 has authored nearly 20 peer-reviewed publications in prestigious journals, reflecting his significant contributions to genomics and bioinformatics. Notable works include: 'Identification and analysis of functional elements in 1% of the human genome by the ENCODE pilot project' (Nature, 2007); 'Synthetic transcription elongation factors license transcription across repressive chromatin' (Science, 2017); 'Functional TRIM24 degrader via conjugation of ineffectual bromodomain and VHL ligands' (Nat Chem Biol, 2018); 'Targeting MYC dependency in ovarian cancer through inhibition of CDK7 and CDK12/13' (eLife, 2018); 'YAP1-Mediated Suppression of USP31 Enhances NFκB Activity to Promote Sarcomagenesis' (Cancer Research, 2018); 'Genome-wide association study identifies 48 common genetic variants associated with handedness' (Nat Hum Behav, 2020); 'Genome-wide association study of survival in patients with pancreatic adenocarcinoma' (Gut, 2012); 'Genome-wide association study identifies nidogen 1 (NID1) as a susceptibility locus to cutaneous nevi and melanoma risk' (Hum Mol Genet, 2011); 'Pathway analysis for genome-wide association study of basal cell carcinoma of the skin' (PLoS ONE, 2011); 'ABO blood group and breast cancer incidence and survival' (Int J Cancer, 2011); 'Genome Wide Association Study to Predict Severe Asthma Exacerbations in Children using Random Forests Classifiers' (BMC Med Genet, 2011); and 'Validation of warfarin pharmacogenetic algorithms in 586 Han Chinese patients' (Pharmacogenomics, 2015). These publications underscore his expertise in GWAS, machine learning, and translational bioinformatics.
</a:t>
            </a:r>
          </a:p>
        </p:txBody>
      </p:sp>
      <p:sp>
        <p:nvSpPr>
          <p:cNvPr id="4" name="Slide Number Placeholder 3"/>
          <p:cNvSpPr>
            <a:spLocks noGrp="1"/>
          </p:cNvSpPr>
          <p:nvPr>
            <p:ph type="sldNum" sz="quarter" idx="5"/>
          </p:nvPr>
        </p:nvSpPr>
        <p:spPr/>
        <p:txBody>
          <a:bodyPr/>
          <a:lstStyle/>
          <a:p>
            <a:fld id="{38BB884C-A4F5-40D7-B4EA-405B2B1FF391}" type="slidenum">
              <a:t>11</a:t>
            </a:fld>
            <a:endParaRPr lang="en-US"/>
          </a:p>
        </p:txBody>
      </p:sp>
    </p:spTree>
    <p:extLst>
      <p:ext uri="{BB962C8B-B14F-4D97-AF65-F5344CB8AC3E}">
        <p14:creationId xmlns:p14="http://schemas.microsoft.com/office/powerpoint/2010/main" val="32586224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Innovative ML Projects
</a:t>
            </a:r>
          </a:p>
        </p:txBody>
      </p:sp>
      <p:sp>
        <p:nvSpPr>
          <p:cNvPr id="4" name="Slide Number Placeholder 3"/>
          <p:cNvSpPr>
            <a:spLocks noGrp="1"/>
          </p:cNvSpPr>
          <p:nvPr>
            <p:ph type="sldNum" sz="quarter" idx="5"/>
          </p:nvPr>
        </p:nvSpPr>
        <p:spPr/>
        <p:txBody>
          <a:bodyPr/>
          <a:lstStyle/>
          <a:p>
            <a:fld id="{38BB884C-A4F5-40D7-B4EA-405B2B1FF391}" type="slidenum">
              <a:t>12</a:t>
            </a:fld>
            <a:endParaRPr lang="en-US"/>
          </a:p>
        </p:txBody>
      </p:sp>
    </p:spTree>
    <p:extLst>
      <p:ext uri="{BB962C8B-B14F-4D97-AF65-F5344CB8AC3E}">
        <p14:creationId xmlns:p14="http://schemas.microsoft.com/office/powerpoint/2010/main" val="3528418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 has applied machine learning techniques to various biomedical and computational challenges. His early work on pediatric asthma exacerbations utilized Random Forests to analyze 550,000 SNPs alongside clinical features, earning recognition at the American Thoracic Society’s 'Scientific Breakthroughs of the Year' symposium and achieving significant download metrics. At Booz Allen Hamilton, he architected a Natural Language Processing (NLP) pipeline for tagging biological study data with Common Data Elements (CDEs) for the National Institute of Diabetes and Digestive and Kidney Diseases (NIDDK). This pipeline incorporated information retrieval techniques such as TF-IDF, Latent Semantic Indexing (LSI), stemming, and stop-word removal. Additionally, Xu developed a public tutorial on applying Long Short-Term Memory (LSTM) networks for stock price prediction using Keras and TensorFlow, showcasing his ability to translate complex ML concepts into accessible educational content. These projects highlight his proficiency in applying ML to real-world problems and his commitment to knowledge dissemination.
</a:t>
            </a:r>
          </a:p>
        </p:txBody>
      </p:sp>
      <p:sp>
        <p:nvSpPr>
          <p:cNvPr id="4" name="Slide Number Placeholder 3"/>
          <p:cNvSpPr>
            <a:spLocks noGrp="1"/>
          </p:cNvSpPr>
          <p:nvPr>
            <p:ph type="sldNum" sz="quarter" idx="5"/>
          </p:nvPr>
        </p:nvSpPr>
        <p:spPr/>
        <p:txBody>
          <a:bodyPr/>
          <a:lstStyle/>
          <a:p>
            <a:fld id="{38BB884C-A4F5-40D7-B4EA-405B2B1FF391}" type="slidenum">
              <a:t>13</a:t>
            </a:fld>
            <a:endParaRPr lang="en-US"/>
          </a:p>
        </p:txBody>
      </p:sp>
    </p:spTree>
    <p:extLst>
      <p:ext uri="{BB962C8B-B14F-4D97-AF65-F5344CB8AC3E}">
        <p14:creationId xmlns:p14="http://schemas.microsoft.com/office/powerpoint/2010/main" val="2734051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E51D7-CC7C-BB35-05A8-F9C06DC50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83618-CB17-7290-04EB-82BBE75767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B6DC67-D17E-DEB0-9638-8B5BDD9BF170}"/>
              </a:ext>
            </a:extLst>
          </p:cNvPr>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 has applied machine learning techniques to various biomedical and computational challenges. His early work on pediatric asthma exacerbations utilized Random Forests to analyze 550,000 SNPs alongside clinical features, earning recognition at the American Thoracic Society’s 'Scientific Breakthroughs of the Year' symposium and achieving significant download metrics. At Booz Allen Hamilton, he architected a Natural Language Processing (NLP) pipeline for tagging biological study data with Common Data Elements (CDEs) for the National Institute of Diabetes and Digestive and Kidney Diseases (NIDDK). This pipeline incorporated information retrieval techniques such as TF-IDF, Latent Semantic Indexing (LSI), stemming, and stop-word removal. Additionally, Xu developed a public tutorial on applying Long Short-Term Memory (LSTM) networks for stock price prediction using Keras and TensorFlow, showcasing his ability to translate complex ML concepts into accessible educational content. These projects highlight his proficiency in applying ML to real-world problems and his commitment to knowledge dissemination.
</a:t>
            </a:r>
          </a:p>
        </p:txBody>
      </p:sp>
      <p:sp>
        <p:nvSpPr>
          <p:cNvPr id="4" name="Slide Number Placeholder 3">
            <a:extLst>
              <a:ext uri="{FF2B5EF4-FFF2-40B4-BE49-F238E27FC236}">
                <a16:creationId xmlns:a16="http://schemas.microsoft.com/office/drawing/2014/main" id="{671277DC-8849-37BE-4FA2-EE11CB2480E4}"/>
              </a:ext>
            </a:extLst>
          </p:cNvPr>
          <p:cNvSpPr>
            <a:spLocks noGrp="1"/>
          </p:cNvSpPr>
          <p:nvPr>
            <p:ph type="sldNum" sz="quarter" idx="5"/>
          </p:nvPr>
        </p:nvSpPr>
        <p:spPr/>
        <p:txBody>
          <a:bodyPr/>
          <a:lstStyle/>
          <a:p>
            <a:fld id="{38BB884C-A4F5-40D7-B4EA-405B2B1FF391}" type="slidenum">
              <a:t>14</a:t>
            </a:fld>
            <a:endParaRPr lang="en-US"/>
          </a:p>
        </p:txBody>
      </p:sp>
    </p:spTree>
    <p:extLst>
      <p:ext uri="{BB962C8B-B14F-4D97-AF65-F5344CB8AC3E}">
        <p14:creationId xmlns:p14="http://schemas.microsoft.com/office/powerpoint/2010/main" val="2905595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Selected GWAS Studies
</a:t>
            </a:r>
          </a:p>
        </p:txBody>
      </p:sp>
      <p:sp>
        <p:nvSpPr>
          <p:cNvPr id="4" name="Slide Number Placeholder 3"/>
          <p:cNvSpPr>
            <a:spLocks noGrp="1"/>
          </p:cNvSpPr>
          <p:nvPr>
            <p:ph type="sldNum" sz="quarter" idx="5"/>
          </p:nvPr>
        </p:nvSpPr>
        <p:spPr/>
        <p:txBody>
          <a:bodyPr/>
          <a:lstStyle/>
          <a:p>
            <a:fld id="{38BB884C-A4F5-40D7-B4EA-405B2B1FF391}" type="slidenum">
              <a:t>15</a:t>
            </a:fld>
            <a:endParaRPr lang="en-US"/>
          </a:p>
        </p:txBody>
      </p:sp>
    </p:spTree>
    <p:extLst>
      <p:ext uri="{BB962C8B-B14F-4D97-AF65-F5344CB8AC3E}">
        <p14:creationId xmlns:p14="http://schemas.microsoft.com/office/powerpoint/2010/main" val="2008367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Evidence and Approach to Teaching, Integrating Computational Analysis into BFE
</a:t>
            </a:r>
          </a:p>
        </p:txBody>
      </p:sp>
      <p:sp>
        <p:nvSpPr>
          <p:cNvPr id="4" name="Slide Number Placeholder 3"/>
          <p:cNvSpPr>
            <a:spLocks noGrp="1"/>
          </p:cNvSpPr>
          <p:nvPr>
            <p:ph type="sldNum" sz="quarter" idx="5"/>
          </p:nvPr>
        </p:nvSpPr>
        <p:spPr/>
        <p:txBody>
          <a:bodyPr/>
          <a:lstStyle/>
          <a:p>
            <a:fld id="{38BB884C-A4F5-40D7-B4EA-405B2B1FF391}" type="slidenum">
              <a:t>20</a:t>
            </a:fld>
            <a:endParaRPr lang="en-US"/>
          </a:p>
        </p:txBody>
      </p:sp>
    </p:spTree>
    <p:extLst>
      <p:ext uri="{BB962C8B-B14F-4D97-AF65-F5344CB8AC3E}">
        <p14:creationId xmlns:p14="http://schemas.microsoft.com/office/powerpoint/2010/main" val="40316044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Mousheng Xu’s passion for teaching is evident through his extensive history of educational contributions. He has delivered invited talks and presented at prestigious conferences such as the American Thoracic Society, where his work was featured in a special symposium. His commitment to education is further demonstrated by the development of public tutorials on machine learning and genomics, including a widely accessed LSTM stock prediction guide on Kaggle. Additionally, he has created educational mobile applications like Fast PSAT Words and Fast SAT Words, which require thoughtful pedagogy and content design. Xu’s teaching approach emphasizes project-based learning, incorporating hands-on labs such as RNA-seq and GWAS analysis, machine learning for biological data, and reproducible pipeline development. He advocates for flipped classrooms with code-along notebooks and the use of open datasets like UK Biobank, TCGA, GTEx, and curated microbiome data. This approach ensures that students gain practical experience and develop skills relevant to modern bioinformatics and computational biology.
</a:t>
            </a:r>
          </a:p>
        </p:txBody>
      </p:sp>
      <p:sp>
        <p:nvSpPr>
          <p:cNvPr id="4" name="Slide Number Placeholder 3"/>
          <p:cNvSpPr>
            <a:spLocks noGrp="1"/>
          </p:cNvSpPr>
          <p:nvPr>
            <p:ph type="sldNum" sz="quarter" idx="5"/>
          </p:nvPr>
        </p:nvSpPr>
        <p:spPr/>
        <p:txBody>
          <a:bodyPr/>
          <a:lstStyle/>
          <a:p>
            <a:fld id="{38BB884C-A4F5-40D7-B4EA-405B2B1FF391}" type="slidenum">
              <a:t>21</a:t>
            </a:fld>
            <a:endParaRPr lang="en-US"/>
          </a:p>
        </p:txBody>
      </p:sp>
    </p:spTree>
    <p:extLst>
      <p:ext uri="{BB962C8B-B14F-4D97-AF65-F5344CB8AC3E}">
        <p14:creationId xmlns:p14="http://schemas.microsoft.com/office/powerpoint/2010/main" val="19061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
This slide references information from the following file: https://d.docs.live.net/8BF200E48EB695D5/Microsoft%20Copilot%20Chat%20Files/moushengxu_resume2d.docx
At GTIIT, Mousheng Xu envisions a transformative integration of computational analysis into Biological Food Engineering (BFE). His plan includes harmonizing omics data—such as metagenomics and metabolomics—with dietary logs to enable causal inference using Mendelian Randomization and colocalization techniques. This integration aims to uncover diet-related biomarkers and enhance food safety through contamination detection pipelines. Xu also proposes applying machine learning and artificial intelligence to BFE, including predictive quality control using Random Forests and XGBoost for fermentation yields, and deep learning for imaging-based contaminant detection. Furthermore, he plans to implement cloud-based computational pipelines using platforms like HAIL and Apache Arrow, develop containerized workflows, and establish reproducible data commons. His industry experience in deploying MR and coloc pipelines at scale positions him to immediately contribute to GTIIT’s research infrastructure and curriculum development, fostering a data-driven approach to food and health sciences.
</a:t>
            </a:r>
          </a:p>
        </p:txBody>
      </p:sp>
      <p:sp>
        <p:nvSpPr>
          <p:cNvPr id="4" name="Slide Number Placeholder 3"/>
          <p:cNvSpPr>
            <a:spLocks noGrp="1"/>
          </p:cNvSpPr>
          <p:nvPr>
            <p:ph type="sldNum" sz="quarter" idx="5"/>
          </p:nvPr>
        </p:nvSpPr>
        <p:spPr/>
        <p:txBody>
          <a:bodyPr/>
          <a:lstStyle/>
          <a:p>
            <a:fld id="{38BB884C-A4F5-40D7-B4EA-405B2B1FF391}" type="slidenum">
              <a:t>22</a:t>
            </a:fld>
            <a:endParaRPr lang="en-US"/>
          </a:p>
        </p:txBody>
      </p:sp>
    </p:spTree>
    <p:extLst>
      <p:ext uri="{BB962C8B-B14F-4D97-AF65-F5344CB8AC3E}">
        <p14:creationId xmlns:p14="http://schemas.microsoft.com/office/powerpoint/2010/main" val="2789330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
Mousheng Xu offers a compelling blend of academic excellence, industry experience, and a deep passion for teaching. His proven track record in developing reliable and explainable genomics and machine learning pipelines demonstrates his ability to turn complex, messy data into actionable insights. With experience in both academia and industry, he bridges the gap between theoretical research and practical application. His commitment to education is evident through his public tutorials, mobile apps, and conference presentations, showcasing his ability to teach at scale. At GTIIT, Xu plans to immediately establish a functional lab environment, leveraging his expertise in pipeline development and cloud computing. His vision includes integrating computational analysis into Biological Food Engineering, fostering student research, and building reproducible data infrastructures. This holistic approach positions him as an ideal candidate to contribute to GTIIT’s mission of advancing interdisciplinary science and education.</a:t>
            </a:r>
          </a:p>
        </p:txBody>
      </p:sp>
      <p:sp>
        <p:nvSpPr>
          <p:cNvPr id="4" name="Slide Number Placeholder 3"/>
          <p:cNvSpPr>
            <a:spLocks noGrp="1"/>
          </p:cNvSpPr>
          <p:nvPr>
            <p:ph type="sldNum" sz="quarter" idx="5"/>
          </p:nvPr>
        </p:nvSpPr>
        <p:spPr/>
        <p:txBody>
          <a:bodyPr/>
          <a:lstStyle/>
          <a:p>
            <a:fld id="{38BB884C-A4F5-40D7-B4EA-405B2B1FF391}" type="slidenum">
              <a:t>23</a:t>
            </a:fld>
            <a:endParaRPr lang="en-US"/>
          </a:p>
        </p:txBody>
      </p:sp>
    </p:spTree>
    <p:extLst>
      <p:ext uri="{BB962C8B-B14F-4D97-AF65-F5344CB8AC3E}">
        <p14:creationId xmlns:p14="http://schemas.microsoft.com/office/powerpoint/2010/main" val="1729250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Final Value Proposition</a:t>
            </a:r>
          </a:p>
        </p:txBody>
      </p:sp>
      <p:sp>
        <p:nvSpPr>
          <p:cNvPr id="4" name="Slide Number Placeholder 3"/>
          <p:cNvSpPr>
            <a:spLocks noGrp="1"/>
          </p:cNvSpPr>
          <p:nvPr>
            <p:ph type="sldNum" sz="quarter" idx="5"/>
          </p:nvPr>
        </p:nvSpPr>
        <p:spPr/>
        <p:txBody>
          <a:bodyPr/>
          <a:lstStyle/>
          <a:p>
            <a:fld id="{38BB884C-A4F5-40D7-B4EA-405B2B1FF391}" type="slidenum">
              <a:t>24</a:t>
            </a:fld>
            <a:endParaRPr lang="en-US"/>
          </a:p>
        </p:txBody>
      </p:sp>
    </p:spTree>
    <p:extLst>
      <p:ext uri="{BB962C8B-B14F-4D97-AF65-F5344CB8AC3E}">
        <p14:creationId xmlns:p14="http://schemas.microsoft.com/office/powerpoint/2010/main" val="1371380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73FED-B96A-AD12-7878-845274EE69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B1E38B-2D8D-97A3-2F19-5598A91A86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F129F7-9550-7211-95A9-518686DDAAC7}"/>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B9F40A1E-24F2-81CB-43AC-5447265F0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CAF033-3868-29D3-B003-8FB0F5013211}"/>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37460853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0AE5-8CF1-CA78-8A26-08EBED7345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068D7-005B-8BC4-BB81-DC22FC7CC8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21248-4EFB-1C58-DFEE-04A7DB5310EF}"/>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DD96FC19-CD0A-A0E7-BBAF-D56E20B566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41F66-0381-7CD2-34E7-3510FAA3FD86}"/>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2620343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B9F4-186F-7504-45EF-4829909B3D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85928A4-CE5F-79D5-32CB-20012DCB078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504362-55AC-2168-25D7-A2308F631EA9}"/>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28CBCA05-6EF5-0036-AC65-71AB90713E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C185C7-77A2-8F08-37FF-6CED97EB3442}"/>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3229460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6B7B9-7F16-1A59-A602-59A2F06767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9D4B42-0E46-429E-E58D-A93A4925BD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E9C23F-A584-0230-DB43-EF7D8A7A69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2E7FB9-5385-789F-78AA-3732FA6E4173}"/>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6" name="Footer Placeholder 5">
            <a:extLst>
              <a:ext uri="{FF2B5EF4-FFF2-40B4-BE49-F238E27FC236}">
                <a16:creationId xmlns:a16="http://schemas.microsoft.com/office/drawing/2014/main" id="{B059628F-279E-6A16-A6EC-21C2E3CD2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37BA52-76A3-2388-2FAB-ECDA7DDF7F89}"/>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2108440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F6E9-6A15-A0CE-34F6-C367474B37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F54AD1-0753-530E-ED4B-5FAA8D5112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168770-898D-67DD-E202-19A85F182F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B40271-151E-F542-718F-AC8B7F809F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9CF771-42E5-06B0-2325-6ECAE80DC1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7A5BF1-1E21-3940-F5AB-FB935760AA46}"/>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8" name="Footer Placeholder 7">
            <a:extLst>
              <a:ext uri="{FF2B5EF4-FFF2-40B4-BE49-F238E27FC236}">
                <a16:creationId xmlns:a16="http://schemas.microsoft.com/office/drawing/2014/main" id="{11EA4812-33EC-81A5-D1D0-12F2192DBC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3655EB-0D73-0321-DBA6-DE54642CB989}"/>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1395291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FA4EF-FCE4-3201-4DE5-EF729088F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D9FFC1-0A5A-3D10-EE48-1D98BB6FC226}"/>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4" name="Footer Placeholder 3">
            <a:extLst>
              <a:ext uri="{FF2B5EF4-FFF2-40B4-BE49-F238E27FC236}">
                <a16:creationId xmlns:a16="http://schemas.microsoft.com/office/drawing/2014/main" id="{7B5F693B-E1CC-BA2B-503D-3788CA304B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4193A6-BEBE-D9BB-9C01-1B1CC57B68C9}"/>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4164581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803ED-3DB3-9A03-E199-422AB59A0A24}"/>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3" name="Footer Placeholder 2">
            <a:extLst>
              <a:ext uri="{FF2B5EF4-FFF2-40B4-BE49-F238E27FC236}">
                <a16:creationId xmlns:a16="http://schemas.microsoft.com/office/drawing/2014/main" id="{0FCCEC05-271E-7595-C011-A8980F14AF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43800F-8426-03D7-532B-AEC3BE27812E}"/>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442679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CC746-3107-1385-DCEA-CC29E03687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B4BC9E-3ED6-FCBF-B457-5528D999DD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91DE1D-54C6-24CE-DB99-F7FE69882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0326FE-DDBE-8B20-1A43-545D8953F134}"/>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6" name="Footer Placeholder 5">
            <a:extLst>
              <a:ext uri="{FF2B5EF4-FFF2-40B4-BE49-F238E27FC236}">
                <a16:creationId xmlns:a16="http://schemas.microsoft.com/office/drawing/2014/main" id="{A11F92C5-4170-EC87-973E-1F75687EC5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4F9495-7EE5-B011-EC9B-B7EC8AFB407B}"/>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2818162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0DA2E-82D9-A89D-623C-D810F83ED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B9B868-5C3B-D77B-8686-2F7E883C51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A9B90F-C368-D372-4E22-38D1BE53CD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F08797-A94A-F3BD-0734-ADDD77513CE1}"/>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6" name="Footer Placeholder 5">
            <a:extLst>
              <a:ext uri="{FF2B5EF4-FFF2-40B4-BE49-F238E27FC236}">
                <a16:creationId xmlns:a16="http://schemas.microsoft.com/office/drawing/2014/main" id="{DE632FC3-B939-8A49-7063-082C822CD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49A6A7-C48C-003E-43E6-2628433FA1B3}"/>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2165683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91B0-CCA7-F84F-3230-E559949202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CB36B6A-C102-028C-FE89-485C4C830B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E005C2-03B5-45C9-E929-BC63C31194F8}"/>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19C5BC24-3CA4-820A-E751-199075B17D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D77D1-8570-8BA0-5DA4-6C1E2462DB14}"/>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3623893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1D1DAA-D01C-B45F-E858-FD25208F17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8C112-D2D3-69A0-7B51-ACD33EC05A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B9EB60-BAC0-E672-A0CE-87F58FB293F1}"/>
              </a:ext>
            </a:extLst>
          </p:cNvPr>
          <p:cNvSpPr>
            <a:spLocks noGrp="1"/>
          </p:cNvSpPr>
          <p:nvPr>
            <p:ph type="dt" sz="half" idx="10"/>
          </p:nvPr>
        </p:nvSpPr>
        <p:spPr/>
        <p:txBody>
          <a:body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7C6B10D5-FC13-C5B3-F6BE-D7BF1FF720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E1123-A54A-2AD4-76DC-978708CB4212}"/>
              </a:ext>
            </a:extLst>
          </p:cNvPr>
          <p:cNvSpPr>
            <a:spLocks noGrp="1"/>
          </p:cNvSpPr>
          <p:nvPr>
            <p:ph type="sldNum" sz="quarter" idx="12"/>
          </p:nvPr>
        </p:nvSpPr>
        <p:spPr/>
        <p:txBody>
          <a:bodyPr/>
          <a:lstStyle/>
          <a:p>
            <a:fld id="{AE47E1B2-4C26-144F-911B-156C5FCF3354}" type="slidenum">
              <a:rPr lang="en-US" smtClean="0"/>
              <a:t>‹#›</a:t>
            </a:fld>
            <a:endParaRPr lang="en-US"/>
          </a:p>
        </p:txBody>
      </p:sp>
    </p:spTree>
    <p:extLst>
      <p:ext uri="{BB962C8B-B14F-4D97-AF65-F5344CB8AC3E}">
        <p14:creationId xmlns:p14="http://schemas.microsoft.com/office/powerpoint/2010/main" val="2583155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11/22/25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398375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11/22/25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45177991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11/22/25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790066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11/22/25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51852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11/22/25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1786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11/22/25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37247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11/22/25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1498549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11/22/25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23272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89BED-C63D-9457-B4D2-588C5C6D35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968492-8B8D-3E65-8652-24BA68D9C2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CEC4A8-50BC-EABA-C8AD-8DD368C34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DAED4-FCDA-6E43-A5FC-C6FE0100C103}" type="datetimeFigureOut">
              <a:rPr lang="en-US" smtClean="0"/>
              <a:t>11/22/25</a:t>
            </a:fld>
            <a:endParaRPr lang="en-US"/>
          </a:p>
        </p:txBody>
      </p:sp>
      <p:sp>
        <p:nvSpPr>
          <p:cNvPr id="5" name="Footer Placeholder 4">
            <a:extLst>
              <a:ext uri="{FF2B5EF4-FFF2-40B4-BE49-F238E27FC236}">
                <a16:creationId xmlns:a16="http://schemas.microsoft.com/office/drawing/2014/main" id="{D91984FC-EB60-D9FF-E9A1-531CE013B4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AA9AAF-8DAD-9BE4-DE76-20653AA56C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47E1B2-4C26-144F-911B-156C5FCF3354}" type="slidenum">
              <a:rPr lang="en-US" smtClean="0"/>
              <a:t>‹#›</a:t>
            </a:fld>
            <a:endParaRPr lang="en-US"/>
          </a:p>
        </p:txBody>
      </p:sp>
    </p:spTree>
    <p:extLst>
      <p:ext uri="{BB962C8B-B14F-4D97-AF65-F5344CB8AC3E}">
        <p14:creationId xmlns:p14="http://schemas.microsoft.com/office/powerpoint/2010/main" val="356456132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Books and laptop">
            <a:extLst>
              <a:ext uri="{FF2B5EF4-FFF2-40B4-BE49-F238E27FC236}">
                <a16:creationId xmlns:a16="http://schemas.microsoft.com/office/drawing/2014/main" id="{69BAA23C-1BA9-4D28-8E3E-F6987A53A6F7}"/>
              </a:ext>
            </a:extLst>
          </p:cNvPr>
          <p:cNvPicPr>
            <a:picLocks noGrp="1" noChangeAspect="1"/>
          </p:cNvPicPr>
          <p:nvPr>
            <p:ph type="pic" sz="quarter" idx="13"/>
          </p:nvPr>
        </p:nvPicPr>
        <p:blipFill>
          <a:blip r:embed="rId3"/>
          <a:srcRect t="7834" b="7834"/>
          <a:stretch>
            <a:fillRect/>
          </a:stretch>
        </p:blipFill>
        <p:spPr>
          <a:prstGeom prst="rect">
            <a:avLst/>
          </a:prstGeom>
          <a:noFill/>
        </p:spPr>
      </p:pic>
      <p:sp>
        <p:nvSpPr>
          <p:cNvPr id="2" name="Title 1">
            <a:extLst>
              <a:ext uri="{FF2B5EF4-FFF2-40B4-BE49-F238E27FC236}">
                <a16:creationId xmlns:a16="http://schemas.microsoft.com/office/drawing/2014/main" id="{382A782E-4AC8-BB1A-920C-4A39543C905E}"/>
              </a:ext>
            </a:extLst>
          </p:cNvPr>
          <p:cNvSpPr>
            <a:spLocks noGrp="1"/>
          </p:cNvSpPr>
          <p:nvPr>
            <p:ph type="ctrTitle"/>
          </p:nvPr>
        </p:nvSpPr>
        <p:spPr>
          <a:xfrm>
            <a:off x="536946" y="2196935"/>
            <a:ext cx="11025147" cy="1733798"/>
          </a:xfrm>
        </p:spPr>
        <p:txBody>
          <a:bodyPr anchor="t">
            <a:normAutofit/>
          </a:bodyPr>
          <a:lstStyle/>
          <a:p>
            <a:pPr algn="ctr"/>
            <a:r>
              <a:rPr lang="en-US" altLang="zh-CN" dirty="0"/>
              <a:t>Big</a:t>
            </a:r>
            <a:r>
              <a:rPr lang="zh-CN" altLang="en-US" dirty="0"/>
              <a:t> </a:t>
            </a:r>
            <a:r>
              <a:rPr lang="en-US" altLang="zh-CN" dirty="0"/>
              <a:t>Biological</a:t>
            </a:r>
            <a:r>
              <a:rPr lang="zh-CN" altLang="en-US" dirty="0"/>
              <a:t> </a:t>
            </a:r>
            <a:r>
              <a:rPr lang="en-US" altLang="zh-CN" dirty="0"/>
              <a:t>Data</a:t>
            </a:r>
            <a:r>
              <a:rPr lang="zh-CN" altLang="en-US" dirty="0"/>
              <a:t> </a:t>
            </a:r>
            <a:r>
              <a:rPr lang="en-US" altLang="zh-CN" dirty="0"/>
              <a:t>Analysis</a:t>
            </a:r>
            <a:endParaRPr lang="en-US" dirty="0"/>
          </a:p>
        </p:txBody>
      </p:sp>
      <p:sp>
        <p:nvSpPr>
          <p:cNvPr id="3" name="Subtitle 2">
            <a:extLst>
              <a:ext uri="{FF2B5EF4-FFF2-40B4-BE49-F238E27FC236}">
                <a16:creationId xmlns:a16="http://schemas.microsoft.com/office/drawing/2014/main" id="{30DB9080-56E6-5DBE-51ED-8CD7239B704A}"/>
              </a:ext>
            </a:extLst>
          </p:cNvPr>
          <p:cNvSpPr>
            <a:spLocks noGrp="1"/>
          </p:cNvSpPr>
          <p:nvPr>
            <p:ph type="subTitle" idx="1"/>
          </p:nvPr>
        </p:nvSpPr>
        <p:spPr>
          <a:xfrm>
            <a:off x="1469159" y="4950340"/>
            <a:ext cx="9160720" cy="1111972"/>
          </a:xfrm>
        </p:spPr>
        <p:txBody>
          <a:bodyPr anchor="ctr">
            <a:normAutofit/>
          </a:bodyPr>
          <a:lstStyle/>
          <a:p>
            <a:pPr algn="ctr"/>
            <a:r>
              <a:rPr lang="en-US" altLang="zh-CN" dirty="0"/>
              <a:t>Mousheng</a:t>
            </a:r>
            <a:r>
              <a:rPr lang="zh-CN" altLang="en-US" dirty="0"/>
              <a:t> </a:t>
            </a:r>
            <a:r>
              <a:rPr lang="en-US" altLang="zh-CN" dirty="0"/>
              <a:t>Xu</a:t>
            </a:r>
          </a:p>
          <a:p>
            <a:pPr algn="ctr"/>
            <a:r>
              <a:rPr lang="en-US" altLang="zh-CN" dirty="0"/>
              <a:t>Dec</a:t>
            </a:r>
            <a:r>
              <a:rPr lang="zh-CN" altLang="en-US" dirty="0"/>
              <a:t> </a:t>
            </a:r>
            <a:r>
              <a:rPr lang="en-US" altLang="zh-CN" dirty="0"/>
              <a:t>2025</a:t>
            </a:r>
            <a:endParaRPr lang="en-US" dirty="0"/>
          </a:p>
        </p:txBody>
      </p:sp>
      <p:sp>
        <p:nvSpPr>
          <p:cNvPr id="4" name="Footer Placeholder 3">
            <a:extLst>
              <a:ext uri="{FF2B5EF4-FFF2-40B4-BE49-F238E27FC236}">
                <a16:creationId xmlns:a16="http://schemas.microsoft.com/office/drawing/2014/main" id="{CD435B16-CB4F-3469-1CE2-B41818913536}"/>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1C6E469C-DD9B-6383-DD81-5A68F70C824B}"/>
              </a:ext>
            </a:extLst>
          </p:cNvPr>
          <p:cNvSpPr>
            <a:spLocks noGrp="1"/>
          </p:cNvSpPr>
          <p:nvPr>
            <p:ph type="dt" sz="half" idx="10"/>
          </p:nvPr>
        </p:nvSpPr>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4E737FA2-D860-B02B-7778-1222B00E5EE3}"/>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Tree>
    <p:extLst>
      <p:ext uri="{BB962C8B-B14F-4D97-AF65-F5344CB8AC3E}">
        <p14:creationId xmlns:p14="http://schemas.microsoft.com/office/powerpoint/2010/main" val="233405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700"/>
                                        <p:tgtEl>
                                          <p:spTgt spid="3">
                                            <p:bg/>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7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700"/>
                                        <p:tgtEl>
                                          <p:spTgt spid="3">
                                            <p:txEl>
                                              <p:pRg st="1" end="1"/>
                                            </p:txEl>
                                          </p:spTgt>
                                        </p:tgtEl>
                                      </p:cBhvr>
                                    </p:animEffect>
                                  </p:childTnLst>
                                </p:cTn>
                              </p:par>
                              <p:par>
                                <p:cTn id="21" presetID="10" presetClass="entr" presetSubtype="0" fill="hold" grpId="1" nodeType="withEffect">
                                  <p:stCondLst>
                                    <p:cond delay="250"/>
                                  </p:stCondLst>
                                  <p:iterate>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P spid="3"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8E855-E2D8-9A3F-6267-278AAC7BD87F}"/>
              </a:ext>
            </a:extLst>
          </p:cNvPr>
          <p:cNvSpPr>
            <a:spLocks noGrp="1"/>
          </p:cNvSpPr>
          <p:nvPr>
            <p:ph type="title"/>
          </p:nvPr>
        </p:nvSpPr>
        <p:spPr>
          <a:xfrm>
            <a:off x="356683" y="207983"/>
            <a:ext cx="9713129" cy="1002980"/>
          </a:xfrm>
        </p:spPr>
        <p:txBody>
          <a:bodyPr anchor="t">
            <a:normAutofit/>
          </a:bodyPr>
          <a:lstStyle/>
          <a:p>
            <a:r>
              <a:rPr lang="en-US" altLang="zh-CN" dirty="0"/>
              <a:t>Educational</a:t>
            </a:r>
            <a:r>
              <a:rPr lang="en-US" dirty="0"/>
              <a:t> Background</a:t>
            </a:r>
          </a:p>
        </p:txBody>
      </p:sp>
      <p:sp>
        <p:nvSpPr>
          <p:cNvPr id="5" name="Slide Number Placeholder 4">
            <a:extLst>
              <a:ext uri="{FF2B5EF4-FFF2-40B4-BE49-F238E27FC236}">
                <a16:creationId xmlns:a16="http://schemas.microsoft.com/office/drawing/2014/main" id="{A8A2B3B6-FB56-5D43-3C1B-EDBF979BF765}"/>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
        <p:nvSpPr>
          <p:cNvPr id="7" name="Content Placeholder 6">
            <a:extLst>
              <a:ext uri="{FF2B5EF4-FFF2-40B4-BE49-F238E27FC236}">
                <a16:creationId xmlns:a16="http://schemas.microsoft.com/office/drawing/2014/main" id="{1888CC7D-2E29-FFB6-CA57-989AC2C6F89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0770" y="1927085"/>
            <a:ext cx="11550460" cy="3723293"/>
          </a:xfrm>
        </p:spPr>
        <p:txBody>
          <a:bodyPr>
            <a:normAutofit/>
          </a:bodyPr>
          <a:lstStyle/>
          <a:p>
            <a:r>
              <a:rPr lang="en-US" altLang="zh-CN" sz="2600" b="1" dirty="0"/>
              <a:t>B.S.</a:t>
            </a:r>
            <a:r>
              <a:rPr lang="zh-CN" altLang="en-US" sz="2600" b="1" dirty="0"/>
              <a:t> </a:t>
            </a:r>
            <a:r>
              <a:rPr lang="en-US" sz="2600" b="1" dirty="0"/>
              <a:t>in Genetics</a:t>
            </a:r>
            <a:r>
              <a:rPr lang="en-US" sz="2600" dirty="0"/>
              <a:t>, Wuhan University, P. R. China</a:t>
            </a:r>
          </a:p>
          <a:p>
            <a:r>
              <a:rPr lang="en-US" altLang="zh-CN" sz="2600" b="1" dirty="0"/>
              <a:t>M.S.</a:t>
            </a:r>
            <a:r>
              <a:rPr lang="en-US" sz="2600" b="1" dirty="0"/>
              <a:t> in Biochemistry &amp; Molecular Biology</a:t>
            </a:r>
            <a:r>
              <a:rPr lang="en-US" sz="2600" dirty="0"/>
              <a:t>, University of Kansas Medical Center</a:t>
            </a:r>
          </a:p>
          <a:p>
            <a:r>
              <a:rPr lang="en-US" altLang="zh-CN" sz="2600" b="1" dirty="0"/>
              <a:t>M.S.</a:t>
            </a:r>
            <a:r>
              <a:rPr lang="en-US" sz="2600" b="1" dirty="0"/>
              <a:t> in Computer Science</a:t>
            </a:r>
            <a:r>
              <a:rPr lang="en-US" sz="2600" dirty="0"/>
              <a:t>, University of Kansas</a:t>
            </a:r>
          </a:p>
          <a:p>
            <a:r>
              <a:rPr lang="en-US" sz="2600" b="1" dirty="0"/>
              <a:t>Ph.D. in Bioinformatics &amp; Systems Biology</a:t>
            </a:r>
            <a:r>
              <a:rPr lang="en-US" sz="2600" dirty="0"/>
              <a:t>, Boston University</a:t>
            </a:r>
          </a:p>
          <a:p>
            <a:r>
              <a:rPr lang="en-US" sz="2600" b="1" dirty="0"/>
              <a:t>Predoc Fellow in Bioinformatics, </a:t>
            </a:r>
            <a:r>
              <a:rPr lang="en-US" sz="2600" dirty="0"/>
              <a:t>Harvard Medical School</a:t>
            </a:r>
          </a:p>
          <a:p>
            <a:r>
              <a:rPr lang="en-US" sz="2600" b="1" dirty="0"/>
              <a:t>Postdoc in Cancer Genetic Epidemiology, </a:t>
            </a:r>
            <a:r>
              <a:rPr lang="en-US" sz="2600" dirty="0"/>
              <a:t>Harvard School of Public Health</a:t>
            </a:r>
          </a:p>
        </p:txBody>
      </p:sp>
    </p:spTree>
    <p:extLst>
      <p:ext uri="{BB962C8B-B14F-4D97-AF65-F5344CB8AC3E}">
        <p14:creationId xmlns:p14="http://schemas.microsoft.com/office/powerpoint/2010/main" val="36606426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2F201-8BC2-F692-3009-989468ED3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8BA0C-F422-3C3E-68DC-8C2263C95BE1}"/>
              </a:ext>
            </a:extLst>
          </p:cNvPr>
          <p:cNvSpPr>
            <a:spLocks noGrp="1"/>
          </p:cNvSpPr>
          <p:nvPr>
            <p:ph type="title"/>
          </p:nvPr>
        </p:nvSpPr>
        <p:spPr>
          <a:xfrm>
            <a:off x="356683" y="207983"/>
            <a:ext cx="9713129" cy="1002980"/>
          </a:xfrm>
        </p:spPr>
        <p:txBody>
          <a:bodyPr anchor="t">
            <a:normAutofit/>
          </a:bodyPr>
          <a:lstStyle/>
          <a:p>
            <a:r>
              <a:rPr lang="en-US" dirty="0"/>
              <a:t>Career Highlights</a:t>
            </a:r>
          </a:p>
        </p:txBody>
      </p:sp>
      <p:sp>
        <p:nvSpPr>
          <p:cNvPr id="5" name="Slide Number Placeholder 4">
            <a:extLst>
              <a:ext uri="{FF2B5EF4-FFF2-40B4-BE49-F238E27FC236}">
                <a16:creationId xmlns:a16="http://schemas.microsoft.com/office/drawing/2014/main" id="{0675FEC9-059B-4FE9-D430-DD0FEE951338}"/>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3DAA1840-DFBD-D426-9373-69571662B7D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0770" y="1927085"/>
            <a:ext cx="11550460" cy="3723293"/>
          </a:xfrm>
        </p:spPr>
        <p:txBody>
          <a:bodyPr>
            <a:noAutofit/>
          </a:bodyPr>
          <a:lstStyle/>
          <a:p>
            <a:pPr marL="0" indent="0">
              <a:spcBef>
                <a:spcPts val="2500"/>
              </a:spcBef>
              <a:buNone/>
            </a:pPr>
            <a:r>
              <a:rPr lang="en-US" sz="2600" b="1" dirty="0"/>
              <a:t>Leadership in Bioinformatics</a:t>
            </a:r>
          </a:p>
          <a:p>
            <a:pPr marL="0" lvl="1" indent="0">
              <a:buNone/>
            </a:pPr>
            <a:r>
              <a:rPr lang="en-US" sz="2600" dirty="0"/>
              <a:t>Led development of Mendelian Randomization and colocalization pipelines identifying disease gene targets.</a:t>
            </a:r>
          </a:p>
          <a:p>
            <a:pPr marL="0" indent="0">
              <a:spcBef>
                <a:spcPts val="2500"/>
              </a:spcBef>
              <a:buNone/>
            </a:pPr>
            <a:r>
              <a:rPr lang="en-US" sz="2600" b="1" dirty="0"/>
              <a:t>Statistical Genetics Expertise</a:t>
            </a:r>
          </a:p>
          <a:p>
            <a:pPr marL="0" lvl="1" indent="0">
              <a:buNone/>
            </a:pPr>
            <a:r>
              <a:rPr lang="en-US" sz="2600" dirty="0"/>
              <a:t>Contributed to large-scale GWAS with innovative ancestry and validation algorithms.</a:t>
            </a:r>
          </a:p>
          <a:p>
            <a:pPr marL="0" indent="0">
              <a:spcBef>
                <a:spcPts val="2500"/>
              </a:spcBef>
              <a:buNone/>
            </a:pPr>
            <a:r>
              <a:rPr lang="en-US" sz="2600" b="1" dirty="0"/>
              <a:t>Academic Research Contributions</a:t>
            </a:r>
          </a:p>
          <a:p>
            <a:pPr marL="0" lvl="1" indent="0">
              <a:buNone/>
            </a:pPr>
            <a:r>
              <a:rPr lang="en-US" sz="2600" dirty="0"/>
              <a:t>Performed RNA-seq and </a:t>
            </a:r>
            <a:r>
              <a:rPr lang="en-US" sz="2600" dirty="0" err="1"/>
              <a:t>ChIP</a:t>
            </a:r>
            <a:r>
              <a:rPr lang="en-US" sz="2600" dirty="0"/>
              <a:t>-seq analyses leading to publications in top scientific journals.</a:t>
            </a:r>
          </a:p>
          <a:p>
            <a:pPr marL="0" indent="0">
              <a:spcBef>
                <a:spcPts val="2500"/>
              </a:spcBef>
              <a:buNone/>
            </a:pPr>
            <a:r>
              <a:rPr lang="en-US" sz="2600" b="1" dirty="0"/>
              <a:t>Entrepreneurship and Innovation</a:t>
            </a:r>
          </a:p>
          <a:p>
            <a:pPr marL="0" lvl="1" indent="0">
              <a:buNone/>
            </a:pPr>
            <a:r>
              <a:rPr lang="en-US" sz="2600" dirty="0"/>
              <a:t>Founded biotech company, developed genetic testing products, and secured multiple patents.</a:t>
            </a:r>
          </a:p>
        </p:txBody>
      </p:sp>
    </p:spTree>
    <p:extLst>
      <p:ext uri="{BB962C8B-B14F-4D97-AF65-F5344CB8AC3E}">
        <p14:creationId xmlns:p14="http://schemas.microsoft.com/office/powerpoint/2010/main" val="19729367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505"/>
            <a:ext cx="10515600" cy="1325563"/>
          </a:xfrm>
        </p:spPr>
        <p:txBody>
          <a:bodyPr/>
          <a:lstStyle/>
          <a:p>
            <a:r>
              <a:rPr dirty="0"/>
              <a:t>Career Summary: 20+ Years Delivering Impact</a:t>
            </a:r>
          </a:p>
        </p:txBody>
      </p:sp>
      <p:sp>
        <p:nvSpPr>
          <p:cNvPr id="3" name="Content Placeholder 2"/>
          <p:cNvSpPr>
            <a:spLocks noGrp="1"/>
          </p:cNvSpPr>
          <p:nvPr>
            <p:ph idx="1"/>
          </p:nvPr>
        </p:nvSpPr>
        <p:spPr>
          <a:xfrm>
            <a:off x="382830" y="1127583"/>
            <a:ext cx="11426340" cy="4810079"/>
          </a:xfrm>
        </p:spPr>
        <p:txBody>
          <a:bodyPr>
            <a:noAutofit/>
          </a:bodyPr>
          <a:lstStyle/>
          <a:p>
            <a:pPr>
              <a:defRPr sz="1800"/>
            </a:pPr>
            <a:r>
              <a:rPr sz="2000" b="1" dirty="0"/>
              <a:t>2025–Present</a:t>
            </a:r>
            <a:r>
              <a:rPr sz="2000" dirty="0"/>
              <a:t>: Head of Biosciences, Sophyics Pte. Ltd. (Singapore)</a:t>
            </a:r>
            <a:br>
              <a:rPr sz="2000" dirty="0"/>
            </a:br>
            <a:r>
              <a:rPr lang="en-US" altLang="zh-CN" sz="2000" dirty="0"/>
              <a:t>Q</a:t>
            </a:r>
            <a:r>
              <a:rPr sz="2000" dirty="0"/>
              <a:t>uantum-physics for biomedic</a:t>
            </a:r>
            <a:r>
              <a:rPr lang="en-US" altLang="zh-CN" sz="2000" dirty="0"/>
              <a:t>al</a:t>
            </a:r>
            <a:r>
              <a:rPr lang="zh-CN" altLang="en-US" sz="2000" dirty="0"/>
              <a:t> </a:t>
            </a:r>
            <a:r>
              <a:rPr lang="en-US" altLang="zh-CN" sz="2000" dirty="0"/>
              <a:t>applications</a:t>
            </a:r>
            <a:endParaRPr lang="en-US" sz="2000" dirty="0"/>
          </a:p>
          <a:p>
            <a:pPr>
              <a:defRPr sz="1800"/>
            </a:pPr>
            <a:r>
              <a:rPr sz="2000" b="1" dirty="0"/>
              <a:t>2021–2024</a:t>
            </a:r>
            <a:r>
              <a:rPr sz="2000" dirty="0"/>
              <a:t>: Head of Bioinformatics, D2M Biotherapeutics (Natick, MA)</a:t>
            </a:r>
            <a:br>
              <a:rPr sz="2000" dirty="0"/>
            </a:br>
            <a:r>
              <a:rPr lang="en-US" altLang="zh-CN" sz="2000" dirty="0"/>
              <a:t>11M+ </a:t>
            </a:r>
            <a:r>
              <a:rPr lang="en-US" sz="2000" dirty="0"/>
              <a:t>Mendelian Randomization</a:t>
            </a:r>
            <a:r>
              <a:rPr lang="zh-CN" altLang="en-US" sz="2000" dirty="0"/>
              <a:t> </a:t>
            </a:r>
            <a:r>
              <a:rPr lang="en-US" altLang="zh-CN" sz="2000" dirty="0"/>
              <a:t>results</a:t>
            </a:r>
            <a:r>
              <a:rPr lang="zh-CN" altLang="en-US" sz="2000" dirty="0"/>
              <a:t> </a:t>
            </a:r>
            <a:r>
              <a:rPr lang="en-US" altLang="zh-CN" sz="2000" dirty="0"/>
              <a:t>of causal genes for</a:t>
            </a:r>
            <a:r>
              <a:rPr lang="zh-CN" altLang="en-US" sz="2000" dirty="0"/>
              <a:t> </a:t>
            </a:r>
            <a:r>
              <a:rPr lang="en-US" altLang="zh-CN" sz="2000" dirty="0"/>
              <a:t>cancer</a:t>
            </a:r>
            <a:r>
              <a:rPr lang="zh-CN" altLang="en-US" sz="2000" dirty="0"/>
              <a:t> </a:t>
            </a:r>
            <a:r>
              <a:rPr lang="en-US" altLang="zh-CN" sz="2000" dirty="0"/>
              <a:t>&amp;</a:t>
            </a:r>
            <a:r>
              <a:rPr lang="zh-CN" altLang="en-US" sz="2000" dirty="0"/>
              <a:t> </a:t>
            </a:r>
            <a:r>
              <a:rPr lang="en-US" altLang="zh-CN" sz="2000" dirty="0"/>
              <a:t>immune</a:t>
            </a:r>
            <a:r>
              <a:rPr lang="zh-CN" altLang="en-US" sz="2000" dirty="0"/>
              <a:t> </a:t>
            </a:r>
            <a:r>
              <a:rPr lang="en-US" altLang="zh-CN" sz="2000" dirty="0"/>
              <a:t>diseases</a:t>
            </a:r>
            <a:r>
              <a:rPr lang="zh-CN" altLang="en-US" sz="2000" dirty="0"/>
              <a:t> </a:t>
            </a:r>
            <a:r>
              <a:rPr lang="en-US" altLang="zh-CN" sz="2000" dirty="0"/>
              <a:t>(world’s</a:t>
            </a:r>
            <a:r>
              <a:rPr lang="zh-CN" altLang="en-US" sz="2000" dirty="0"/>
              <a:t> </a:t>
            </a:r>
            <a:r>
              <a:rPr lang="en-US" altLang="zh-CN" sz="2000" dirty="0"/>
              <a:t>1st)</a:t>
            </a:r>
            <a:endParaRPr lang="en-US" sz="2000" dirty="0"/>
          </a:p>
          <a:p>
            <a:pPr>
              <a:defRPr sz="1800"/>
            </a:pPr>
            <a:r>
              <a:rPr sz="2000" b="1" dirty="0"/>
              <a:t>2018–2021</a:t>
            </a:r>
            <a:r>
              <a:rPr sz="2000" dirty="0"/>
              <a:t>: Sr. Data Analyst / Statistical Geneticist, Booz Allen Hamilton (Boston, MA)</a:t>
            </a:r>
            <a:br>
              <a:rPr sz="2000" dirty="0"/>
            </a:br>
            <a:r>
              <a:rPr sz="2000" b="1" dirty="0"/>
              <a:t>M</a:t>
            </a:r>
            <a:r>
              <a:rPr lang="en-US" altLang="zh-CN" sz="2000" b="1" dirty="0"/>
              <a:t>illion</a:t>
            </a:r>
            <a:r>
              <a:rPr lang="zh-CN" altLang="en-US" sz="2000" b="1" dirty="0"/>
              <a:t> </a:t>
            </a:r>
            <a:r>
              <a:rPr lang="en-US" altLang="zh-CN" sz="2000" b="1" dirty="0"/>
              <a:t>Veteran</a:t>
            </a:r>
            <a:r>
              <a:rPr lang="zh-CN" altLang="en-US" sz="2000" b="1" dirty="0"/>
              <a:t> </a:t>
            </a:r>
            <a:r>
              <a:rPr lang="en-US" altLang="zh-CN" sz="2000" b="1" dirty="0"/>
              <a:t>Program;</a:t>
            </a:r>
            <a:r>
              <a:rPr lang="zh-CN" altLang="en-US" sz="2000" b="1" dirty="0"/>
              <a:t> </a:t>
            </a:r>
            <a:r>
              <a:rPr lang="en-US" sz="2000" dirty="0"/>
              <a:t>NLP for NIDDK</a:t>
            </a:r>
          </a:p>
          <a:p>
            <a:pPr>
              <a:defRPr sz="1800"/>
            </a:pPr>
            <a:r>
              <a:rPr sz="2000" b="1" dirty="0"/>
              <a:t>2016–2018</a:t>
            </a:r>
            <a:r>
              <a:rPr sz="2000" dirty="0"/>
              <a:t>: Bioinformatics Analyst II, Dana-Farber Cancer Institute / Harvard (Boston, MA)</a:t>
            </a:r>
            <a:br>
              <a:rPr sz="2000" dirty="0"/>
            </a:br>
            <a:r>
              <a:rPr sz="2000" dirty="0"/>
              <a:t>RNA-seq, </a:t>
            </a:r>
            <a:r>
              <a:rPr sz="2000" dirty="0" err="1"/>
              <a:t>ChIP</a:t>
            </a:r>
            <a:r>
              <a:rPr sz="2000" dirty="0"/>
              <a:t>-seq, </a:t>
            </a:r>
            <a:r>
              <a:rPr sz="2000" dirty="0" err="1"/>
              <a:t>GUIDEseq</a:t>
            </a:r>
            <a:r>
              <a:rPr sz="2000" dirty="0"/>
              <a:t> analyses</a:t>
            </a:r>
            <a:r>
              <a:rPr lang="en-US" altLang="zh-CN" sz="2000" dirty="0"/>
              <a:t>,</a:t>
            </a:r>
            <a:r>
              <a:rPr lang="zh-CN" altLang="en-US" sz="2000" dirty="0"/>
              <a:t> </a:t>
            </a:r>
            <a:r>
              <a:rPr sz="2000" dirty="0"/>
              <a:t>4 co-authored papers (Science, </a:t>
            </a:r>
            <a:r>
              <a:rPr lang="en-US" altLang="zh-CN" sz="2000" dirty="0"/>
              <a:t>Nature</a:t>
            </a:r>
            <a:r>
              <a:rPr lang="zh-CN" altLang="en-US" sz="2000" dirty="0"/>
              <a:t> </a:t>
            </a:r>
            <a:r>
              <a:rPr lang="en-US" altLang="zh-CN" sz="2000" dirty="0"/>
              <a:t>Cell</a:t>
            </a:r>
            <a:r>
              <a:rPr lang="zh-CN" altLang="en-US" sz="2000" dirty="0"/>
              <a:t> </a:t>
            </a:r>
            <a:r>
              <a:rPr lang="en-US" altLang="zh-CN" sz="2000" dirty="0"/>
              <a:t>Bio</a:t>
            </a:r>
            <a:r>
              <a:rPr sz="2000" dirty="0"/>
              <a:t>)</a:t>
            </a:r>
            <a:endParaRPr lang="en-US" sz="2000" dirty="0"/>
          </a:p>
          <a:p>
            <a:pPr>
              <a:defRPr sz="1800"/>
            </a:pPr>
            <a:r>
              <a:rPr sz="2000" b="1" dirty="0"/>
              <a:t>2011–2015</a:t>
            </a:r>
            <a:r>
              <a:rPr sz="2000" dirty="0"/>
              <a:t>: Founder / CEO / CTO, Hubei Vidagen (</a:t>
            </a:r>
            <a:r>
              <a:rPr lang="en-US" altLang="zh-CN" sz="2000" dirty="0"/>
              <a:t>Wuhan,</a:t>
            </a:r>
            <a:r>
              <a:rPr lang="zh-CN" altLang="en-US" sz="2000" dirty="0"/>
              <a:t> </a:t>
            </a:r>
            <a:r>
              <a:rPr sz="2000" dirty="0"/>
              <a:t>China)</a:t>
            </a:r>
            <a:br>
              <a:rPr sz="2000" dirty="0"/>
            </a:br>
            <a:r>
              <a:rPr sz="2000" dirty="0"/>
              <a:t>Scaled to 35 employees</a:t>
            </a:r>
            <a:r>
              <a:rPr lang="en-US" altLang="zh-CN" sz="2000" dirty="0"/>
              <a:t>;</a:t>
            </a:r>
            <a:r>
              <a:rPr lang="zh-CN" altLang="en-US" sz="2000" dirty="0"/>
              <a:t> </a:t>
            </a:r>
            <a:r>
              <a:rPr sz="2000" dirty="0"/>
              <a:t>Developed 10-patent genetic testing system</a:t>
            </a:r>
            <a:endParaRPr lang="en-US" sz="2000" dirty="0"/>
          </a:p>
          <a:p>
            <a:pPr>
              <a:defRPr sz="1800"/>
            </a:pPr>
            <a:r>
              <a:rPr sz="2000" b="1" dirty="0"/>
              <a:t>2006–2011</a:t>
            </a:r>
            <a:r>
              <a:rPr sz="2000" dirty="0"/>
              <a:t>: Postdoc / Predoc, Harvard Medical School</a:t>
            </a:r>
            <a:r>
              <a:rPr lang="zh-CN" altLang="en-US" sz="2000" dirty="0"/>
              <a:t> </a:t>
            </a:r>
            <a:r>
              <a:rPr lang="en-US" altLang="zh-CN" sz="2000" dirty="0"/>
              <a:t>(Boston,</a:t>
            </a:r>
            <a:r>
              <a:rPr lang="zh-CN" altLang="en-US" sz="2000" dirty="0"/>
              <a:t> </a:t>
            </a:r>
            <a:r>
              <a:rPr lang="en-US" altLang="zh-CN" sz="2000" dirty="0"/>
              <a:t>MA)</a:t>
            </a:r>
            <a:endParaRPr lang="en-US" sz="2000" dirty="0"/>
          </a:p>
          <a:p>
            <a:pPr>
              <a:defRPr sz="1800"/>
            </a:pPr>
            <a:r>
              <a:rPr sz="2000" b="1" dirty="0"/>
              <a:t>2001–2003</a:t>
            </a:r>
            <a:r>
              <a:rPr sz="2000" dirty="0"/>
              <a:t>: Sr. Software Engineer, Gene Logic Inc.</a:t>
            </a:r>
            <a:r>
              <a:rPr lang="zh-CN" altLang="en-US" sz="2000" dirty="0"/>
              <a:t> </a:t>
            </a:r>
            <a:r>
              <a:rPr lang="en-US" altLang="zh-CN" sz="2000" dirty="0"/>
              <a:t>(Berkeley,</a:t>
            </a:r>
            <a:r>
              <a:rPr lang="zh-CN" altLang="en-US" sz="2000" dirty="0"/>
              <a:t> </a:t>
            </a:r>
            <a:r>
              <a:rPr lang="en-US" altLang="zh-CN" sz="2000" dirty="0"/>
              <a:t>CA)</a:t>
            </a:r>
            <a:endParaRPr lang="en-US" sz="2000" dirty="0"/>
          </a:p>
          <a:p>
            <a:pPr>
              <a:defRPr sz="1800"/>
            </a:pPr>
            <a:r>
              <a:rPr sz="2000" b="1" dirty="0"/>
              <a:t>1998–2001</a:t>
            </a:r>
            <a:r>
              <a:rPr sz="2000" dirty="0"/>
              <a:t>: Computational Scientist, </a:t>
            </a:r>
            <a:r>
              <a:rPr sz="2000" dirty="0" err="1"/>
              <a:t>Celltech</a:t>
            </a:r>
            <a:r>
              <a:rPr sz="2000" dirty="0"/>
              <a:t> R&amp;D</a:t>
            </a:r>
            <a:r>
              <a:rPr lang="zh-CN" altLang="en-US" sz="2000" dirty="0"/>
              <a:t> </a:t>
            </a:r>
            <a:r>
              <a:rPr lang="en-US" altLang="zh-CN" sz="2000" dirty="0"/>
              <a:t>(Seattle,</a:t>
            </a:r>
            <a:r>
              <a:rPr lang="zh-CN" altLang="en-US" sz="2000" dirty="0"/>
              <a:t> </a:t>
            </a:r>
            <a:r>
              <a:rPr lang="en-US" altLang="zh-CN" sz="2000" dirty="0"/>
              <a:t>WA)</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E23B-A031-872A-D25D-0CB5A69BD015}"/>
              </a:ext>
            </a:extLst>
          </p:cNvPr>
          <p:cNvSpPr>
            <a:spLocks noGrp="1"/>
          </p:cNvSpPr>
          <p:nvPr>
            <p:ph type="title"/>
          </p:nvPr>
        </p:nvSpPr>
        <p:spPr/>
        <p:txBody>
          <a:bodyPr anchor="b">
            <a:normAutofit/>
          </a:bodyPr>
          <a:lstStyle/>
          <a:p>
            <a:r>
              <a:rPr lang="en-US"/>
              <a:t>GWAS Methodology</a:t>
            </a:r>
          </a:p>
        </p:txBody>
      </p:sp>
      <p:sp>
        <p:nvSpPr>
          <p:cNvPr id="4" name="Footer Placeholder 3">
            <a:extLst>
              <a:ext uri="{FF2B5EF4-FFF2-40B4-BE49-F238E27FC236}">
                <a16:creationId xmlns:a16="http://schemas.microsoft.com/office/drawing/2014/main" id="{52E45528-B4DD-8CB9-D3CC-4382AEB6A675}"/>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6ADF8732-62BC-6596-DCFD-40C5B8539F52}"/>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67EA7228-0208-67CD-9020-ED148273A79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spTree>
    <p:extLst>
      <p:ext uri="{BB962C8B-B14F-4D97-AF65-F5344CB8AC3E}">
        <p14:creationId xmlns:p14="http://schemas.microsoft.com/office/powerpoint/2010/main" val="11201580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22221-7386-B528-5491-BD557621E21C}"/>
              </a:ext>
            </a:extLst>
          </p:cNvPr>
          <p:cNvSpPr>
            <a:spLocks noGrp="1"/>
          </p:cNvSpPr>
          <p:nvPr>
            <p:ph type="title"/>
          </p:nvPr>
        </p:nvSpPr>
        <p:spPr>
          <a:xfrm>
            <a:off x="320564" y="94798"/>
            <a:ext cx="11514753" cy="960120"/>
          </a:xfrm>
        </p:spPr>
        <p:txBody>
          <a:bodyPr anchor="t">
            <a:normAutofit fontScale="90000"/>
          </a:bodyPr>
          <a:lstStyle/>
          <a:p>
            <a:r>
              <a:rPr lang="en-US" sz="5600" dirty="0"/>
              <a:t>G</a:t>
            </a:r>
            <a:r>
              <a:rPr lang="en-US" altLang="zh-CN" sz="5600" dirty="0"/>
              <a:t>enome-Wide</a:t>
            </a:r>
            <a:r>
              <a:rPr lang="zh-CN" altLang="en-US" sz="5600" dirty="0"/>
              <a:t> </a:t>
            </a:r>
            <a:r>
              <a:rPr lang="en-US" altLang="zh-CN" sz="5600" dirty="0"/>
              <a:t>Association</a:t>
            </a:r>
            <a:r>
              <a:rPr lang="zh-CN" altLang="en-US" sz="5600" dirty="0"/>
              <a:t> </a:t>
            </a:r>
            <a:r>
              <a:rPr lang="en-US" altLang="zh-CN" sz="5600" dirty="0"/>
              <a:t>Study</a:t>
            </a:r>
            <a:r>
              <a:rPr lang="zh-CN" altLang="en-US" sz="5600" dirty="0"/>
              <a:t> </a:t>
            </a:r>
            <a:r>
              <a:rPr lang="en-US" altLang="zh-CN" sz="5600" dirty="0"/>
              <a:t>(GWAS)</a:t>
            </a:r>
            <a:endParaRPr lang="en-US" sz="5600" dirty="0"/>
          </a:p>
        </p:txBody>
      </p:sp>
      <p:sp>
        <p:nvSpPr>
          <p:cNvPr id="5" name="Slide Number Placeholder 4">
            <a:extLst>
              <a:ext uri="{FF2B5EF4-FFF2-40B4-BE49-F238E27FC236}">
                <a16:creationId xmlns:a16="http://schemas.microsoft.com/office/drawing/2014/main" id="{2C0B7466-FC14-52ED-C614-3F8E37ADE0D8}"/>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sp>
        <p:nvSpPr>
          <p:cNvPr id="7" name="Content Placeholder 6">
            <a:extLst>
              <a:ext uri="{FF2B5EF4-FFF2-40B4-BE49-F238E27FC236}">
                <a16:creationId xmlns:a16="http://schemas.microsoft.com/office/drawing/2014/main" id="{722CF9FE-18C4-4F6D-B0D2-C22AC6F0948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0564" y="5498274"/>
            <a:ext cx="7813844" cy="1115168"/>
          </a:xfrm>
        </p:spPr>
        <p:txBody>
          <a:bodyPr>
            <a:normAutofit/>
          </a:bodyPr>
          <a:lstStyle/>
          <a:p>
            <a:pPr>
              <a:lnSpc>
                <a:spcPts val="2400"/>
              </a:lnSpc>
              <a:spcBef>
                <a:spcPts val="2500"/>
              </a:spcBef>
            </a:pPr>
            <a:r>
              <a:rPr lang="en-US" altLang="zh-CN" sz="2000" dirty="0"/>
              <a:t>X:</a:t>
            </a:r>
            <a:r>
              <a:rPr lang="zh-CN" altLang="en-US" sz="2000" dirty="0"/>
              <a:t> </a:t>
            </a:r>
            <a:r>
              <a:rPr lang="en-US" altLang="zh-CN" sz="2000" dirty="0"/>
              <a:t>genomic</a:t>
            </a:r>
            <a:r>
              <a:rPr lang="zh-CN" altLang="en-US" sz="2000" dirty="0"/>
              <a:t> </a:t>
            </a:r>
            <a:r>
              <a:rPr lang="en-US" altLang="zh-CN" sz="2000" dirty="0"/>
              <a:t>coordinates</a:t>
            </a:r>
            <a:r>
              <a:rPr lang="zh-CN" altLang="en-US" sz="2000" dirty="0"/>
              <a:t> </a:t>
            </a:r>
            <a:r>
              <a:rPr lang="en-US" altLang="zh-CN" sz="2000" dirty="0"/>
              <a:t>in</a:t>
            </a:r>
            <a:r>
              <a:rPr lang="zh-CN" altLang="en-US" sz="2000" dirty="0"/>
              <a:t> </a:t>
            </a:r>
            <a:r>
              <a:rPr lang="en-US" altLang="zh-CN" sz="2000" dirty="0"/>
              <a:t>chromosomal</a:t>
            </a:r>
            <a:r>
              <a:rPr lang="zh-CN" altLang="en-US" sz="2000" dirty="0"/>
              <a:t> </a:t>
            </a:r>
            <a:r>
              <a:rPr lang="en-US" altLang="zh-CN" sz="2000" dirty="0"/>
              <a:t>order</a:t>
            </a:r>
          </a:p>
          <a:p>
            <a:pPr>
              <a:lnSpc>
                <a:spcPts val="2400"/>
              </a:lnSpc>
              <a:spcBef>
                <a:spcPts val="2500"/>
              </a:spcBef>
            </a:pPr>
            <a:r>
              <a:rPr lang="en-US" altLang="zh-CN" sz="2000" dirty="0"/>
              <a:t>Y:</a:t>
            </a:r>
            <a:r>
              <a:rPr lang="zh-CN" altLang="en-US" sz="2000" dirty="0"/>
              <a:t> </a:t>
            </a:r>
            <a:r>
              <a:rPr lang="en-US" altLang="zh-CN" sz="2000" dirty="0"/>
              <a:t>-log10(p-value)</a:t>
            </a:r>
            <a:endParaRPr lang="en-US" sz="2000" dirty="0"/>
          </a:p>
        </p:txBody>
      </p:sp>
      <p:pic>
        <p:nvPicPr>
          <p:cNvPr id="11" name="Picture 10">
            <a:extLst>
              <a:ext uri="{FF2B5EF4-FFF2-40B4-BE49-F238E27FC236}">
                <a16:creationId xmlns:a16="http://schemas.microsoft.com/office/drawing/2014/main" id="{2DDFA83E-15B8-AAC7-73A7-F4C3FD2B54EA}"/>
              </a:ext>
            </a:extLst>
          </p:cNvPr>
          <p:cNvPicPr>
            <a:picLocks noChangeAspect="1"/>
          </p:cNvPicPr>
          <p:nvPr/>
        </p:nvPicPr>
        <p:blipFill>
          <a:blip r:embed="rId3"/>
          <a:stretch>
            <a:fillRect/>
          </a:stretch>
        </p:blipFill>
        <p:spPr>
          <a:xfrm>
            <a:off x="-1" y="960045"/>
            <a:ext cx="7950063" cy="4538229"/>
          </a:xfrm>
          <a:prstGeom prst="rect">
            <a:avLst/>
          </a:prstGeom>
        </p:spPr>
      </p:pic>
      <p:pic>
        <p:nvPicPr>
          <p:cNvPr id="13" name="Picture 12">
            <a:extLst>
              <a:ext uri="{FF2B5EF4-FFF2-40B4-BE49-F238E27FC236}">
                <a16:creationId xmlns:a16="http://schemas.microsoft.com/office/drawing/2014/main" id="{E15A100B-C283-676A-89EB-C1B2E6D91811}"/>
              </a:ext>
            </a:extLst>
          </p:cNvPr>
          <p:cNvPicPr>
            <a:picLocks noChangeAspect="1"/>
          </p:cNvPicPr>
          <p:nvPr/>
        </p:nvPicPr>
        <p:blipFill>
          <a:blip r:embed="rId4"/>
          <a:stretch>
            <a:fillRect/>
          </a:stretch>
        </p:blipFill>
        <p:spPr>
          <a:xfrm>
            <a:off x="8328136" y="1428917"/>
            <a:ext cx="3543300" cy="1549400"/>
          </a:xfrm>
          <a:prstGeom prst="rect">
            <a:avLst/>
          </a:prstGeom>
        </p:spPr>
      </p:pic>
      <p:sp>
        <p:nvSpPr>
          <p:cNvPr id="14" name="Content Placeholder 6">
            <a:extLst>
              <a:ext uri="{FF2B5EF4-FFF2-40B4-BE49-F238E27FC236}">
                <a16:creationId xmlns:a16="http://schemas.microsoft.com/office/drawing/2014/main" id="{29A306DC-38A1-9E11-9D34-FBE023EE6B12}"/>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837714" y="3229159"/>
            <a:ext cx="4332515" cy="35340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2500"/>
              </a:spcBef>
            </a:pPr>
            <a:r>
              <a:rPr lang="en-US" altLang="zh-CN" sz="2000" b="1" dirty="0"/>
              <a:t>SNP</a:t>
            </a:r>
            <a:r>
              <a:rPr lang="en-US" altLang="zh-CN" sz="2000" dirty="0"/>
              <a:t>: Single Nucleotide Polymorphism</a:t>
            </a:r>
          </a:p>
          <a:p>
            <a:pPr>
              <a:lnSpc>
                <a:spcPct val="100000"/>
              </a:lnSpc>
              <a:spcBef>
                <a:spcPts val="2500"/>
              </a:spcBef>
            </a:pPr>
            <a:r>
              <a:rPr lang="en-US" altLang="zh-CN" sz="2000" dirty="0"/>
              <a:t>Method:</a:t>
            </a:r>
            <a:r>
              <a:rPr lang="zh-CN" altLang="en-US" sz="2000" dirty="0"/>
              <a:t> </a:t>
            </a:r>
            <a:endParaRPr lang="en-US" altLang="zh-CN" sz="2000" dirty="0"/>
          </a:p>
          <a:p>
            <a:pPr lvl="1">
              <a:lnSpc>
                <a:spcPts val="1920"/>
              </a:lnSpc>
              <a:spcBef>
                <a:spcPts val="2500"/>
              </a:spcBef>
            </a:pPr>
            <a:r>
              <a:rPr lang="en-US" altLang="zh-CN" sz="2000" dirty="0"/>
              <a:t>calculate</a:t>
            </a:r>
            <a:r>
              <a:rPr lang="zh-CN" altLang="en-US" sz="2000" dirty="0"/>
              <a:t> </a:t>
            </a:r>
            <a:r>
              <a:rPr lang="en-US" altLang="zh-CN" sz="2000" dirty="0"/>
              <a:t>the</a:t>
            </a:r>
            <a:r>
              <a:rPr lang="zh-CN" altLang="en-US" sz="2000" dirty="0"/>
              <a:t> </a:t>
            </a:r>
            <a:r>
              <a:rPr lang="en-US" altLang="zh-CN" sz="2000" dirty="0"/>
              <a:t>p-value</a:t>
            </a:r>
          </a:p>
          <a:p>
            <a:pPr lvl="1">
              <a:lnSpc>
                <a:spcPts val="1920"/>
              </a:lnSpc>
              <a:spcBef>
                <a:spcPts val="2500"/>
              </a:spcBef>
            </a:pPr>
            <a:r>
              <a:rPr lang="en-US" altLang="zh-CN" sz="2000" dirty="0"/>
              <a:t>Significance:</a:t>
            </a:r>
            <a:r>
              <a:rPr lang="zh-CN" altLang="en-US" sz="2000" dirty="0"/>
              <a:t> </a:t>
            </a:r>
            <a:r>
              <a:rPr lang="en-US" altLang="zh-CN" sz="2000" dirty="0"/>
              <a:t>adjust</a:t>
            </a:r>
            <a:r>
              <a:rPr lang="zh-CN" altLang="en-US" sz="2000" dirty="0"/>
              <a:t> </a:t>
            </a:r>
            <a:r>
              <a:rPr lang="en-US" altLang="zh-CN" sz="2000" dirty="0"/>
              <a:t>for</a:t>
            </a:r>
            <a:r>
              <a:rPr lang="zh-CN" altLang="en-US" sz="2000" dirty="0"/>
              <a:t> </a:t>
            </a:r>
            <a:r>
              <a:rPr lang="en-US" altLang="zh-CN" sz="2000" dirty="0"/>
              <a:t>multiple</a:t>
            </a:r>
            <a:r>
              <a:rPr lang="zh-CN" altLang="en-US" sz="2000" dirty="0"/>
              <a:t> </a:t>
            </a:r>
            <a:r>
              <a:rPr lang="en-US" altLang="zh-CN" sz="2000" dirty="0"/>
              <a:t>comparison</a:t>
            </a:r>
          </a:p>
          <a:p>
            <a:pPr lvl="1">
              <a:lnSpc>
                <a:spcPct val="100000"/>
              </a:lnSpc>
              <a:spcBef>
                <a:spcPts val="2500"/>
              </a:spcBef>
            </a:pPr>
            <a:endParaRPr lang="en-US" sz="1600" dirty="0"/>
          </a:p>
        </p:txBody>
      </p:sp>
    </p:spTree>
    <p:extLst>
      <p:ext uri="{BB962C8B-B14F-4D97-AF65-F5344CB8AC3E}">
        <p14:creationId xmlns:p14="http://schemas.microsoft.com/office/powerpoint/2010/main" val="6151466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92D9E-B64E-ECFF-2874-6355A50C8AA9}"/>
              </a:ext>
            </a:extLst>
          </p:cNvPr>
          <p:cNvSpPr>
            <a:spLocks noGrp="1"/>
          </p:cNvSpPr>
          <p:nvPr>
            <p:ph type="title"/>
          </p:nvPr>
        </p:nvSpPr>
        <p:spPr/>
        <p:txBody>
          <a:bodyPr anchor="b">
            <a:normAutofit/>
          </a:bodyPr>
          <a:lstStyle/>
          <a:p>
            <a:r>
              <a:rPr lang="en-US" dirty="0"/>
              <a:t>Exemplar GWAS Study</a:t>
            </a:r>
          </a:p>
        </p:txBody>
      </p:sp>
      <p:sp>
        <p:nvSpPr>
          <p:cNvPr id="4" name="Footer Placeholder 3">
            <a:extLst>
              <a:ext uri="{FF2B5EF4-FFF2-40B4-BE49-F238E27FC236}">
                <a16:creationId xmlns:a16="http://schemas.microsoft.com/office/drawing/2014/main" id="{6173D4DD-EF84-5498-2AC6-BE885E7A2D41}"/>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3C63E777-9825-EE8A-02AB-15566F01E950}"/>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210AF3F2-1B1B-8105-0BFD-86D282793211}"/>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spTree>
    <p:extLst>
      <p:ext uri="{BB962C8B-B14F-4D97-AF65-F5344CB8AC3E}">
        <p14:creationId xmlns:p14="http://schemas.microsoft.com/office/powerpoint/2010/main" val="3639969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C79F337-91F2-2ECA-CF6B-8614479E397E}"/>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sp>
        <p:nvSpPr>
          <p:cNvPr id="7" name="Content Placeholder 6">
            <a:extLst>
              <a:ext uri="{FF2B5EF4-FFF2-40B4-BE49-F238E27FC236}">
                <a16:creationId xmlns:a16="http://schemas.microsoft.com/office/drawing/2014/main" id="{1F809C7A-ABA6-A43C-408D-78FE952B5BB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586298" y="3050966"/>
            <a:ext cx="4075390" cy="3773988"/>
          </a:xfrm>
        </p:spPr>
        <p:txBody>
          <a:bodyPr>
            <a:normAutofit fontScale="92500" lnSpcReduction="20000"/>
          </a:bodyPr>
          <a:lstStyle/>
          <a:p>
            <a:pPr marL="0" indent="0">
              <a:spcBef>
                <a:spcPts val="2500"/>
              </a:spcBef>
              <a:buFont typeface="Arial" panose="020B0604020202020204" pitchFamily="34" charset="0"/>
              <a:buNone/>
            </a:pPr>
            <a:r>
              <a:rPr lang="en-US" sz="1400" b="1" dirty="0"/>
              <a:t>GWAS Study Design</a:t>
            </a:r>
          </a:p>
          <a:p>
            <a:pPr marL="0" lvl="1" indent="0">
              <a:buFont typeface="Arial" panose="020B0604020202020204" pitchFamily="34" charset="0"/>
              <a:buNone/>
            </a:pPr>
            <a:r>
              <a:rPr lang="en-US" sz="1400" dirty="0"/>
              <a:t>The study used a two-stage GWAS with discovery and replication cohorts to robustly identify genetic associations.</a:t>
            </a:r>
          </a:p>
          <a:p>
            <a:pPr marL="0" indent="0">
              <a:spcBef>
                <a:spcPts val="2500"/>
              </a:spcBef>
              <a:buFont typeface="Arial" panose="020B0604020202020204" pitchFamily="34" charset="0"/>
              <a:buNone/>
            </a:pPr>
            <a:r>
              <a:rPr lang="en-US" sz="1400" b="1" dirty="0"/>
              <a:t>NID1 Genetic Association</a:t>
            </a:r>
          </a:p>
          <a:p>
            <a:pPr marL="0" lvl="1" indent="0">
              <a:buFont typeface="Arial" panose="020B0604020202020204" pitchFamily="34" charset="0"/>
              <a:buNone/>
            </a:pPr>
            <a:r>
              <a:rPr lang="en-US" sz="1400" dirty="0"/>
              <a:t>NID1 locus on chromosome 1q42 is linked to nevus count, with key SNPs reaching genome-wide significance.</a:t>
            </a:r>
          </a:p>
          <a:p>
            <a:pPr marL="0" indent="0">
              <a:spcBef>
                <a:spcPts val="2500"/>
              </a:spcBef>
              <a:buFont typeface="Arial" panose="020B0604020202020204" pitchFamily="34" charset="0"/>
              <a:buNone/>
            </a:pPr>
            <a:r>
              <a:rPr lang="en-US" sz="1400" b="1" dirty="0"/>
              <a:t>Expression Analysis</a:t>
            </a:r>
          </a:p>
          <a:p>
            <a:pPr marL="0" lvl="1" indent="0">
              <a:buFont typeface="Arial" panose="020B0604020202020204" pitchFamily="34" charset="0"/>
              <a:buNone/>
            </a:pPr>
            <a:r>
              <a:rPr lang="en-US" sz="1400" dirty="0"/>
              <a:t>Follow-up analyses show decreased NID1 expression in nevi and melanoma tissues validating genetic findings.</a:t>
            </a:r>
          </a:p>
          <a:p>
            <a:pPr marL="0" indent="0">
              <a:spcBef>
                <a:spcPts val="2500"/>
              </a:spcBef>
              <a:buFont typeface="Arial" panose="020B0604020202020204" pitchFamily="34" charset="0"/>
              <a:buNone/>
            </a:pPr>
            <a:r>
              <a:rPr lang="en-US" sz="1400" b="1" dirty="0"/>
              <a:t>Implications for Melanoma Risk</a:t>
            </a:r>
          </a:p>
          <a:p>
            <a:pPr marL="0" lvl="1" indent="0">
              <a:buFont typeface="Arial" panose="020B0604020202020204" pitchFamily="34" charset="0"/>
              <a:buNone/>
            </a:pPr>
            <a:r>
              <a:rPr lang="en-US" sz="1400" dirty="0"/>
              <a:t>Findings reveal genetic control of nevus count influencing melanoma susceptibility and therapeutic insights.</a:t>
            </a:r>
          </a:p>
        </p:txBody>
      </p:sp>
      <p:pic>
        <p:nvPicPr>
          <p:cNvPr id="11" name="Picture 10">
            <a:extLst>
              <a:ext uri="{FF2B5EF4-FFF2-40B4-BE49-F238E27FC236}">
                <a16:creationId xmlns:a16="http://schemas.microsoft.com/office/drawing/2014/main" id="{C6B85AEB-0BCE-C892-D4BE-C6A8A6B3EAD1}"/>
              </a:ext>
            </a:extLst>
          </p:cNvPr>
          <p:cNvPicPr>
            <a:picLocks noChangeAspect="1"/>
          </p:cNvPicPr>
          <p:nvPr/>
        </p:nvPicPr>
        <p:blipFill>
          <a:blip r:embed="rId3"/>
          <a:stretch>
            <a:fillRect/>
          </a:stretch>
        </p:blipFill>
        <p:spPr>
          <a:xfrm>
            <a:off x="0" y="3042900"/>
            <a:ext cx="3794619" cy="3782054"/>
          </a:xfrm>
          <a:prstGeom prst="rect">
            <a:avLst/>
          </a:prstGeom>
        </p:spPr>
      </p:pic>
      <p:pic>
        <p:nvPicPr>
          <p:cNvPr id="14" name="Picture 13">
            <a:extLst>
              <a:ext uri="{FF2B5EF4-FFF2-40B4-BE49-F238E27FC236}">
                <a16:creationId xmlns:a16="http://schemas.microsoft.com/office/drawing/2014/main" id="{31213783-E151-4F90-0261-2C1D7C783CE5}"/>
              </a:ext>
            </a:extLst>
          </p:cNvPr>
          <p:cNvPicPr>
            <a:picLocks noChangeAspect="1"/>
          </p:cNvPicPr>
          <p:nvPr/>
        </p:nvPicPr>
        <p:blipFill>
          <a:blip r:embed="rId4"/>
          <a:stretch>
            <a:fillRect/>
          </a:stretch>
        </p:blipFill>
        <p:spPr>
          <a:xfrm>
            <a:off x="1897309" y="33046"/>
            <a:ext cx="7772400" cy="2594652"/>
          </a:xfrm>
          <a:prstGeom prst="rect">
            <a:avLst/>
          </a:prstGeom>
        </p:spPr>
      </p:pic>
      <p:pic>
        <p:nvPicPr>
          <p:cNvPr id="15" name="Picture 14">
            <a:extLst>
              <a:ext uri="{FF2B5EF4-FFF2-40B4-BE49-F238E27FC236}">
                <a16:creationId xmlns:a16="http://schemas.microsoft.com/office/drawing/2014/main" id="{D2BD2B39-B788-A680-FDA6-6785878AFD64}"/>
              </a:ext>
            </a:extLst>
          </p:cNvPr>
          <p:cNvPicPr>
            <a:picLocks noChangeAspect="1"/>
          </p:cNvPicPr>
          <p:nvPr/>
        </p:nvPicPr>
        <p:blipFill>
          <a:blip r:embed="rId5"/>
          <a:stretch>
            <a:fillRect/>
          </a:stretch>
        </p:blipFill>
        <p:spPr>
          <a:xfrm>
            <a:off x="4065373" y="2726569"/>
            <a:ext cx="3250170" cy="4098385"/>
          </a:xfrm>
          <a:prstGeom prst="rect">
            <a:avLst/>
          </a:prstGeom>
        </p:spPr>
      </p:pic>
    </p:spTree>
    <p:extLst>
      <p:ext uri="{BB962C8B-B14F-4D97-AF65-F5344CB8AC3E}">
        <p14:creationId xmlns:p14="http://schemas.microsoft.com/office/powerpoint/2010/main" val="14850076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3B45-9C7A-0336-C50B-5B4347321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58136-2D2A-7FF4-59D0-C4E18F157484}"/>
              </a:ext>
            </a:extLst>
          </p:cNvPr>
          <p:cNvSpPr>
            <a:spLocks noGrp="1"/>
          </p:cNvSpPr>
          <p:nvPr>
            <p:ph type="title"/>
          </p:nvPr>
        </p:nvSpPr>
        <p:spPr/>
        <p:txBody>
          <a:bodyPr anchor="b">
            <a:normAutofit/>
          </a:bodyPr>
          <a:lstStyle/>
          <a:p>
            <a:r>
              <a:rPr lang="en-US" dirty="0"/>
              <a:t>Exemplar </a:t>
            </a:r>
            <a:r>
              <a:rPr lang="en-US" altLang="zh-CN" dirty="0" err="1"/>
              <a:t>RNAseq</a:t>
            </a:r>
            <a:r>
              <a:rPr lang="en-US" dirty="0"/>
              <a:t> </a:t>
            </a:r>
            <a:r>
              <a:rPr lang="en-US" altLang="zh-CN" dirty="0"/>
              <a:t>Analysis</a:t>
            </a:r>
            <a:endParaRPr lang="en-US" dirty="0"/>
          </a:p>
        </p:txBody>
      </p:sp>
      <p:sp>
        <p:nvSpPr>
          <p:cNvPr id="4" name="Footer Placeholder 3">
            <a:extLst>
              <a:ext uri="{FF2B5EF4-FFF2-40B4-BE49-F238E27FC236}">
                <a16:creationId xmlns:a16="http://schemas.microsoft.com/office/drawing/2014/main" id="{2576A6F1-E555-9DF9-162D-669DEAB02547}"/>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8113D77C-1DB1-61EB-97A3-89EDAC425C7E}"/>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163218EE-D712-9ABD-EE9E-707F64E11D4A}"/>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Tree>
    <p:extLst>
      <p:ext uri="{BB962C8B-B14F-4D97-AF65-F5344CB8AC3E}">
        <p14:creationId xmlns:p14="http://schemas.microsoft.com/office/powerpoint/2010/main" val="4000637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638B-7504-6D6F-7296-9F4A6D589B5A}"/>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D546F71-F97F-DB2C-B4F0-E5AD52CA37A6}"/>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
        <p:nvSpPr>
          <p:cNvPr id="7" name="Content Placeholder 6">
            <a:extLst>
              <a:ext uri="{FF2B5EF4-FFF2-40B4-BE49-F238E27FC236}">
                <a16:creationId xmlns:a16="http://schemas.microsoft.com/office/drawing/2014/main" id="{1F4116C1-6235-7255-B808-FECFA85F25A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13480" y="1802209"/>
            <a:ext cx="4075390" cy="4351456"/>
          </a:xfrm>
        </p:spPr>
        <p:txBody>
          <a:bodyPr>
            <a:normAutofit/>
          </a:bodyPr>
          <a:lstStyle/>
          <a:p>
            <a:pPr marL="0" indent="0">
              <a:buNone/>
            </a:pPr>
            <a:r>
              <a:rPr lang="en-US" sz="1600" b="1" dirty="0"/>
              <a:t>RNA-seq Differential Gene Expression (DGE) Analysis</a:t>
            </a:r>
          </a:p>
          <a:p>
            <a:pPr marL="285750" lvl="1" indent="-285750"/>
            <a:r>
              <a:rPr lang="en-US" altLang="zh-CN" sz="1600" dirty="0" err="1"/>
              <a:t>RNAseq</a:t>
            </a:r>
            <a:r>
              <a:rPr lang="zh-CN" altLang="en-US" sz="1600" dirty="0"/>
              <a:t> </a:t>
            </a:r>
            <a:r>
              <a:rPr lang="en-US" altLang="zh-CN" sz="1600" dirty="0"/>
              <a:t>count:</a:t>
            </a:r>
            <a:r>
              <a:rPr lang="zh-CN" altLang="en-US" sz="1600" dirty="0"/>
              <a:t> </a:t>
            </a:r>
            <a:r>
              <a:rPr lang="en-US" altLang="zh-CN" sz="1600" dirty="0"/>
              <a:t>negative</a:t>
            </a:r>
            <a:r>
              <a:rPr lang="zh-CN" altLang="en-US" sz="1600" dirty="0"/>
              <a:t> </a:t>
            </a:r>
            <a:r>
              <a:rPr lang="en-US" altLang="zh-CN" sz="1600" dirty="0"/>
              <a:t>binomial</a:t>
            </a:r>
            <a:r>
              <a:rPr lang="zh-CN" altLang="en-US" sz="1600" dirty="0"/>
              <a:t> </a:t>
            </a:r>
            <a:r>
              <a:rPr lang="en-US" altLang="zh-CN" sz="1600" dirty="0"/>
              <a:t>distribution</a:t>
            </a:r>
          </a:p>
          <a:p>
            <a:pPr marL="285750" lvl="1" indent="-285750"/>
            <a:r>
              <a:rPr lang="en-US" altLang="zh-CN" sz="1600" dirty="0"/>
              <a:t>R</a:t>
            </a:r>
            <a:r>
              <a:rPr lang="zh-CN" altLang="en-US" sz="1600" dirty="0"/>
              <a:t> </a:t>
            </a:r>
            <a:r>
              <a:rPr lang="en-US" altLang="zh-CN" sz="1600" dirty="0"/>
              <a:t>package:</a:t>
            </a:r>
            <a:r>
              <a:rPr lang="zh-CN" altLang="en-US" sz="1600" dirty="0"/>
              <a:t> </a:t>
            </a:r>
            <a:r>
              <a:rPr lang="en-US" altLang="zh-CN" sz="1600" dirty="0" err="1"/>
              <a:t>edgeR</a:t>
            </a:r>
            <a:endParaRPr lang="en-US" altLang="zh-CN" sz="1600" dirty="0"/>
          </a:p>
          <a:p>
            <a:pPr marL="0" indent="0">
              <a:buNone/>
            </a:pPr>
            <a:r>
              <a:rPr lang="en-US" altLang="zh-CN" sz="1600" b="1" dirty="0"/>
              <a:t>Volcano</a:t>
            </a:r>
            <a:r>
              <a:rPr lang="zh-CN" altLang="en-US" sz="1600" b="1" dirty="0"/>
              <a:t> </a:t>
            </a:r>
            <a:r>
              <a:rPr lang="en-US" altLang="zh-CN" sz="1600" b="1" dirty="0"/>
              <a:t>Plot</a:t>
            </a:r>
          </a:p>
          <a:p>
            <a:r>
              <a:rPr lang="en-US" altLang="zh-CN" sz="1600" dirty="0"/>
              <a:t>X:</a:t>
            </a:r>
            <a:r>
              <a:rPr lang="zh-CN" altLang="en-US" sz="1600" dirty="0"/>
              <a:t> </a:t>
            </a:r>
            <a:r>
              <a:rPr lang="en-US" altLang="zh-CN" sz="1600" dirty="0"/>
              <a:t>log2(Fold</a:t>
            </a:r>
            <a:r>
              <a:rPr lang="zh-CN" altLang="en-US" sz="1600" dirty="0"/>
              <a:t> </a:t>
            </a:r>
            <a:r>
              <a:rPr lang="en-US" altLang="zh-CN" sz="1600" dirty="0"/>
              <a:t>Change)</a:t>
            </a:r>
          </a:p>
          <a:p>
            <a:r>
              <a:rPr lang="en-US" altLang="zh-CN" sz="1600" dirty="0"/>
              <a:t>Y:</a:t>
            </a:r>
            <a:r>
              <a:rPr lang="zh-CN" altLang="en-US" sz="1600" dirty="0"/>
              <a:t> </a:t>
            </a:r>
            <a:r>
              <a:rPr lang="en-US" altLang="zh-CN" sz="1600" dirty="0"/>
              <a:t>-log10(P-value)</a:t>
            </a:r>
          </a:p>
          <a:p>
            <a:r>
              <a:rPr lang="en-US" altLang="zh-CN" sz="1600" dirty="0"/>
              <a:t>The</a:t>
            </a:r>
            <a:r>
              <a:rPr lang="zh-CN" altLang="en-US" sz="1600" dirty="0"/>
              <a:t> </a:t>
            </a:r>
            <a:r>
              <a:rPr lang="en-US" altLang="zh-CN" sz="1600" dirty="0"/>
              <a:t>higher,</a:t>
            </a:r>
            <a:r>
              <a:rPr lang="zh-CN" altLang="en-US" sz="1600" dirty="0"/>
              <a:t> </a:t>
            </a:r>
            <a:r>
              <a:rPr lang="en-US" altLang="zh-CN" sz="1600" dirty="0"/>
              <a:t>the</a:t>
            </a:r>
            <a:r>
              <a:rPr lang="zh-CN" altLang="en-US" sz="1600" dirty="0"/>
              <a:t> </a:t>
            </a:r>
            <a:r>
              <a:rPr lang="en-US" altLang="zh-CN" sz="1600" dirty="0"/>
              <a:t>more</a:t>
            </a:r>
            <a:r>
              <a:rPr lang="zh-CN" altLang="en-US" sz="1600" dirty="0"/>
              <a:t> </a:t>
            </a:r>
            <a:r>
              <a:rPr lang="en-US" altLang="zh-CN" sz="1600" dirty="0"/>
              <a:t>significant</a:t>
            </a:r>
          </a:p>
          <a:p>
            <a:pPr marL="0" indent="0">
              <a:buNone/>
            </a:pPr>
            <a:r>
              <a:rPr lang="en-US" altLang="zh-CN" sz="1600" b="1" dirty="0"/>
              <a:t>The</a:t>
            </a:r>
            <a:r>
              <a:rPr lang="zh-CN" altLang="en-US" sz="1600" b="1" dirty="0"/>
              <a:t> </a:t>
            </a:r>
            <a:r>
              <a:rPr lang="en-US" altLang="zh-CN" sz="1600" b="1" dirty="0"/>
              <a:t>Paper</a:t>
            </a:r>
          </a:p>
          <a:p>
            <a:r>
              <a:rPr lang="en-US" altLang="zh-CN" sz="1600" dirty="0"/>
              <a:t>FXN</a:t>
            </a:r>
            <a:r>
              <a:rPr lang="zh-CN" altLang="en-US" sz="1600" dirty="0"/>
              <a:t> </a:t>
            </a:r>
            <a:r>
              <a:rPr lang="en-US" altLang="zh-CN" sz="1600" dirty="0"/>
              <a:t>is</a:t>
            </a:r>
            <a:r>
              <a:rPr lang="zh-CN" altLang="en-US" sz="1600" dirty="0"/>
              <a:t> </a:t>
            </a:r>
            <a:r>
              <a:rPr lang="en-US" altLang="zh-CN" sz="1600" dirty="0"/>
              <a:t>significantly</a:t>
            </a:r>
            <a:r>
              <a:rPr lang="zh-CN" altLang="en-US" sz="1600" dirty="0"/>
              <a:t> </a:t>
            </a:r>
            <a:r>
              <a:rPr lang="en-US" altLang="zh-CN" sz="1600" dirty="0"/>
              <a:t>up-regulated</a:t>
            </a:r>
            <a:r>
              <a:rPr lang="zh-CN" altLang="en-US" sz="1600" dirty="0"/>
              <a:t> </a:t>
            </a:r>
            <a:r>
              <a:rPr lang="en-US" altLang="zh-CN" sz="1600" dirty="0"/>
              <a:t>by</a:t>
            </a:r>
            <a:r>
              <a:rPr lang="zh-CN" altLang="en-US" sz="1600" dirty="0"/>
              <a:t> </a:t>
            </a:r>
            <a:r>
              <a:rPr lang="en-US" altLang="zh-CN" sz="1600" dirty="0"/>
              <a:t>the</a:t>
            </a:r>
            <a:r>
              <a:rPr lang="zh-CN" altLang="en-US" sz="1600" dirty="0"/>
              <a:t> </a:t>
            </a:r>
            <a:r>
              <a:rPr lang="en-US" altLang="zh-CN" sz="1600" dirty="0"/>
              <a:t>treatment</a:t>
            </a:r>
          </a:p>
          <a:p>
            <a:r>
              <a:rPr lang="en-US" altLang="zh-CN" sz="1600" dirty="0"/>
              <a:t>MYC</a:t>
            </a:r>
            <a:r>
              <a:rPr lang="zh-CN" altLang="en-US" sz="1600" dirty="0"/>
              <a:t> </a:t>
            </a:r>
            <a:r>
              <a:rPr lang="en-US" altLang="zh-CN" sz="1600" dirty="0"/>
              <a:t>as</a:t>
            </a:r>
            <a:r>
              <a:rPr lang="zh-CN" altLang="en-US" sz="1600" dirty="0"/>
              <a:t> </a:t>
            </a:r>
            <a:r>
              <a:rPr lang="en-US" altLang="zh-CN" sz="1600" dirty="0"/>
              <a:t>a</a:t>
            </a:r>
            <a:r>
              <a:rPr lang="zh-CN" altLang="en-US" sz="1600" dirty="0"/>
              <a:t> </a:t>
            </a:r>
            <a:r>
              <a:rPr lang="en-US" altLang="zh-CN" sz="1600" dirty="0"/>
              <a:t>control,</a:t>
            </a:r>
            <a:r>
              <a:rPr lang="zh-CN" altLang="en-US" sz="1600" dirty="0"/>
              <a:t> </a:t>
            </a:r>
            <a:r>
              <a:rPr lang="en-US" altLang="zh-CN" sz="1600" dirty="0"/>
              <a:t>is</a:t>
            </a:r>
            <a:r>
              <a:rPr lang="zh-CN" altLang="en-US" sz="1600" dirty="0"/>
              <a:t> </a:t>
            </a:r>
            <a:r>
              <a:rPr lang="en-US" altLang="zh-CN" sz="1600" dirty="0"/>
              <a:t>not</a:t>
            </a:r>
            <a:r>
              <a:rPr lang="zh-CN" altLang="en-US" sz="1600" dirty="0"/>
              <a:t> </a:t>
            </a:r>
            <a:r>
              <a:rPr lang="en-US" altLang="zh-CN" sz="1600" dirty="0"/>
              <a:t>responsive</a:t>
            </a:r>
            <a:r>
              <a:rPr lang="zh-CN" altLang="en-US" sz="1600" dirty="0"/>
              <a:t> </a:t>
            </a:r>
            <a:r>
              <a:rPr lang="en-US" altLang="zh-CN" sz="1600" dirty="0"/>
              <a:t>to</a:t>
            </a:r>
            <a:r>
              <a:rPr lang="zh-CN" altLang="en-US" sz="1600" dirty="0"/>
              <a:t> </a:t>
            </a:r>
            <a:r>
              <a:rPr lang="en-US" altLang="zh-CN" sz="1600" dirty="0"/>
              <a:t>the</a:t>
            </a:r>
            <a:r>
              <a:rPr lang="zh-CN" altLang="en-US" sz="1600" dirty="0"/>
              <a:t> </a:t>
            </a:r>
            <a:r>
              <a:rPr lang="en-US" altLang="zh-CN" sz="1600" dirty="0"/>
              <a:t>treatment</a:t>
            </a:r>
          </a:p>
          <a:p>
            <a:pPr marL="0" indent="0">
              <a:buNone/>
            </a:pPr>
            <a:endParaRPr lang="en-US" altLang="zh-CN" sz="1400" b="1" dirty="0"/>
          </a:p>
          <a:p>
            <a:pPr marL="0" indent="0">
              <a:spcBef>
                <a:spcPts val="2500"/>
              </a:spcBef>
              <a:buFont typeface="Arial" panose="020B0604020202020204" pitchFamily="34" charset="0"/>
              <a:buNone/>
            </a:pPr>
            <a:endParaRPr lang="en-US" sz="1400" b="1" dirty="0"/>
          </a:p>
          <a:p>
            <a:pPr marL="0" lvl="1" indent="0">
              <a:buFont typeface="Arial" panose="020B0604020202020204" pitchFamily="34" charset="0"/>
              <a:buNone/>
            </a:pPr>
            <a:endParaRPr lang="en-US" sz="1400" dirty="0"/>
          </a:p>
        </p:txBody>
      </p:sp>
      <p:pic>
        <p:nvPicPr>
          <p:cNvPr id="2" name="Picture 1">
            <a:extLst>
              <a:ext uri="{FF2B5EF4-FFF2-40B4-BE49-F238E27FC236}">
                <a16:creationId xmlns:a16="http://schemas.microsoft.com/office/drawing/2014/main" id="{C9C49997-E77E-19EF-7392-D3DD720A21AB}"/>
              </a:ext>
            </a:extLst>
          </p:cNvPr>
          <p:cNvPicPr>
            <a:picLocks noChangeAspect="1"/>
          </p:cNvPicPr>
          <p:nvPr/>
        </p:nvPicPr>
        <p:blipFill>
          <a:blip r:embed="rId3"/>
          <a:stretch>
            <a:fillRect/>
          </a:stretch>
        </p:blipFill>
        <p:spPr>
          <a:xfrm>
            <a:off x="19294" y="3050966"/>
            <a:ext cx="6922200" cy="3633744"/>
          </a:xfrm>
          <a:prstGeom prst="rect">
            <a:avLst/>
          </a:prstGeom>
        </p:spPr>
      </p:pic>
      <p:pic>
        <p:nvPicPr>
          <p:cNvPr id="3" name="Picture 2">
            <a:extLst>
              <a:ext uri="{FF2B5EF4-FFF2-40B4-BE49-F238E27FC236}">
                <a16:creationId xmlns:a16="http://schemas.microsoft.com/office/drawing/2014/main" id="{8349A53A-920F-3C67-3C7C-611CE9A0E09D}"/>
              </a:ext>
            </a:extLst>
          </p:cNvPr>
          <p:cNvPicPr>
            <a:picLocks noChangeAspect="1"/>
          </p:cNvPicPr>
          <p:nvPr/>
        </p:nvPicPr>
        <p:blipFill>
          <a:blip r:embed="rId4"/>
          <a:stretch>
            <a:fillRect/>
          </a:stretch>
        </p:blipFill>
        <p:spPr>
          <a:xfrm>
            <a:off x="864788" y="1488329"/>
            <a:ext cx="5231212" cy="1414651"/>
          </a:xfrm>
          <a:prstGeom prst="rect">
            <a:avLst/>
          </a:prstGeom>
        </p:spPr>
      </p:pic>
      <p:sp>
        <p:nvSpPr>
          <p:cNvPr id="4" name="Title 1">
            <a:extLst>
              <a:ext uri="{FF2B5EF4-FFF2-40B4-BE49-F238E27FC236}">
                <a16:creationId xmlns:a16="http://schemas.microsoft.com/office/drawing/2014/main" id="{514AA10E-0587-12A2-E1BF-75D70EED1D90}"/>
              </a:ext>
            </a:extLst>
          </p:cNvPr>
          <p:cNvSpPr>
            <a:spLocks noGrp="1"/>
          </p:cNvSpPr>
          <p:nvPr>
            <p:ph type="title"/>
          </p:nvPr>
        </p:nvSpPr>
        <p:spPr>
          <a:xfrm>
            <a:off x="654908" y="-13505"/>
            <a:ext cx="11006780" cy="964975"/>
          </a:xfrm>
        </p:spPr>
        <p:txBody>
          <a:bodyPr/>
          <a:lstStyle/>
          <a:p>
            <a:pPr algn="ctr"/>
            <a:r>
              <a:rPr lang="en-US" dirty="0" err="1"/>
              <a:t>RN</a:t>
            </a:r>
            <a:r>
              <a:rPr lang="en-US" altLang="zh-CN" dirty="0" err="1"/>
              <a:t>Aseq</a:t>
            </a:r>
            <a:r>
              <a:rPr lang="zh-CN" altLang="en-US" dirty="0"/>
              <a:t> </a:t>
            </a:r>
            <a:r>
              <a:rPr lang="en-US" altLang="zh-CN" dirty="0"/>
              <a:t>Differential</a:t>
            </a:r>
            <a:r>
              <a:rPr lang="zh-CN" altLang="en-US" dirty="0"/>
              <a:t> </a:t>
            </a:r>
            <a:r>
              <a:rPr lang="en-US" altLang="zh-CN" dirty="0"/>
              <a:t>Gene</a:t>
            </a:r>
            <a:r>
              <a:rPr lang="zh-CN" altLang="en-US" dirty="0"/>
              <a:t> </a:t>
            </a:r>
            <a:r>
              <a:rPr lang="en-US" altLang="zh-CN" dirty="0"/>
              <a:t>Expression</a:t>
            </a:r>
            <a:r>
              <a:rPr lang="zh-CN" altLang="en-US" dirty="0"/>
              <a:t> </a:t>
            </a:r>
            <a:r>
              <a:rPr lang="en-US" altLang="zh-CN" dirty="0"/>
              <a:t>Analysis</a:t>
            </a:r>
            <a:endParaRPr dirty="0"/>
          </a:p>
        </p:txBody>
      </p:sp>
    </p:spTree>
    <p:extLst>
      <p:ext uri="{BB962C8B-B14F-4D97-AF65-F5344CB8AC3E}">
        <p14:creationId xmlns:p14="http://schemas.microsoft.com/office/powerpoint/2010/main" val="1623041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A9C1EA7-4751-A8A9-9E8D-43EDD3774EB4}"/>
              </a:ext>
            </a:extLst>
          </p:cNvPr>
          <p:cNvSpPr>
            <a:spLocks noGrp="1"/>
          </p:cNvSpPr>
          <p:nvPr>
            <p:ph type="sldNum" sz="quarter" idx="16"/>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pic>
        <p:nvPicPr>
          <p:cNvPr id="1026" name="Picture 2">
            <a:extLst>
              <a:ext uri="{FF2B5EF4-FFF2-40B4-BE49-F238E27FC236}">
                <a16:creationId xmlns:a16="http://schemas.microsoft.com/office/drawing/2014/main" id="{564F0E27-97B4-22CA-124C-761FF2679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403" y="1293975"/>
            <a:ext cx="5421257" cy="542125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58BD42D-015F-8F42-9A0A-BF9770B944AC}"/>
              </a:ext>
            </a:extLst>
          </p:cNvPr>
          <p:cNvSpPr txBox="1"/>
          <p:nvPr/>
        </p:nvSpPr>
        <p:spPr>
          <a:xfrm>
            <a:off x="1140031" y="207982"/>
            <a:ext cx="8514608" cy="707886"/>
          </a:xfrm>
          <a:prstGeom prst="rect">
            <a:avLst/>
          </a:prstGeom>
          <a:noFill/>
        </p:spPr>
        <p:txBody>
          <a:bodyPr wrap="square">
            <a:spAutoFit/>
          </a:bodyPr>
          <a:lstStyle/>
          <a:p>
            <a:pPr algn="ctr" rtl="0">
              <a:buNone/>
            </a:pPr>
            <a:r>
              <a:rPr lang="en-US" sz="4000" b="1" i="0" u="none" strike="noStrike" dirty="0">
                <a:solidFill>
                  <a:srgbClr val="000000"/>
                </a:solidFill>
                <a:effectLst/>
                <a:latin typeface="Calibri" panose="020F0502020204030204" pitchFamily="34" charset="0"/>
              </a:rPr>
              <a:t>Interaction: Cell Specific Effect</a:t>
            </a:r>
            <a:endParaRPr lang="en-US" sz="4000" b="1" i="0" u="none" strike="noStrike" dirty="0">
              <a:solidFill>
                <a:srgbClr val="000000"/>
              </a:solidFill>
              <a:effectLst/>
            </a:endParaRPr>
          </a:p>
        </p:txBody>
      </p:sp>
      <p:sp>
        <p:nvSpPr>
          <p:cNvPr id="20" name="TextBox 19">
            <a:extLst>
              <a:ext uri="{FF2B5EF4-FFF2-40B4-BE49-F238E27FC236}">
                <a16:creationId xmlns:a16="http://schemas.microsoft.com/office/drawing/2014/main" id="{CBB95B73-CDA6-63C1-5876-FA6368BABD5F}"/>
              </a:ext>
            </a:extLst>
          </p:cNvPr>
          <p:cNvSpPr txBox="1"/>
          <p:nvPr/>
        </p:nvSpPr>
        <p:spPr>
          <a:xfrm>
            <a:off x="5997038" y="1545679"/>
            <a:ext cx="6044541" cy="3970318"/>
          </a:xfrm>
          <a:prstGeom prst="rect">
            <a:avLst/>
          </a:prstGeom>
          <a:noFill/>
        </p:spPr>
        <p:txBody>
          <a:bodyPr wrap="square">
            <a:spAutoFit/>
          </a:bodyPr>
          <a:lstStyle/>
          <a:p>
            <a:pPr algn="l" rtl="0">
              <a:buNone/>
            </a:pPr>
            <a:r>
              <a:rPr lang="en-US" sz="2800" b="0" i="0" u="none" strike="noStrike" dirty="0">
                <a:solidFill>
                  <a:srgbClr val="000000"/>
                </a:solidFill>
                <a:effectLst/>
                <a:latin typeface="Calibri" panose="020F0502020204030204" pitchFamily="34" charset="0"/>
              </a:rPr>
              <a:t>Model:</a:t>
            </a:r>
            <a:endParaRPr lang="en-US" sz="2800" b="0" i="0" u="none" strike="noStrike" dirty="0">
              <a:solidFill>
                <a:srgbClr val="000000"/>
              </a:solidFill>
              <a:effectLst/>
            </a:endParaRPr>
          </a:p>
          <a:p>
            <a:pPr algn="l">
              <a:buNone/>
            </a:pPr>
            <a:endParaRPr lang="en-US" sz="2800" b="0" i="0" u="none" strike="noStrike" dirty="0">
              <a:solidFill>
                <a:srgbClr val="000000"/>
              </a:solidFill>
              <a:effectLst/>
            </a:endParaRPr>
          </a:p>
          <a:p>
            <a:pPr algn="l" rtl="0">
              <a:buNone/>
            </a:pPr>
            <a:r>
              <a:rPr lang="en-US" sz="2800" b="0" i="0" u="none" strike="noStrike" dirty="0">
                <a:solidFill>
                  <a:srgbClr val="000000"/>
                </a:solidFill>
                <a:effectLst/>
                <a:latin typeface="Calibri" panose="020F0502020204030204" pitchFamily="34" charset="0"/>
              </a:rPr>
              <a:t>Expression ~ Cell Type + PA5PEG6JQ1 + TIME + </a:t>
            </a:r>
            <a:r>
              <a:rPr lang="en-US" sz="2800" b="0" i="0" u="none" strike="noStrike" dirty="0">
                <a:solidFill>
                  <a:srgbClr val="FF0000"/>
                </a:solidFill>
                <a:effectLst/>
                <a:latin typeface="Calibri" panose="020F0502020204030204" pitchFamily="34" charset="0"/>
              </a:rPr>
              <a:t>Cell Type:PA5PEG6JQ1</a:t>
            </a:r>
            <a:endParaRPr lang="en-US" sz="2800" b="0" i="0" u="none" strike="noStrike" dirty="0">
              <a:solidFill>
                <a:srgbClr val="000000"/>
              </a:solidFill>
              <a:effectLst/>
            </a:endParaRPr>
          </a:p>
          <a:p>
            <a:pPr algn="l">
              <a:buNone/>
            </a:pPr>
            <a:endParaRPr lang="en-US" sz="2800" b="0" i="0" u="none" strike="noStrike" dirty="0">
              <a:solidFill>
                <a:srgbClr val="000000"/>
              </a:solidFill>
              <a:effectLst/>
            </a:endParaRPr>
          </a:p>
          <a:p>
            <a:pPr algn="l" rtl="0">
              <a:buNone/>
            </a:pPr>
            <a:r>
              <a:rPr lang="en-US" sz="2800" b="0" i="0" u="none" strike="noStrike" dirty="0">
                <a:solidFill>
                  <a:srgbClr val="000000"/>
                </a:solidFill>
                <a:effectLst/>
                <a:latin typeface="Calibri" panose="020F0502020204030204" pitchFamily="34" charset="0"/>
              </a:rPr>
              <a:t>Results:</a:t>
            </a:r>
            <a:endParaRPr lang="en-US" sz="2800" b="0" i="0" u="none" strike="noStrike" dirty="0">
              <a:solidFill>
                <a:srgbClr val="000000"/>
              </a:solidFill>
              <a:effectLst/>
            </a:endParaRPr>
          </a:p>
          <a:p>
            <a:pPr algn="l" rtl="0" fontAlgn="base"/>
            <a:endParaRPr lang="en-US" sz="2800" b="0" i="0" u="none" strike="noStrike"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800" b="0" i="0" u="none" strike="noStrike" dirty="0">
                <a:solidFill>
                  <a:srgbClr val="000000"/>
                </a:solidFill>
                <a:effectLst/>
                <a:latin typeface="Calibri" panose="020F0502020204030204" pitchFamily="34" charset="0"/>
              </a:rPr>
              <a:t>FXN is the most significantly increased gene by the treatment of PA5PEG6JQ1</a:t>
            </a:r>
            <a:endParaRPr lang="en-US" sz="28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617064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25BA6-E539-3145-9A5A-E6AF6CAEC106}"/>
              </a:ext>
            </a:extLst>
          </p:cNvPr>
          <p:cNvSpPr>
            <a:spLocks noGrp="1"/>
          </p:cNvSpPr>
          <p:nvPr>
            <p:ph type="title"/>
          </p:nvPr>
        </p:nvSpPr>
        <p:spPr/>
        <p:txBody>
          <a:bodyPr anchor="b">
            <a:normAutofit/>
          </a:bodyPr>
          <a:lstStyle/>
          <a:p>
            <a:r>
              <a:rPr lang="en-US"/>
              <a:t>Machine Learning Applications</a:t>
            </a:r>
          </a:p>
        </p:txBody>
      </p:sp>
      <p:sp>
        <p:nvSpPr>
          <p:cNvPr id="4" name="Footer Placeholder 3">
            <a:extLst>
              <a:ext uri="{FF2B5EF4-FFF2-40B4-BE49-F238E27FC236}">
                <a16:creationId xmlns:a16="http://schemas.microsoft.com/office/drawing/2014/main" id="{66FEEEE3-96AA-E9F5-5B8F-25307B7C9405}"/>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7E48912C-23FF-C11F-FBD0-5F3232085672}"/>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4B656106-F03B-27D8-1BC1-D4F3747CB3F4}"/>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spTree>
    <p:extLst>
      <p:ext uri="{BB962C8B-B14F-4D97-AF65-F5344CB8AC3E}">
        <p14:creationId xmlns:p14="http://schemas.microsoft.com/office/powerpoint/2010/main" val="2344213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5BFC369-F7DF-E7F6-3D06-C62EEDA30FC1}"/>
              </a:ext>
            </a:extLst>
          </p:cNvPr>
          <p:cNvSpPr>
            <a:spLocks noGrp="1"/>
          </p:cNvSpPr>
          <p:nvPr>
            <p:ph type="sldNum" sz="quarter" idx="12"/>
          </p:nvPr>
        </p:nvSpPr>
        <p:spPr/>
        <p:txBody>
          <a:bodyPr anchor="ctr">
            <a:normAutofit/>
          </a:bodyPr>
          <a:lstStyle/>
          <a:p>
            <a:pPr>
              <a:spcAft>
                <a:spcPts val="600"/>
              </a:spcAft>
            </a:pPr>
            <a:fld id="{753D0FD4-819D-4187-8797-C35567B41C78}" type="slidenum">
              <a:rPr lang="en-US" smtClean="0"/>
              <a:pPr>
                <a:spcAft>
                  <a:spcPts val="600"/>
                </a:spcAft>
              </a:pPr>
              <a:t>13</a:t>
            </a:fld>
            <a:endParaRPr lang="en-US"/>
          </a:p>
        </p:txBody>
      </p:sp>
      <p:sp>
        <p:nvSpPr>
          <p:cNvPr id="7" name="Content Placeholder 6">
            <a:extLst>
              <a:ext uri="{FF2B5EF4-FFF2-40B4-BE49-F238E27FC236}">
                <a16:creationId xmlns:a16="http://schemas.microsoft.com/office/drawing/2014/main" id="{D25EF977-A596-1459-4263-0BDE420B56F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rot="10800000" flipV="1">
            <a:off x="5842659" y="1503812"/>
            <a:ext cx="6063790" cy="4410100"/>
          </a:xfrm>
        </p:spPr>
        <p:txBody>
          <a:bodyPr>
            <a:noAutofit/>
          </a:bodyPr>
          <a:lstStyle/>
          <a:p>
            <a:pPr marL="0" indent="0">
              <a:buNone/>
            </a:pPr>
            <a:r>
              <a:rPr lang="en-US" altLang="zh-CN" sz="2400" b="1" dirty="0"/>
              <a:t>Random</a:t>
            </a:r>
            <a:r>
              <a:rPr lang="zh-CN" altLang="en-US" sz="2400" b="1" dirty="0"/>
              <a:t> </a:t>
            </a:r>
            <a:r>
              <a:rPr lang="en-US" altLang="zh-CN" sz="2400" b="1" dirty="0"/>
              <a:t>Forests</a:t>
            </a:r>
          </a:p>
          <a:p>
            <a:r>
              <a:rPr lang="en-US" sz="2400" dirty="0"/>
              <a:t>A </a:t>
            </a:r>
            <a:r>
              <a:rPr lang="en-US" sz="2400" b="1" dirty="0"/>
              <a:t>decision tree</a:t>
            </a:r>
            <a:r>
              <a:rPr lang="en-US" sz="2400" dirty="0"/>
              <a:t> predicts outcomes by splitting data based on feature values</a:t>
            </a:r>
          </a:p>
          <a:p>
            <a:r>
              <a:rPr lang="en-US" sz="2400" dirty="0"/>
              <a:t>Ensemble of many decision trees (“</a:t>
            </a:r>
            <a:r>
              <a:rPr lang="en-US" sz="2400" b="1" dirty="0"/>
              <a:t>forest</a:t>
            </a:r>
            <a:r>
              <a:rPr lang="en-US" sz="2400" dirty="0"/>
              <a:t>”)</a:t>
            </a:r>
          </a:p>
          <a:p>
            <a:r>
              <a:rPr lang="en-US" sz="2400" dirty="0"/>
              <a:t>Each tree uses random samples + random features → “</a:t>
            </a:r>
            <a:r>
              <a:rPr lang="en-US" sz="2400" b="1" dirty="0"/>
              <a:t>random</a:t>
            </a:r>
            <a:r>
              <a:rPr lang="en-US" sz="2400" dirty="0"/>
              <a:t>”</a:t>
            </a:r>
          </a:p>
          <a:p>
            <a:r>
              <a:rPr lang="en-US" sz="2400" dirty="0"/>
              <a:t>Reduces overfitting</a:t>
            </a:r>
          </a:p>
          <a:p>
            <a:r>
              <a:rPr lang="en-US" sz="2400" dirty="0"/>
              <a:t>Handles nonlinear, high-dimensional data</a:t>
            </a:r>
          </a:p>
          <a:p>
            <a:r>
              <a:rPr lang="en-US" sz="2400" dirty="0"/>
              <a:t>Provides feature importance</a:t>
            </a:r>
          </a:p>
        </p:txBody>
      </p:sp>
      <p:sp>
        <p:nvSpPr>
          <p:cNvPr id="11" name="Title 1">
            <a:extLst>
              <a:ext uri="{FF2B5EF4-FFF2-40B4-BE49-F238E27FC236}">
                <a16:creationId xmlns:a16="http://schemas.microsoft.com/office/drawing/2014/main" id="{DE6438B6-C04F-A0DE-6BF2-A96D69075D67}"/>
              </a:ext>
            </a:extLst>
          </p:cNvPr>
          <p:cNvSpPr txBox="1">
            <a:spLocks/>
          </p:cNvSpPr>
          <p:nvPr/>
        </p:nvSpPr>
        <p:spPr>
          <a:xfrm>
            <a:off x="419118" y="-27756"/>
            <a:ext cx="11006780" cy="9649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lang="en-US" sz="4400" kern="1200" dirty="0">
                <a:solidFill>
                  <a:schemeClr val="tx1"/>
                </a:solidFill>
                <a:latin typeface="+mj-lt"/>
                <a:ea typeface="+mj-ea"/>
                <a:cs typeface="+mj-cs"/>
              </a:defRPr>
            </a:lvl1pPr>
          </a:lstStyle>
          <a:p>
            <a:pPr algn="ctr"/>
            <a:r>
              <a:rPr lang="en-US" altLang="zh-CN" dirty="0"/>
              <a:t>Machine</a:t>
            </a:r>
            <a:r>
              <a:rPr lang="zh-CN" altLang="en-US" dirty="0"/>
              <a:t> </a:t>
            </a:r>
            <a:r>
              <a:rPr lang="en-US" altLang="zh-CN" dirty="0"/>
              <a:t>Learning</a:t>
            </a:r>
            <a:r>
              <a:rPr lang="zh-CN" altLang="en-US" dirty="0"/>
              <a:t> </a:t>
            </a:r>
            <a:r>
              <a:rPr lang="en-US" altLang="zh-CN" dirty="0"/>
              <a:t>With</a:t>
            </a:r>
            <a:r>
              <a:rPr lang="zh-CN" altLang="en-US" dirty="0"/>
              <a:t> </a:t>
            </a:r>
            <a:r>
              <a:rPr lang="en-US" altLang="zh-CN" dirty="0"/>
              <a:t>Random</a:t>
            </a:r>
            <a:r>
              <a:rPr lang="zh-CN" altLang="en-US" dirty="0"/>
              <a:t> </a:t>
            </a:r>
            <a:r>
              <a:rPr lang="en-US" altLang="zh-CN" dirty="0"/>
              <a:t>Forests</a:t>
            </a:r>
            <a:endParaRPr lang="en-US" dirty="0"/>
          </a:p>
        </p:txBody>
      </p:sp>
      <p:pic>
        <p:nvPicPr>
          <p:cNvPr id="1026" name="Picture 2">
            <a:extLst>
              <a:ext uri="{FF2B5EF4-FFF2-40B4-BE49-F238E27FC236}">
                <a16:creationId xmlns:a16="http://schemas.microsoft.com/office/drawing/2014/main" id="{1305B806-2BBA-9FD3-3B3F-208DAB9077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044" y="3369626"/>
            <a:ext cx="4727020" cy="354526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ample of a decision tree">
            <a:extLst>
              <a:ext uri="{FF2B5EF4-FFF2-40B4-BE49-F238E27FC236}">
                <a16:creationId xmlns:a16="http://schemas.microsoft.com/office/drawing/2014/main" id="{811E7685-333F-289B-0C0F-B96ED8AB44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880" y="718579"/>
            <a:ext cx="4727020" cy="2804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9751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443DA-DF57-927D-0535-82E3081A181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32D6929-DBB2-F7E7-3E95-EF68ED2A2C31}"/>
              </a:ext>
            </a:extLst>
          </p:cNvPr>
          <p:cNvSpPr>
            <a:spLocks noGrp="1"/>
          </p:cNvSpPr>
          <p:nvPr>
            <p:ph type="sldNum" sz="quarter" idx="12"/>
          </p:nvPr>
        </p:nvSpPr>
        <p:spPr/>
        <p:txBody>
          <a:bodyPr anchor="ctr">
            <a:normAutofit/>
          </a:bodyPr>
          <a:lstStyle/>
          <a:p>
            <a:pPr>
              <a:spcAft>
                <a:spcPts val="600"/>
              </a:spcAft>
            </a:pPr>
            <a:fld id="{753D0FD4-819D-4187-8797-C35567B41C78}" type="slidenum">
              <a:rPr lang="en-US" smtClean="0"/>
              <a:pPr>
                <a:spcAft>
                  <a:spcPts val="600"/>
                </a:spcAft>
              </a:pPr>
              <a:t>14</a:t>
            </a:fld>
            <a:endParaRPr lang="en-US"/>
          </a:p>
        </p:txBody>
      </p:sp>
      <p:pic>
        <p:nvPicPr>
          <p:cNvPr id="10" name="Picture 9">
            <a:extLst>
              <a:ext uri="{FF2B5EF4-FFF2-40B4-BE49-F238E27FC236}">
                <a16:creationId xmlns:a16="http://schemas.microsoft.com/office/drawing/2014/main" id="{E9848067-98F6-E69C-D87B-79ABFFAF8354}"/>
              </a:ext>
            </a:extLst>
          </p:cNvPr>
          <p:cNvPicPr>
            <a:picLocks noChangeAspect="1"/>
          </p:cNvPicPr>
          <p:nvPr/>
        </p:nvPicPr>
        <p:blipFill>
          <a:blip r:embed="rId3"/>
          <a:stretch>
            <a:fillRect/>
          </a:stretch>
        </p:blipFill>
        <p:spPr>
          <a:xfrm>
            <a:off x="200395" y="1417103"/>
            <a:ext cx="6096000" cy="1568439"/>
          </a:xfrm>
          <a:prstGeom prst="rect">
            <a:avLst/>
          </a:prstGeom>
        </p:spPr>
      </p:pic>
      <p:sp>
        <p:nvSpPr>
          <p:cNvPr id="11" name="Title 1">
            <a:extLst>
              <a:ext uri="{FF2B5EF4-FFF2-40B4-BE49-F238E27FC236}">
                <a16:creationId xmlns:a16="http://schemas.microsoft.com/office/drawing/2014/main" id="{50424084-68D1-D678-890A-F75F628053FF}"/>
              </a:ext>
            </a:extLst>
          </p:cNvPr>
          <p:cNvSpPr txBox="1">
            <a:spLocks/>
          </p:cNvSpPr>
          <p:nvPr/>
        </p:nvSpPr>
        <p:spPr>
          <a:xfrm>
            <a:off x="419118" y="197875"/>
            <a:ext cx="11006780" cy="96497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lang="en-US" sz="4400" kern="1200" dirty="0">
                <a:solidFill>
                  <a:schemeClr val="tx1"/>
                </a:solidFill>
                <a:latin typeface="+mj-lt"/>
                <a:ea typeface="+mj-ea"/>
                <a:cs typeface="+mj-cs"/>
              </a:defRPr>
            </a:lvl1pPr>
          </a:lstStyle>
          <a:p>
            <a:pPr algn="ctr"/>
            <a:r>
              <a:rPr lang="en-US" altLang="zh-CN" dirty="0"/>
              <a:t>Machine</a:t>
            </a:r>
            <a:r>
              <a:rPr lang="zh-CN" altLang="en-US" dirty="0"/>
              <a:t> </a:t>
            </a:r>
            <a:r>
              <a:rPr lang="en-US" altLang="zh-CN" dirty="0"/>
              <a:t>Learning</a:t>
            </a:r>
            <a:r>
              <a:rPr lang="zh-CN" altLang="en-US" dirty="0"/>
              <a:t> </a:t>
            </a:r>
            <a:r>
              <a:rPr lang="en-US" altLang="zh-CN" dirty="0"/>
              <a:t>With</a:t>
            </a:r>
            <a:r>
              <a:rPr lang="zh-CN" altLang="en-US" dirty="0"/>
              <a:t> </a:t>
            </a:r>
            <a:r>
              <a:rPr lang="en-US" altLang="zh-CN" dirty="0"/>
              <a:t>Random</a:t>
            </a:r>
            <a:r>
              <a:rPr lang="zh-CN" altLang="en-US" dirty="0"/>
              <a:t> </a:t>
            </a:r>
            <a:r>
              <a:rPr lang="en-US" altLang="zh-CN" dirty="0"/>
              <a:t>Forests</a:t>
            </a:r>
            <a:endParaRPr lang="en-US" dirty="0"/>
          </a:p>
        </p:txBody>
      </p:sp>
      <p:pic>
        <p:nvPicPr>
          <p:cNvPr id="12" name="Picture 11">
            <a:extLst>
              <a:ext uri="{FF2B5EF4-FFF2-40B4-BE49-F238E27FC236}">
                <a16:creationId xmlns:a16="http://schemas.microsoft.com/office/drawing/2014/main" id="{17A25943-2756-7FE8-19FC-596881386620}"/>
              </a:ext>
            </a:extLst>
          </p:cNvPr>
          <p:cNvPicPr>
            <a:picLocks noChangeAspect="1"/>
          </p:cNvPicPr>
          <p:nvPr/>
        </p:nvPicPr>
        <p:blipFill>
          <a:blip r:embed="rId4"/>
          <a:stretch>
            <a:fillRect/>
          </a:stretch>
        </p:blipFill>
        <p:spPr>
          <a:xfrm>
            <a:off x="126501" y="3805883"/>
            <a:ext cx="3518545" cy="2817340"/>
          </a:xfrm>
          <a:prstGeom prst="rect">
            <a:avLst/>
          </a:prstGeom>
        </p:spPr>
      </p:pic>
      <p:sp>
        <p:nvSpPr>
          <p:cNvPr id="13" name="TextBox 12">
            <a:extLst>
              <a:ext uri="{FF2B5EF4-FFF2-40B4-BE49-F238E27FC236}">
                <a16:creationId xmlns:a16="http://schemas.microsoft.com/office/drawing/2014/main" id="{9F4814A3-65A2-03A9-E3D8-7E9200146E22}"/>
              </a:ext>
            </a:extLst>
          </p:cNvPr>
          <p:cNvSpPr txBox="1"/>
          <p:nvPr/>
        </p:nvSpPr>
        <p:spPr>
          <a:xfrm>
            <a:off x="5029379" y="3135079"/>
            <a:ext cx="1198213" cy="1200329"/>
          </a:xfrm>
          <a:prstGeom prst="rect">
            <a:avLst/>
          </a:prstGeom>
          <a:noFill/>
        </p:spPr>
        <p:txBody>
          <a:bodyPr wrap="none" rtlCol="0">
            <a:spAutoFit/>
          </a:bodyPr>
          <a:lstStyle/>
          <a:p>
            <a:r>
              <a:rPr lang="en-US" altLang="zh-CN" dirty="0"/>
              <a:t>Age</a:t>
            </a:r>
          </a:p>
          <a:p>
            <a:r>
              <a:rPr lang="en-US" altLang="zh-CN" dirty="0"/>
              <a:t>Gender</a:t>
            </a:r>
          </a:p>
          <a:p>
            <a:r>
              <a:rPr lang="en-US" altLang="zh-CN" dirty="0"/>
              <a:t>FEV1%</a:t>
            </a:r>
          </a:p>
          <a:p>
            <a:r>
              <a:rPr lang="en-US" altLang="zh-CN" dirty="0"/>
              <a:t>Treatment</a:t>
            </a:r>
            <a:endParaRPr lang="en-US" dirty="0"/>
          </a:p>
        </p:txBody>
      </p:sp>
      <p:cxnSp>
        <p:nvCxnSpPr>
          <p:cNvPr id="17" name="Straight Arrow Connector 16">
            <a:extLst>
              <a:ext uri="{FF2B5EF4-FFF2-40B4-BE49-F238E27FC236}">
                <a16:creationId xmlns:a16="http://schemas.microsoft.com/office/drawing/2014/main" id="{941BFF6D-7FB2-7AD4-E3D7-4665082B13F3}"/>
              </a:ext>
            </a:extLst>
          </p:cNvPr>
          <p:cNvCxnSpPr>
            <a:cxnSpLocks/>
          </p:cNvCxnSpPr>
          <p:nvPr/>
        </p:nvCxnSpPr>
        <p:spPr>
          <a:xfrm>
            <a:off x="3078557" y="4150742"/>
            <a:ext cx="946255" cy="5942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5CEA8BF6-5B19-026E-A05F-6D5FC1E3842B}"/>
              </a:ext>
            </a:extLst>
          </p:cNvPr>
          <p:cNvSpPr txBox="1"/>
          <p:nvPr/>
        </p:nvSpPr>
        <p:spPr>
          <a:xfrm>
            <a:off x="1979558" y="3966076"/>
            <a:ext cx="1340677" cy="369332"/>
          </a:xfrm>
          <a:prstGeom prst="rect">
            <a:avLst/>
          </a:prstGeom>
          <a:noFill/>
        </p:spPr>
        <p:txBody>
          <a:bodyPr wrap="square" rtlCol="0">
            <a:spAutoFit/>
          </a:bodyPr>
          <a:lstStyle/>
          <a:p>
            <a:r>
              <a:rPr lang="en-US" dirty="0"/>
              <a:t>To</a:t>
            </a:r>
            <a:r>
              <a:rPr lang="en-US" altLang="zh-CN" dirty="0"/>
              <a:t>p</a:t>
            </a:r>
            <a:r>
              <a:rPr lang="zh-CN" altLang="en-US" dirty="0"/>
              <a:t> </a:t>
            </a:r>
            <a:r>
              <a:rPr lang="en-US" altLang="zh-CN" dirty="0"/>
              <a:t>SNPs</a:t>
            </a:r>
            <a:endParaRPr lang="en-US" dirty="0"/>
          </a:p>
        </p:txBody>
      </p:sp>
      <p:cxnSp>
        <p:nvCxnSpPr>
          <p:cNvPr id="20" name="Straight Arrow Connector 19">
            <a:extLst>
              <a:ext uri="{FF2B5EF4-FFF2-40B4-BE49-F238E27FC236}">
                <a16:creationId xmlns:a16="http://schemas.microsoft.com/office/drawing/2014/main" id="{AFF51CEC-BEA6-8E27-17E4-B733B2013972}"/>
              </a:ext>
            </a:extLst>
          </p:cNvPr>
          <p:cNvCxnSpPr>
            <a:cxnSpLocks/>
          </p:cNvCxnSpPr>
          <p:nvPr/>
        </p:nvCxnSpPr>
        <p:spPr>
          <a:xfrm flipH="1">
            <a:off x="4226011" y="4150742"/>
            <a:ext cx="715833" cy="5942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745B772F-23FB-A8DD-DF35-C88ECA30EE50}"/>
              </a:ext>
            </a:extLst>
          </p:cNvPr>
          <p:cNvSpPr txBox="1"/>
          <p:nvPr/>
        </p:nvSpPr>
        <p:spPr>
          <a:xfrm>
            <a:off x="3491625" y="4780491"/>
            <a:ext cx="1908278" cy="369332"/>
          </a:xfrm>
          <a:prstGeom prst="rect">
            <a:avLst/>
          </a:prstGeom>
          <a:noFill/>
        </p:spPr>
        <p:txBody>
          <a:bodyPr wrap="square" rtlCol="0">
            <a:spAutoFit/>
          </a:bodyPr>
          <a:lstStyle/>
          <a:p>
            <a:r>
              <a:rPr lang="en-US" altLang="zh-CN" dirty="0"/>
              <a:t>Random</a:t>
            </a:r>
            <a:r>
              <a:rPr lang="zh-CN" altLang="en-US" dirty="0"/>
              <a:t> </a:t>
            </a:r>
            <a:r>
              <a:rPr lang="en-US" altLang="zh-CN" dirty="0"/>
              <a:t>Forests</a:t>
            </a:r>
            <a:endParaRPr lang="en-US" dirty="0"/>
          </a:p>
        </p:txBody>
      </p:sp>
      <p:cxnSp>
        <p:nvCxnSpPr>
          <p:cNvPr id="25" name="Straight Arrow Connector 24">
            <a:extLst>
              <a:ext uri="{FF2B5EF4-FFF2-40B4-BE49-F238E27FC236}">
                <a16:creationId xmlns:a16="http://schemas.microsoft.com/office/drawing/2014/main" id="{AB664A6F-FCAE-9828-5458-26A648CB76F8}"/>
              </a:ext>
            </a:extLst>
          </p:cNvPr>
          <p:cNvCxnSpPr>
            <a:cxnSpLocks/>
          </p:cNvCxnSpPr>
          <p:nvPr/>
        </p:nvCxnSpPr>
        <p:spPr>
          <a:xfrm>
            <a:off x="4175087" y="5202196"/>
            <a:ext cx="0" cy="5066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6C102A07-EE76-A054-1268-9AA0283FC8AF}"/>
              </a:ext>
            </a:extLst>
          </p:cNvPr>
          <p:cNvSpPr txBox="1"/>
          <p:nvPr/>
        </p:nvSpPr>
        <p:spPr>
          <a:xfrm>
            <a:off x="4175087" y="5270843"/>
            <a:ext cx="2571647" cy="369332"/>
          </a:xfrm>
          <a:prstGeom prst="rect">
            <a:avLst/>
          </a:prstGeom>
          <a:noFill/>
        </p:spPr>
        <p:txBody>
          <a:bodyPr wrap="square" rtlCol="0">
            <a:spAutoFit/>
          </a:bodyPr>
          <a:lstStyle/>
          <a:p>
            <a:r>
              <a:rPr lang="en-US" altLang="zh-CN" dirty="0"/>
              <a:t>Asthma</a:t>
            </a:r>
            <a:r>
              <a:rPr lang="zh-CN" altLang="en-US" dirty="0"/>
              <a:t> </a:t>
            </a:r>
            <a:r>
              <a:rPr lang="en-US" altLang="zh-CN" dirty="0"/>
              <a:t>Exacerbation?</a:t>
            </a:r>
            <a:endParaRPr lang="en-US" dirty="0"/>
          </a:p>
        </p:txBody>
      </p:sp>
      <p:sp>
        <p:nvSpPr>
          <p:cNvPr id="28" name="TextBox 27">
            <a:extLst>
              <a:ext uri="{FF2B5EF4-FFF2-40B4-BE49-F238E27FC236}">
                <a16:creationId xmlns:a16="http://schemas.microsoft.com/office/drawing/2014/main" id="{77A25DAE-0D2D-2022-F11D-EED3E38C6C80}"/>
              </a:ext>
            </a:extLst>
          </p:cNvPr>
          <p:cNvSpPr txBox="1"/>
          <p:nvPr/>
        </p:nvSpPr>
        <p:spPr>
          <a:xfrm>
            <a:off x="3749399" y="5736482"/>
            <a:ext cx="1192432" cy="369332"/>
          </a:xfrm>
          <a:prstGeom prst="rect">
            <a:avLst/>
          </a:prstGeom>
          <a:noFill/>
        </p:spPr>
        <p:txBody>
          <a:bodyPr wrap="square" rtlCol="0">
            <a:spAutoFit/>
          </a:bodyPr>
          <a:lstStyle/>
          <a:p>
            <a:r>
              <a:rPr lang="en-US" altLang="zh-CN" dirty="0"/>
              <a:t>Yes/No</a:t>
            </a:r>
            <a:endParaRPr lang="en-US" dirty="0"/>
          </a:p>
        </p:txBody>
      </p:sp>
      <p:pic>
        <p:nvPicPr>
          <p:cNvPr id="9" name="Picture 8">
            <a:extLst>
              <a:ext uri="{FF2B5EF4-FFF2-40B4-BE49-F238E27FC236}">
                <a16:creationId xmlns:a16="http://schemas.microsoft.com/office/drawing/2014/main" id="{7432B89F-8752-E84B-70AD-B2962742D5AE}"/>
              </a:ext>
            </a:extLst>
          </p:cNvPr>
          <p:cNvPicPr>
            <a:picLocks noChangeAspect="1"/>
          </p:cNvPicPr>
          <p:nvPr/>
        </p:nvPicPr>
        <p:blipFill>
          <a:blip r:embed="rId5"/>
          <a:stretch>
            <a:fillRect/>
          </a:stretch>
        </p:blipFill>
        <p:spPr>
          <a:xfrm>
            <a:off x="6616700" y="1691467"/>
            <a:ext cx="5575300" cy="495300"/>
          </a:xfrm>
          <a:prstGeom prst="rect">
            <a:avLst/>
          </a:prstGeom>
        </p:spPr>
      </p:pic>
      <p:sp>
        <p:nvSpPr>
          <p:cNvPr id="15" name="TextBox 14">
            <a:extLst>
              <a:ext uri="{FF2B5EF4-FFF2-40B4-BE49-F238E27FC236}">
                <a16:creationId xmlns:a16="http://schemas.microsoft.com/office/drawing/2014/main" id="{F3744C48-912E-D0C2-4A16-A161EEF00C4B}"/>
              </a:ext>
            </a:extLst>
          </p:cNvPr>
          <p:cNvSpPr txBox="1"/>
          <p:nvPr/>
        </p:nvSpPr>
        <p:spPr>
          <a:xfrm>
            <a:off x="6697306" y="1352784"/>
            <a:ext cx="3958135" cy="400110"/>
          </a:xfrm>
          <a:prstGeom prst="rect">
            <a:avLst/>
          </a:prstGeom>
          <a:noFill/>
        </p:spPr>
        <p:txBody>
          <a:bodyPr wrap="none" rtlCol="0">
            <a:spAutoFit/>
          </a:bodyPr>
          <a:lstStyle/>
          <a:p>
            <a:r>
              <a:rPr lang="en-US" altLang="zh-CN" sz="2000" dirty="0">
                <a:highlight>
                  <a:srgbClr val="FFFF00"/>
                </a:highlight>
              </a:rPr>
              <a:t>4</a:t>
            </a:r>
            <a:r>
              <a:rPr lang="zh-CN" altLang="en-US" sz="2000" dirty="0">
                <a:highlight>
                  <a:srgbClr val="FFFF00"/>
                </a:highlight>
              </a:rPr>
              <a:t> </a:t>
            </a:r>
            <a:r>
              <a:rPr lang="en-US" altLang="zh-CN" sz="2000" dirty="0">
                <a:highlight>
                  <a:srgbClr val="FFFF00"/>
                </a:highlight>
              </a:rPr>
              <a:t>months</a:t>
            </a:r>
            <a:r>
              <a:rPr lang="zh-CN" altLang="en-US" sz="2000" dirty="0">
                <a:highlight>
                  <a:srgbClr val="FFFF00"/>
                </a:highlight>
              </a:rPr>
              <a:t> </a:t>
            </a:r>
            <a:r>
              <a:rPr lang="en-US" altLang="zh-CN" sz="2000" dirty="0">
                <a:highlight>
                  <a:srgbClr val="FFFF00"/>
                </a:highlight>
              </a:rPr>
              <a:t>after</a:t>
            </a:r>
            <a:r>
              <a:rPr lang="zh-CN" altLang="en-US" sz="2000" dirty="0">
                <a:highlight>
                  <a:srgbClr val="FFFF00"/>
                </a:highlight>
              </a:rPr>
              <a:t> </a:t>
            </a:r>
            <a:r>
              <a:rPr lang="en-US" altLang="zh-CN" sz="2000" dirty="0">
                <a:highlight>
                  <a:srgbClr val="FFFF00"/>
                </a:highlight>
              </a:rPr>
              <a:t>publication,</a:t>
            </a:r>
            <a:r>
              <a:rPr lang="zh-CN" altLang="en-US" sz="2000" dirty="0">
                <a:highlight>
                  <a:srgbClr val="FFFF00"/>
                </a:highlight>
              </a:rPr>
              <a:t> </a:t>
            </a:r>
            <a:r>
              <a:rPr lang="en-US" altLang="zh-CN" sz="2000" dirty="0">
                <a:highlight>
                  <a:srgbClr val="FFFF00"/>
                </a:highlight>
              </a:rPr>
              <a:t>Editor:</a:t>
            </a:r>
            <a:endParaRPr lang="en-US" sz="2000" dirty="0">
              <a:highlight>
                <a:srgbClr val="FFFF00"/>
              </a:highlight>
            </a:endParaRPr>
          </a:p>
        </p:txBody>
      </p:sp>
      <p:pic>
        <p:nvPicPr>
          <p:cNvPr id="16" name="Picture 15">
            <a:extLst>
              <a:ext uri="{FF2B5EF4-FFF2-40B4-BE49-F238E27FC236}">
                <a16:creationId xmlns:a16="http://schemas.microsoft.com/office/drawing/2014/main" id="{C069B255-8152-42E3-AA77-AE7201A3C696}"/>
              </a:ext>
            </a:extLst>
          </p:cNvPr>
          <p:cNvPicPr>
            <a:picLocks noChangeAspect="1"/>
          </p:cNvPicPr>
          <p:nvPr/>
        </p:nvPicPr>
        <p:blipFill>
          <a:blip r:embed="rId6"/>
          <a:stretch>
            <a:fillRect/>
          </a:stretch>
        </p:blipFill>
        <p:spPr>
          <a:xfrm>
            <a:off x="6746734" y="2155875"/>
            <a:ext cx="4876800" cy="431800"/>
          </a:xfrm>
          <a:prstGeom prst="rect">
            <a:avLst/>
          </a:prstGeom>
        </p:spPr>
      </p:pic>
      <p:sp>
        <p:nvSpPr>
          <p:cNvPr id="22" name="TextBox 21">
            <a:extLst>
              <a:ext uri="{FF2B5EF4-FFF2-40B4-BE49-F238E27FC236}">
                <a16:creationId xmlns:a16="http://schemas.microsoft.com/office/drawing/2014/main" id="{F4110164-C344-52F2-0B93-C36656EB180F}"/>
              </a:ext>
            </a:extLst>
          </p:cNvPr>
          <p:cNvSpPr txBox="1"/>
          <p:nvPr/>
        </p:nvSpPr>
        <p:spPr>
          <a:xfrm>
            <a:off x="6746734" y="2766702"/>
            <a:ext cx="5189306" cy="400110"/>
          </a:xfrm>
          <a:prstGeom prst="rect">
            <a:avLst/>
          </a:prstGeom>
          <a:noFill/>
        </p:spPr>
        <p:txBody>
          <a:bodyPr wrap="none" rtlCol="0">
            <a:spAutoFit/>
          </a:bodyPr>
          <a:lstStyle/>
          <a:p>
            <a:r>
              <a:rPr lang="en-US" altLang="zh-CN" sz="2000" dirty="0">
                <a:highlight>
                  <a:srgbClr val="FFFF00"/>
                </a:highlight>
              </a:rPr>
              <a:t>2009</a:t>
            </a:r>
            <a:r>
              <a:rPr lang="zh-CN" altLang="en-US" sz="2000" dirty="0">
                <a:highlight>
                  <a:srgbClr val="FFFF00"/>
                </a:highlight>
              </a:rPr>
              <a:t> </a:t>
            </a:r>
            <a:r>
              <a:rPr lang="en-US" altLang="zh-CN" sz="2000" dirty="0">
                <a:highlight>
                  <a:srgbClr val="FFFF00"/>
                </a:highlight>
              </a:rPr>
              <a:t>ATS:</a:t>
            </a:r>
            <a:r>
              <a:rPr lang="zh-CN" altLang="en-US" sz="2000" dirty="0">
                <a:highlight>
                  <a:srgbClr val="FFFF00"/>
                </a:highlight>
              </a:rPr>
              <a:t> </a:t>
            </a:r>
            <a:r>
              <a:rPr lang="en-US" altLang="zh-CN" sz="2000" dirty="0">
                <a:highlight>
                  <a:srgbClr val="FFFF00"/>
                </a:highlight>
              </a:rPr>
              <a:t>scientific</a:t>
            </a:r>
            <a:r>
              <a:rPr lang="zh-CN" altLang="en-US" sz="2000" dirty="0">
                <a:highlight>
                  <a:srgbClr val="FFFF00"/>
                </a:highlight>
              </a:rPr>
              <a:t> </a:t>
            </a:r>
            <a:r>
              <a:rPr lang="en-US" altLang="zh-CN" sz="2000" dirty="0">
                <a:highlight>
                  <a:srgbClr val="FFFF00"/>
                </a:highlight>
              </a:rPr>
              <a:t>breakthroughs</a:t>
            </a:r>
            <a:r>
              <a:rPr lang="zh-CN" altLang="en-US" sz="2000" dirty="0">
                <a:highlight>
                  <a:srgbClr val="FFFF00"/>
                </a:highlight>
              </a:rPr>
              <a:t> </a:t>
            </a:r>
            <a:r>
              <a:rPr lang="en-US" altLang="zh-CN" sz="2000" dirty="0">
                <a:highlight>
                  <a:srgbClr val="FFFF00"/>
                </a:highlight>
              </a:rPr>
              <a:t>of</a:t>
            </a:r>
            <a:r>
              <a:rPr lang="zh-CN" altLang="en-US" sz="2000" dirty="0">
                <a:highlight>
                  <a:srgbClr val="FFFF00"/>
                </a:highlight>
              </a:rPr>
              <a:t> </a:t>
            </a:r>
            <a:r>
              <a:rPr lang="en-US" altLang="zh-CN" sz="2000" dirty="0">
                <a:highlight>
                  <a:srgbClr val="FFFF00"/>
                </a:highlight>
              </a:rPr>
              <a:t>the</a:t>
            </a:r>
            <a:r>
              <a:rPr lang="zh-CN" altLang="en-US" sz="2000" dirty="0">
                <a:highlight>
                  <a:srgbClr val="FFFF00"/>
                </a:highlight>
              </a:rPr>
              <a:t> </a:t>
            </a:r>
            <a:r>
              <a:rPr lang="en-US" altLang="zh-CN" sz="2000" dirty="0">
                <a:highlight>
                  <a:srgbClr val="FFFF00"/>
                </a:highlight>
              </a:rPr>
              <a:t>year</a:t>
            </a:r>
            <a:endParaRPr lang="en-US" sz="2000" dirty="0">
              <a:highlight>
                <a:srgbClr val="FFFF00"/>
              </a:highlight>
            </a:endParaRPr>
          </a:p>
        </p:txBody>
      </p:sp>
      <p:pic>
        <p:nvPicPr>
          <p:cNvPr id="23" name="Picture 22">
            <a:extLst>
              <a:ext uri="{FF2B5EF4-FFF2-40B4-BE49-F238E27FC236}">
                <a16:creationId xmlns:a16="http://schemas.microsoft.com/office/drawing/2014/main" id="{8A2AF667-7668-B52C-0039-54363231F553}"/>
              </a:ext>
            </a:extLst>
          </p:cNvPr>
          <p:cNvPicPr>
            <a:picLocks noChangeAspect="1"/>
          </p:cNvPicPr>
          <p:nvPr/>
        </p:nvPicPr>
        <p:blipFill>
          <a:blip r:embed="rId7"/>
          <a:stretch>
            <a:fillRect/>
          </a:stretch>
        </p:blipFill>
        <p:spPr>
          <a:xfrm>
            <a:off x="6597102" y="3234582"/>
            <a:ext cx="5059020" cy="3413106"/>
          </a:xfrm>
          <a:prstGeom prst="rect">
            <a:avLst/>
          </a:prstGeom>
        </p:spPr>
      </p:pic>
    </p:spTree>
    <p:extLst>
      <p:ext uri="{BB962C8B-B14F-4D97-AF65-F5344CB8AC3E}">
        <p14:creationId xmlns:p14="http://schemas.microsoft.com/office/powerpoint/2010/main" val="165735355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08FE-6664-36C3-D9F5-5440765CC172}"/>
              </a:ext>
            </a:extLst>
          </p:cNvPr>
          <p:cNvSpPr>
            <a:spLocks noGrp="1"/>
          </p:cNvSpPr>
          <p:nvPr>
            <p:ph type="title"/>
          </p:nvPr>
        </p:nvSpPr>
        <p:spPr/>
        <p:txBody>
          <a:bodyPr anchor="b">
            <a:normAutofit/>
          </a:bodyPr>
          <a:lstStyle/>
          <a:p>
            <a:r>
              <a:rPr lang="en-US" dirty="0"/>
              <a:t>Other</a:t>
            </a:r>
            <a:r>
              <a:rPr lang="zh-CN" altLang="en-US"/>
              <a:t> </a:t>
            </a:r>
            <a:r>
              <a:rPr lang="en-US"/>
              <a:t>Contributions</a:t>
            </a:r>
            <a:endParaRPr lang="en-US" dirty="0"/>
          </a:p>
        </p:txBody>
      </p:sp>
      <p:sp>
        <p:nvSpPr>
          <p:cNvPr id="4" name="Footer Placeholder 3">
            <a:extLst>
              <a:ext uri="{FF2B5EF4-FFF2-40B4-BE49-F238E27FC236}">
                <a16:creationId xmlns:a16="http://schemas.microsoft.com/office/drawing/2014/main" id="{9355F9C7-8395-7E56-E4DC-05C9ABA855C1}"/>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96D2FFD2-13C2-27F0-C720-06E8CC53722C}"/>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985C0113-1D16-833E-3E78-A5569170203D}"/>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15</a:t>
            </a:fld>
            <a:endParaRPr lang="en-US"/>
          </a:p>
        </p:txBody>
      </p:sp>
    </p:spTree>
    <p:extLst>
      <p:ext uri="{BB962C8B-B14F-4D97-AF65-F5344CB8AC3E}">
        <p14:creationId xmlns:p14="http://schemas.microsoft.com/office/powerpoint/2010/main" val="3510617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Publications — GWAS</a:t>
            </a:r>
          </a:p>
        </p:txBody>
      </p:sp>
      <p:sp>
        <p:nvSpPr>
          <p:cNvPr id="3" name="Content Placeholder 2"/>
          <p:cNvSpPr>
            <a:spLocks noGrp="1"/>
          </p:cNvSpPr>
          <p:nvPr>
            <p:ph idx="1"/>
          </p:nvPr>
        </p:nvSpPr>
        <p:spPr/>
        <p:txBody>
          <a:bodyPr>
            <a:normAutofit fontScale="92500" lnSpcReduction="20000"/>
          </a:bodyPr>
          <a:lstStyle/>
          <a:p>
            <a:endParaRPr dirty="0"/>
          </a:p>
          <a:p>
            <a:pPr marL="0" indent="0">
              <a:buNone/>
            </a:pPr>
            <a:r>
              <a:rPr dirty="0"/>
              <a:t>• </a:t>
            </a:r>
            <a:r>
              <a:rPr b="1" dirty="0"/>
              <a:t>Handedness</a:t>
            </a:r>
            <a:r>
              <a:rPr dirty="0"/>
              <a:t> GWAS (Meta-analysis) — </a:t>
            </a:r>
            <a:r>
              <a:rPr b="1" dirty="0"/>
              <a:t>Nat</a:t>
            </a:r>
            <a:r>
              <a:rPr dirty="0"/>
              <a:t> Hum </a:t>
            </a:r>
            <a:r>
              <a:rPr dirty="0" err="1"/>
              <a:t>Behav</a:t>
            </a:r>
            <a:r>
              <a:rPr dirty="0"/>
              <a:t> (2020)</a:t>
            </a:r>
            <a:endParaRPr lang="en-US" dirty="0"/>
          </a:p>
          <a:p>
            <a:pPr marL="0" indent="0">
              <a:buNone/>
            </a:pPr>
            <a:r>
              <a:rPr dirty="0"/>
              <a:t>• </a:t>
            </a:r>
            <a:r>
              <a:rPr b="1" dirty="0"/>
              <a:t>Basal Cell Carcinoma </a:t>
            </a:r>
            <a:r>
              <a:rPr dirty="0"/>
              <a:t>— </a:t>
            </a:r>
            <a:r>
              <a:rPr dirty="0" err="1"/>
              <a:t>PLoS</a:t>
            </a:r>
            <a:r>
              <a:rPr dirty="0"/>
              <a:t> One (2011)</a:t>
            </a:r>
          </a:p>
          <a:p>
            <a:pPr marL="0" indent="0">
              <a:buNone/>
            </a:pPr>
            <a:r>
              <a:rPr dirty="0"/>
              <a:t>• Nevus Count / </a:t>
            </a:r>
            <a:r>
              <a:rPr b="1" dirty="0"/>
              <a:t>Melanoma</a:t>
            </a:r>
            <a:r>
              <a:rPr dirty="0"/>
              <a:t> Risk (NID1) — Hum Mol Genet (2011, Co-first)</a:t>
            </a:r>
          </a:p>
          <a:p>
            <a:pPr marL="0" indent="0">
              <a:buNone/>
            </a:pPr>
            <a:r>
              <a:rPr dirty="0"/>
              <a:t>• Cutaneous </a:t>
            </a:r>
            <a:r>
              <a:rPr b="1" dirty="0"/>
              <a:t>BCC</a:t>
            </a:r>
            <a:r>
              <a:rPr dirty="0"/>
              <a:t> &amp; </a:t>
            </a:r>
            <a:r>
              <a:rPr b="1" dirty="0"/>
              <a:t>SCC</a:t>
            </a:r>
            <a:r>
              <a:rPr dirty="0"/>
              <a:t> — Hum Mol Genet (2011)</a:t>
            </a:r>
          </a:p>
          <a:p>
            <a:pPr marL="0" indent="0">
              <a:buNone/>
            </a:pPr>
            <a:r>
              <a:rPr dirty="0"/>
              <a:t>• </a:t>
            </a:r>
            <a:r>
              <a:rPr b="1" dirty="0"/>
              <a:t>Pancreatic Adenocarcinoma </a:t>
            </a:r>
            <a:r>
              <a:rPr dirty="0"/>
              <a:t>Survival — Gut (2012)</a:t>
            </a:r>
          </a:p>
          <a:p>
            <a:pPr marL="0" indent="0">
              <a:buNone/>
            </a:pPr>
            <a:r>
              <a:rPr dirty="0"/>
              <a:t>• Severe </a:t>
            </a:r>
            <a:r>
              <a:rPr b="1" dirty="0"/>
              <a:t>Asthma</a:t>
            </a:r>
            <a:r>
              <a:rPr dirty="0"/>
              <a:t> Exacerbation (RF GWAS) — BMC Med Genet (2011)</a:t>
            </a:r>
            <a:endParaRPr lang="en-US" dirty="0"/>
          </a:p>
          <a:p>
            <a:pPr marL="0" indent="0">
              <a:buNone/>
            </a:pPr>
            <a:r>
              <a:rPr dirty="0"/>
              <a:t>• </a:t>
            </a:r>
            <a:r>
              <a:rPr b="1" dirty="0" err="1"/>
              <a:t>eQTL</a:t>
            </a:r>
            <a:r>
              <a:rPr dirty="0"/>
              <a:t> Mapping — Hum Mol Genet (2010)</a:t>
            </a:r>
          </a:p>
          <a:p>
            <a:pPr marL="0" indent="0">
              <a:buNone/>
            </a:pPr>
            <a:r>
              <a:rPr dirty="0"/>
              <a:t>• </a:t>
            </a:r>
            <a:r>
              <a:rPr b="1" dirty="0"/>
              <a:t>ABO</a:t>
            </a:r>
            <a:r>
              <a:rPr dirty="0"/>
              <a:t> &amp; </a:t>
            </a:r>
            <a:r>
              <a:rPr b="1" dirty="0"/>
              <a:t>Pancreatic Cancer </a:t>
            </a:r>
            <a:r>
              <a:rPr dirty="0"/>
              <a:t>— Cancer Epidemiol Biomarkers Prev (2010)</a:t>
            </a:r>
          </a:p>
          <a:p>
            <a:pPr marL="0" indent="0">
              <a:buNone/>
            </a:pPr>
            <a:r>
              <a:rPr dirty="0"/>
              <a:t>• </a:t>
            </a:r>
            <a:r>
              <a:rPr b="1" dirty="0"/>
              <a:t>Blood Type </a:t>
            </a:r>
            <a:r>
              <a:rPr dirty="0"/>
              <a:t>&amp; </a:t>
            </a:r>
            <a:r>
              <a:rPr b="1" dirty="0"/>
              <a:t>Breast Cancer </a:t>
            </a:r>
            <a:r>
              <a:rPr dirty="0"/>
              <a:t>— Int J Cancer (2011)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Publications — </a:t>
            </a:r>
            <a:r>
              <a:rPr b="1" dirty="0"/>
              <a:t>NGS</a:t>
            </a:r>
            <a:r>
              <a:rPr dirty="0"/>
              <a:t> &amp; Functional Genomics</a:t>
            </a:r>
          </a:p>
        </p:txBody>
      </p:sp>
      <p:sp>
        <p:nvSpPr>
          <p:cNvPr id="3" name="Content Placeholder 2"/>
          <p:cNvSpPr>
            <a:spLocks noGrp="1"/>
          </p:cNvSpPr>
          <p:nvPr>
            <p:ph idx="1"/>
          </p:nvPr>
        </p:nvSpPr>
        <p:spPr/>
        <p:txBody>
          <a:bodyPr/>
          <a:lstStyle/>
          <a:p>
            <a:endParaRPr dirty="0"/>
          </a:p>
          <a:p>
            <a:pPr marL="0" indent="0">
              <a:buNone/>
            </a:pPr>
            <a:r>
              <a:rPr dirty="0"/>
              <a:t>• Synthetic transcription elongation factors — </a:t>
            </a:r>
            <a:r>
              <a:rPr b="1" dirty="0"/>
              <a:t>Science</a:t>
            </a:r>
            <a:r>
              <a:rPr dirty="0"/>
              <a:t> (2017)</a:t>
            </a:r>
          </a:p>
          <a:p>
            <a:pPr marL="0" indent="0">
              <a:buNone/>
            </a:pPr>
            <a:r>
              <a:rPr dirty="0"/>
              <a:t>• YAP1 → USP31 → </a:t>
            </a:r>
            <a:r>
              <a:rPr dirty="0" err="1"/>
              <a:t>NFκB</a:t>
            </a:r>
            <a:r>
              <a:rPr dirty="0"/>
              <a:t> (Sarcoma) — Cancer Research (2018)</a:t>
            </a:r>
          </a:p>
          <a:p>
            <a:pPr marL="0" indent="0">
              <a:buNone/>
            </a:pPr>
            <a:r>
              <a:rPr dirty="0"/>
              <a:t>• TRIM24 degrader — Nat Chem Biol (2018)</a:t>
            </a:r>
          </a:p>
          <a:p>
            <a:pPr marL="0" indent="0">
              <a:buNone/>
            </a:pPr>
            <a:r>
              <a:rPr dirty="0"/>
              <a:t>• MYC dependency in ovarian cancer — </a:t>
            </a:r>
            <a:r>
              <a:rPr dirty="0" err="1"/>
              <a:t>eLife</a:t>
            </a:r>
            <a:r>
              <a:rPr dirty="0"/>
              <a:t> (2018)</a:t>
            </a:r>
          </a:p>
          <a:p>
            <a:pPr marL="0" indent="0">
              <a:buNone/>
            </a:pPr>
            <a:r>
              <a:rPr dirty="0"/>
              <a:t>• Super-enhancer BCL2 mechanism — Cancer Cell (2018)</a:t>
            </a:r>
          </a:p>
          <a:p>
            <a:pPr marL="0" indent="0">
              <a:buNone/>
            </a:pPr>
            <a:r>
              <a:rPr dirty="0"/>
              <a:t>• Warfarin pharmacogenetics — Pharmacogenomics (2015)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Publications — Functional Genomics &amp; ML</a:t>
            </a:r>
          </a:p>
        </p:txBody>
      </p:sp>
      <p:sp>
        <p:nvSpPr>
          <p:cNvPr id="3" name="Content Placeholder 2"/>
          <p:cNvSpPr>
            <a:spLocks noGrp="1"/>
          </p:cNvSpPr>
          <p:nvPr>
            <p:ph idx="1"/>
          </p:nvPr>
        </p:nvSpPr>
        <p:spPr/>
        <p:txBody>
          <a:bodyPr/>
          <a:lstStyle/>
          <a:p>
            <a:endParaRPr dirty="0"/>
          </a:p>
          <a:p>
            <a:pPr marL="0" indent="0">
              <a:buNone/>
            </a:pPr>
            <a:r>
              <a:rPr dirty="0"/>
              <a:t>• ENCODE Pilot Project — </a:t>
            </a:r>
            <a:r>
              <a:rPr b="1" dirty="0"/>
              <a:t>Nature</a:t>
            </a:r>
            <a:r>
              <a:rPr dirty="0"/>
              <a:t> (2007)</a:t>
            </a:r>
          </a:p>
          <a:p>
            <a:pPr marL="0" indent="0">
              <a:buNone/>
            </a:pPr>
            <a:r>
              <a:rPr dirty="0"/>
              <a:t>• Regulatory polymorphisms / </a:t>
            </a:r>
            <a:r>
              <a:rPr dirty="0" err="1"/>
              <a:t>eQTL</a:t>
            </a:r>
            <a:r>
              <a:rPr dirty="0"/>
              <a:t> — Genomics (2008)</a:t>
            </a:r>
          </a:p>
          <a:p>
            <a:pPr marL="0" indent="0">
              <a:buNone/>
            </a:pPr>
            <a:r>
              <a:rPr dirty="0"/>
              <a:t>• Lgl1 regulation during alveolarization — Pediatric Research (2010)</a:t>
            </a:r>
          </a:p>
          <a:p>
            <a:pPr marL="0" indent="0">
              <a:buNone/>
            </a:pPr>
            <a:r>
              <a:rPr dirty="0"/>
              <a:t>• RF model for asthma exacerbation — BMC Med Genet (2011)</a:t>
            </a:r>
          </a:p>
          <a:p>
            <a:pPr marL="0" indent="0">
              <a:buNone/>
            </a:pPr>
            <a:r>
              <a:rPr dirty="0"/>
              <a:t>• LSTM stock prediction — Kaggle Tutorial (2018)</a:t>
            </a:r>
          </a:p>
          <a:p>
            <a:pPr marL="0" indent="0">
              <a:buNone/>
            </a:pPr>
            <a:r>
              <a:rPr dirty="0"/>
              <a:t>• Biological information retrieval — ACM CIKM (1998)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Industry Highlights</a:t>
            </a:r>
          </a:p>
        </p:txBody>
      </p:sp>
      <p:sp>
        <p:nvSpPr>
          <p:cNvPr id="3" name="Content Placeholder 2"/>
          <p:cNvSpPr>
            <a:spLocks noGrp="1"/>
          </p:cNvSpPr>
          <p:nvPr>
            <p:ph idx="1"/>
          </p:nvPr>
        </p:nvSpPr>
        <p:spPr/>
        <p:txBody>
          <a:bodyPr/>
          <a:lstStyle/>
          <a:p>
            <a:endParaRPr dirty="0"/>
          </a:p>
          <a:p>
            <a:r>
              <a:rPr b="1" dirty="0"/>
              <a:t>Vidagen</a:t>
            </a:r>
            <a:r>
              <a:rPr dirty="0"/>
              <a:t> (Founder): </a:t>
            </a:r>
            <a:r>
              <a:rPr b="1" dirty="0"/>
              <a:t>genetic testing</a:t>
            </a:r>
            <a:r>
              <a:rPr lang="en-US" altLang="zh-CN" dirty="0"/>
              <a:t>;</a:t>
            </a:r>
            <a:r>
              <a:rPr lang="zh-CN" altLang="en-US" dirty="0"/>
              <a:t> </a:t>
            </a:r>
            <a:r>
              <a:rPr lang="en-US" altLang="zh-CN" dirty="0"/>
              <a:t>dozens</a:t>
            </a:r>
            <a:r>
              <a:rPr lang="zh-CN" altLang="en-US" dirty="0"/>
              <a:t> </a:t>
            </a:r>
            <a:r>
              <a:rPr lang="en-US" altLang="zh-CN" dirty="0"/>
              <a:t>of</a:t>
            </a:r>
            <a:r>
              <a:rPr lang="zh-CN" altLang="en-US" dirty="0"/>
              <a:t> </a:t>
            </a:r>
            <a:r>
              <a:rPr lang="en-US" altLang="zh-CN" dirty="0"/>
              <a:t>products;</a:t>
            </a:r>
            <a:r>
              <a:rPr lang="zh-CN" altLang="en-US" dirty="0"/>
              <a:t> </a:t>
            </a:r>
            <a:r>
              <a:rPr lang="en-US" altLang="zh-CN" dirty="0"/>
              <a:t>13-17</a:t>
            </a:r>
            <a:r>
              <a:rPr lang="zh-CN" altLang="en-US" dirty="0"/>
              <a:t> </a:t>
            </a:r>
            <a:r>
              <a:rPr lang="en-US" altLang="zh-CN" dirty="0"/>
              <a:t>medical</a:t>
            </a:r>
            <a:r>
              <a:rPr lang="zh-CN" altLang="en-US" dirty="0"/>
              <a:t> </a:t>
            </a:r>
            <a:r>
              <a:rPr lang="en-US" altLang="zh-CN" dirty="0"/>
              <a:t>organizations;</a:t>
            </a:r>
            <a:r>
              <a:rPr lang="zh-CN" altLang="en-US" dirty="0"/>
              <a:t> </a:t>
            </a:r>
            <a:r>
              <a:rPr lang="en-US" altLang="zh-CN" dirty="0"/>
              <a:t>~</a:t>
            </a:r>
            <a:r>
              <a:rPr lang="zh-CN" altLang="en-US" dirty="0"/>
              <a:t> </a:t>
            </a:r>
            <a:r>
              <a:rPr lang="en-US" altLang="zh-CN" dirty="0"/>
              <a:t>a</a:t>
            </a:r>
            <a:r>
              <a:rPr lang="zh-CN" altLang="en-US" dirty="0"/>
              <a:t> </a:t>
            </a:r>
            <a:r>
              <a:rPr lang="en-US" altLang="zh-CN" dirty="0"/>
              <a:t>dozen</a:t>
            </a:r>
            <a:r>
              <a:rPr lang="zh-CN" altLang="en-US" dirty="0"/>
              <a:t> </a:t>
            </a:r>
            <a:r>
              <a:rPr lang="en-US" altLang="zh-CN" dirty="0"/>
              <a:t>patents;</a:t>
            </a:r>
            <a:r>
              <a:rPr lang="zh-CN" altLang="en-US" dirty="0"/>
              <a:t> </a:t>
            </a:r>
            <a:r>
              <a:rPr lang="en-US" altLang="zh-CN" dirty="0"/>
              <a:t>Hundred,</a:t>
            </a:r>
            <a:r>
              <a:rPr lang="zh-CN" altLang="en-US" dirty="0"/>
              <a:t> </a:t>
            </a:r>
            <a:r>
              <a:rPr lang="en-US" altLang="zh-CN" dirty="0"/>
              <a:t>Yellow</a:t>
            </a:r>
            <a:r>
              <a:rPr lang="zh-CN" altLang="en-US" dirty="0"/>
              <a:t> </a:t>
            </a:r>
            <a:r>
              <a:rPr lang="en-US" altLang="zh-CN" dirty="0"/>
              <a:t>Crane,</a:t>
            </a:r>
            <a:r>
              <a:rPr lang="zh-CN" altLang="en-US" dirty="0"/>
              <a:t> </a:t>
            </a:r>
            <a:r>
              <a:rPr lang="en-US" altLang="zh-CN" dirty="0"/>
              <a:t>3551</a:t>
            </a:r>
            <a:r>
              <a:rPr lang="zh-CN" altLang="en-US" dirty="0"/>
              <a:t> </a:t>
            </a:r>
            <a:r>
              <a:rPr lang="en-US" altLang="zh-CN" dirty="0"/>
              <a:t>Talent</a:t>
            </a:r>
            <a:r>
              <a:rPr lang="zh-CN" altLang="en-US" dirty="0"/>
              <a:t> </a:t>
            </a:r>
            <a:r>
              <a:rPr lang="en-US" altLang="zh-CN" dirty="0"/>
              <a:t>Programs</a:t>
            </a:r>
            <a:endParaRPr dirty="0"/>
          </a:p>
          <a:p>
            <a:r>
              <a:rPr lang="en-US" altLang="zh-CN" b="1" dirty="0"/>
              <a:t>Booz</a:t>
            </a:r>
            <a:r>
              <a:rPr lang="zh-CN" altLang="en-US" b="1" dirty="0"/>
              <a:t> </a:t>
            </a:r>
            <a:r>
              <a:rPr lang="en-US" altLang="zh-CN" b="1" dirty="0"/>
              <a:t>Allen</a:t>
            </a:r>
            <a:r>
              <a:rPr lang="zh-CN" altLang="en-US" b="1" dirty="0"/>
              <a:t> </a:t>
            </a:r>
            <a:r>
              <a:rPr lang="en-US" altLang="zh-CN" b="1" dirty="0"/>
              <a:t>Hamilton</a:t>
            </a:r>
            <a:r>
              <a:rPr b="1" dirty="0"/>
              <a:t> </a:t>
            </a:r>
            <a:r>
              <a:rPr dirty="0"/>
              <a:t>(</a:t>
            </a:r>
            <a:r>
              <a:rPr lang="en-US" altLang="zh-CN" dirty="0"/>
              <a:t>Sr.</a:t>
            </a:r>
            <a:r>
              <a:rPr lang="zh-CN" altLang="en-US" dirty="0"/>
              <a:t> </a:t>
            </a:r>
            <a:r>
              <a:rPr dirty="0"/>
              <a:t>Data Scientist): </a:t>
            </a:r>
            <a:r>
              <a:rPr lang="en-US" altLang="zh-CN" dirty="0"/>
              <a:t>Genomic</a:t>
            </a:r>
            <a:r>
              <a:rPr lang="zh-CN" altLang="en-US" dirty="0"/>
              <a:t> </a:t>
            </a:r>
            <a:r>
              <a:rPr lang="en-US" altLang="zh-CN" dirty="0"/>
              <a:t>data</a:t>
            </a:r>
            <a:r>
              <a:rPr lang="zh-CN" altLang="en-US" dirty="0"/>
              <a:t> </a:t>
            </a:r>
            <a:r>
              <a:rPr lang="en-US" altLang="zh-CN" dirty="0"/>
              <a:t>preparation</a:t>
            </a:r>
            <a:r>
              <a:rPr lang="zh-CN" altLang="en-US" dirty="0"/>
              <a:t> </a:t>
            </a:r>
            <a:r>
              <a:rPr lang="en-US" altLang="zh-CN" dirty="0"/>
              <a:t>for</a:t>
            </a:r>
            <a:r>
              <a:rPr lang="zh-CN" altLang="en-US" dirty="0"/>
              <a:t> </a:t>
            </a:r>
            <a:r>
              <a:rPr lang="en-US" altLang="zh-CN" dirty="0"/>
              <a:t>Million</a:t>
            </a:r>
            <a:r>
              <a:rPr lang="zh-CN" altLang="en-US" dirty="0"/>
              <a:t> </a:t>
            </a:r>
            <a:r>
              <a:rPr lang="en-US" altLang="zh-CN" dirty="0"/>
              <a:t>Veteran</a:t>
            </a:r>
            <a:r>
              <a:rPr lang="zh-CN" altLang="en-US" dirty="0"/>
              <a:t> </a:t>
            </a:r>
            <a:r>
              <a:rPr lang="en-US" altLang="zh-CN" dirty="0"/>
              <a:t>Program</a:t>
            </a:r>
            <a:r>
              <a:rPr lang="zh-CN" altLang="en-US" dirty="0"/>
              <a:t> </a:t>
            </a:r>
            <a:r>
              <a:rPr lang="en-US" altLang="zh-CN" dirty="0"/>
              <a:t>(</a:t>
            </a:r>
            <a:r>
              <a:rPr lang="en-US" altLang="zh-CN" b="1" dirty="0"/>
              <a:t>MVP</a:t>
            </a:r>
            <a:r>
              <a:rPr lang="en-US" altLang="zh-CN" dirty="0"/>
              <a:t>);</a:t>
            </a:r>
            <a:r>
              <a:rPr lang="zh-CN" altLang="en-US" dirty="0"/>
              <a:t> </a:t>
            </a:r>
            <a:r>
              <a:rPr lang="en-US" altLang="zh-CN" dirty="0"/>
              <a:t>NPL</a:t>
            </a:r>
            <a:r>
              <a:rPr lang="zh-CN" altLang="en-US" dirty="0"/>
              <a:t> </a:t>
            </a:r>
            <a:r>
              <a:rPr lang="en-US" altLang="zh-CN" dirty="0"/>
              <a:t>for</a:t>
            </a:r>
            <a:r>
              <a:rPr lang="zh-CN" altLang="en-US" dirty="0"/>
              <a:t> </a:t>
            </a:r>
            <a:r>
              <a:rPr lang="en-US" dirty="0"/>
              <a:t>NIDDK</a:t>
            </a:r>
            <a:r>
              <a:rPr lang="en-US" altLang="zh-CN" dirty="0"/>
              <a:t>;</a:t>
            </a:r>
            <a:r>
              <a:rPr lang="zh-CN" altLang="en-US" dirty="0"/>
              <a:t> </a:t>
            </a:r>
            <a:endParaRPr dirty="0"/>
          </a:p>
          <a:p>
            <a:r>
              <a:rPr b="1" dirty="0"/>
              <a:t>D2M</a:t>
            </a:r>
            <a:r>
              <a:rPr dirty="0"/>
              <a:t> Biotherapeutics: </a:t>
            </a:r>
            <a:r>
              <a:rPr lang="en-US" altLang="zh-CN" b="1" dirty="0"/>
              <a:t>causal</a:t>
            </a:r>
            <a:r>
              <a:rPr lang="zh-CN" altLang="en-US" b="1" dirty="0"/>
              <a:t> </a:t>
            </a:r>
            <a:r>
              <a:rPr lang="en-US" altLang="zh-CN" b="1" dirty="0"/>
              <a:t>gene</a:t>
            </a:r>
            <a:r>
              <a:rPr lang="zh-CN" altLang="en-US" dirty="0"/>
              <a:t> </a:t>
            </a:r>
            <a:r>
              <a:rPr lang="en-US" altLang="zh-CN" dirty="0"/>
              <a:t>identification</a:t>
            </a:r>
            <a:r>
              <a:rPr lang="zh-CN" altLang="en-US" dirty="0"/>
              <a:t> </a:t>
            </a:r>
            <a:r>
              <a:rPr lang="en-US" altLang="zh-CN" dirty="0"/>
              <a:t>for</a:t>
            </a:r>
            <a:r>
              <a:rPr lang="zh-CN" altLang="en-US" dirty="0"/>
              <a:t> </a:t>
            </a:r>
            <a:r>
              <a:rPr lang="en-US" altLang="zh-CN" dirty="0"/>
              <a:t>cancers</a:t>
            </a:r>
            <a:r>
              <a:rPr lang="zh-CN" altLang="en-US" dirty="0"/>
              <a:t> </a:t>
            </a:r>
            <a:r>
              <a:rPr lang="en-US" altLang="zh-CN" dirty="0"/>
              <a:t>and</a:t>
            </a:r>
            <a:r>
              <a:rPr lang="zh-CN" altLang="en-US" dirty="0"/>
              <a:t> </a:t>
            </a:r>
            <a:r>
              <a:rPr lang="en-US" altLang="zh-CN" dirty="0"/>
              <a:t>immune</a:t>
            </a:r>
            <a:r>
              <a:rPr lang="zh-CN" altLang="en-US" dirty="0"/>
              <a:t> </a:t>
            </a:r>
            <a:r>
              <a:rPr lang="en-US" altLang="zh-CN" dirty="0"/>
              <a:t>diseases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94C39-6BC9-EB66-73FA-282708B8EA08}"/>
              </a:ext>
            </a:extLst>
          </p:cNvPr>
          <p:cNvSpPr>
            <a:spLocks noGrp="1"/>
          </p:cNvSpPr>
          <p:nvPr>
            <p:ph type="title"/>
          </p:nvPr>
        </p:nvSpPr>
        <p:spPr/>
        <p:txBody>
          <a:bodyPr anchor="b">
            <a:normAutofit/>
          </a:bodyPr>
          <a:lstStyle/>
          <a:p>
            <a:r>
              <a:rPr lang="en-US"/>
              <a:t>GTIIT Teaching Vision</a:t>
            </a:r>
          </a:p>
        </p:txBody>
      </p:sp>
      <p:sp>
        <p:nvSpPr>
          <p:cNvPr id="4" name="Footer Placeholder 3">
            <a:extLst>
              <a:ext uri="{FF2B5EF4-FFF2-40B4-BE49-F238E27FC236}">
                <a16:creationId xmlns:a16="http://schemas.microsoft.com/office/drawing/2014/main" id="{2535461F-384B-3170-2DA6-9AC6327EAAB4}"/>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901F9D03-FEE7-0978-3F1E-D0032ED8E24F}"/>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E523B26A-8319-3D3E-5D1E-977CDAC2D33C}"/>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20</a:t>
            </a:fld>
            <a:endParaRPr lang="en-US"/>
          </a:p>
        </p:txBody>
      </p:sp>
    </p:spTree>
    <p:extLst>
      <p:ext uri="{BB962C8B-B14F-4D97-AF65-F5344CB8AC3E}">
        <p14:creationId xmlns:p14="http://schemas.microsoft.com/office/powerpoint/2010/main" val="27878100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75E1A-1A36-23E1-59B9-E00D87312117}"/>
              </a:ext>
            </a:extLst>
          </p:cNvPr>
          <p:cNvSpPr>
            <a:spLocks noGrp="1"/>
          </p:cNvSpPr>
          <p:nvPr>
            <p:ph type="title"/>
          </p:nvPr>
        </p:nvSpPr>
        <p:spPr/>
        <p:txBody>
          <a:bodyPr anchor="b">
            <a:normAutofit/>
          </a:bodyPr>
          <a:lstStyle/>
          <a:p>
            <a:r>
              <a:rPr lang="en-US" altLang="zh-CN" dirty="0"/>
              <a:t>Passion</a:t>
            </a:r>
            <a:r>
              <a:rPr lang="zh-CN" altLang="en-US" dirty="0"/>
              <a:t> </a:t>
            </a:r>
            <a:r>
              <a:rPr lang="en-US" altLang="zh-CN" dirty="0"/>
              <a:t>For</a:t>
            </a:r>
            <a:r>
              <a:rPr lang="en-US" dirty="0"/>
              <a:t> Teaching</a:t>
            </a:r>
          </a:p>
        </p:txBody>
      </p:sp>
      <p:sp>
        <p:nvSpPr>
          <p:cNvPr id="3" name="Footer Placeholder 2">
            <a:extLst>
              <a:ext uri="{FF2B5EF4-FFF2-40B4-BE49-F238E27FC236}">
                <a16:creationId xmlns:a16="http://schemas.microsoft.com/office/drawing/2014/main" id="{05BA0A62-910C-BCEA-A711-E09FDEDF9D70}"/>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4" name="Date Placeholder 3">
            <a:extLst>
              <a:ext uri="{FF2B5EF4-FFF2-40B4-BE49-F238E27FC236}">
                <a16:creationId xmlns:a16="http://schemas.microsoft.com/office/drawing/2014/main" id="{98A7F9AD-B38A-2852-7B49-6A9CF02EBE3F}"/>
              </a:ext>
            </a:extLst>
          </p:cNvPr>
          <p:cNvSpPr>
            <a:spLocks noGrp="1"/>
          </p:cNvSpPr>
          <p:nvPr>
            <p:ph type="dt" sz="half" idx="14"/>
          </p:nvPr>
        </p:nvSpPr>
        <p:spPr/>
        <p:txBody>
          <a:bodyPr anchor="ctr">
            <a:normAutofit/>
          </a:bodyPr>
          <a:lstStyle/>
          <a:p>
            <a:pPr>
              <a:spcAft>
                <a:spcPts val="600"/>
              </a:spcAft>
            </a:pPr>
            <a:fld id="{9EAD527F-9C49-4481-A18C-80BA2EA99E79}" type="datetime1">
              <a:rPr lang="en-US" smtClean="0"/>
              <a:pPr>
                <a:spcAft>
                  <a:spcPts val="600"/>
                </a:spcAft>
              </a:pPr>
              <a:t>11/22/25</a:t>
            </a:fld>
            <a:endParaRPr lang="en-US"/>
          </a:p>
        </p:txBody>
      </p:sp>
      <p:sp>
        <p:nvSpPr>
          <p:cNvPr id="5" name="Slide Number Placeholder 4">
            <a:extLst>
              <a:ext uri="{FF2B5EF4-FFF2-40B4-BE49-F238E27FC236}">
                <a16:creationId xmlns:a16="http://schemas.microsoft.com/office/drawing/2014/main" id="{9810170D-6CCE-79D4-79ED-20FC258EC8B1}"/>
              </a:ext>
            </a:extLst>
          </p:cNvPr>
          <p:cNvSpPr>
            <a:spLocks noGrp="1"/>
          </p:cNvSpPr>
          <p:nvPr>
            <p:ph type="sldNum" sz="quarter" idx="16"/>
          </p:nvPr>
        </p:nvSpPr>
        <p:spPr/>
        <p:txBody>
          <a:bodyPr anchor="ctr">
            <a:normAutofit/>
          </a:bodyPr>
          <a:lstStyle/>
          <a:p>
            <a:pPr>
              <a:spcAft>
                <a:spcPts val="600"/>
              </a:spcAft>
            </a:pPr>
            <a:fld id="{753D0FD4-819D-4187-8797-C35567B41C78}" type="slidenum">
              <a:rPr lang="en-US" smtClean="0"/>
              <a:pPr>
                <a:spcAft>
                  <a:spcPts val="600"/>
                </a:spcAft>
              </a:pPr>
              <a:t>21</a:t>
            </a:fld>
            <a:endParaRPr lang="en-US"/>
          </a:p>
        </p:txBody>
      </p:sp>
      <p:sp>
        <p:nvSpPr>
          <p:cNvPr id="7" name="Content Placeholder 6">
            <a:extLst>
              <a:ext uri="{FF2B5EF4-FFF2-40B4-BE49-F238E27FC236}">
                <a16:creationId xmlns:a16="http://schemas.microsoft.com/office/drawing/2014/main" id="{346AF0AF-BE66-4AF1-D181-9C4FF200889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1400" b="1" dirty="0"/>
              <a:t>Educational Contributions</a:t>
            </a:r>
          </a:p>
          <a:p>
            <a:pPr marL="0" lvl="1" indent="0">
              <a:buFont typeface="Arial" panose="020B0604020202020204" pitchFamily="34" charset="0"/>
              <a:buNone/>
            </a:pPr>
            <a:r>
              <a:rPr lang="en-US" sz="1400" dirty="0"/>
              <a:t>Xu has delivered invited talks and developed widely accessed tutorials on machine learning and genomics.</a:t>
            </a:r>
          </a:p>
          <a:p>
            <a:pPr marL="0" indent="0">
              <a:spcBef>
                <a:spcPts val="2500"/>
              </a:spcBef>
              <a:buFont typeface="Arial" panose="020B0604020202020204" pitchFamily="34" charset="0"/>
              <a:buNone/>
            </a:pPr>
            <a:r>
              <a:rPr lang="en-US" sz="1400" b="1" dirty="0"/>
              <a:t>Mobile Learning Applications</a:t>
            </a:r>
          </a:p>
          <a:p>
            <a:pPr marL="0" lvl="1" indent="0">
              <a:buFont typeface="Arial" panose="020B0604020202020204" pitchFamily="34" charset="0"/>
              <a:buNone/>
            </a:pPr>
            <a:r>
              <a:rPr lang="en-US" sz="1400" dirty="0"/>
              <a:t>He created educational apps like Fast </a:t>
            </a:r>
            <a:r>
              <a:rPr lang="en-US" sz="1400" b="1" dirty="0"/>
              <a:t>PSAT</a:t>
            </a:r>
            <a:r>
              <a:rPr lang="en-US" sz="1400" dirty="0"/>
              <a:t> Words and Fast </a:t>
            </a:r>
            <a:r>
              <a:rPr lang="en-US" sz="1400" b="1" dirty="0"/>
              <a:t>SAT</a:t>
            </a:r>
            <a:r>
              <a:rPr lang="en-US" sz="1400" dirty="0"/>
              <a:t> Words, showcasing thoughtful content design.</a:t>
            </a:r>
          </a:p>
        </p:txBody>
      </p:sp>
      <p:pic>
        <p:nvPicPr>
          <p:cNvPr id="8" name="Content Placeholder 7" descr="E-Learning Education">
            <a:extLst>
              <a:ext uri="{FF2B5EF4-FFF2-40B4-BE49-F238E27FC236}">
                <a16:creationId xmlns:a16="http://schemas.microsoft.com/office/drawing/2014/main" id="{469B0EA2-A44B-4CAF-B19D-EDBBCBB65FB5}"/>
              </a:ext>
            </a:extLst>
          </p:cNvPr>
          <p:cNvPicPr>
            <a:picLocks noGrp="1" noChangeAspect="1"/>
          </p:cNvPicPr>
          <p:nvPr>
            <p:ph type="pic" sz="quarter" idx="13"/>
          </p:nvPr>
        </p:nvPicPr>
        <p:blipFill>
          <a:blip r:embed="rId3"/>
          <a:srcRect l="25851" r="25851"/>
          <a:stretch>
            <a:fillRect/>
          </a:stretch>
        </p:blipFill>
        <p:spPr>
          <a:prstGeom prst="rect">
            <a:avLst/>
          </a:prstGeom>
          <a:noFill/>
        </p:spPr>
      </p:pic>
    </p:spTree>
    <p:extLst>
      <p:ext uri="{BB962C8B-B14F-4D97-AF65-F5344CB8AC3E}">
        <p14:creationId xmlns:p14="http://schemas.microsoft.com/office/powerpoint/2010/main" val="15542733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73C0-6E62-EFF3-F20E-AA4A74395AA2}"/>
              </a:ext>
            </a:extLst>
          </p:cNvPr>
          <p:cNvSpPr>
            <a:spLocks noGrp="1"/>
          </p:cNvSpPr>
          <p:nvPr>
            <p:ph type="title"/>
          </p:nvPr>
        </p:nvSpPr>
        <p:spPr>
          <a:xfrm>
            <a:off x="317772" y="5029200"/>
            <a:ext cx="4244126" cy="1463040"/>
          </a:xfrm>
        </p:spPr>
        <p:txBody>
          <a:bodyPr anchor="t">
            <a:normAutofit fontScale="90000"/>
          </a:bodyPr>
          <a:lstStyle/>
          <a:p>
            <a:r>
              <a:rPr lang="en-US" dirty="0"/>
              <a:t>Integrating Computational Analysis into BFE</a:t>
            </a:r>
          </a:p>
        </p:txBody>
      </p:sp>
      <p:sp>
        <p:nvSpPr>
          <p:cNvPr id="3" name="Footer Placeholder 2">
            <a:extLst>
              <a:ext uri="{FF2B5EF4-FFF2-40B4-BE49-F238E27FC236}">
                <a16:creationId xmlns:a16="http://schemas.microsoft.com/office/drawing/2014/main" id="{41DBF9D8-5956-5A49-9905-C17DE72F15F6}"/>
              </a:ext>
            </a:extLst>
          </p:cNvPr>
          <p:cNvSpPr>
            <a:spLocks noGrp="1"/>
          </p:cNvSpPr>
          <p:nvPr>
            <p:ph type="ftr" sz="quarter" idx="11"/>
          </p:nvPr>
        </p:nvSpPr>
        <p:spPr/>
        <p:txBody>
          <a:bodyPr anchor="ctr">
            <a:normAutofit/>
          </a:bodyPr>
          <a:lstStyle/>
          <a:p>
            <a:pPr>
              <a:spcAft>
                <a:spcPts val="600"/>
              </a:spcAft>
            </a:pPr>
            <a:r>
              <a:rPr lang="en-US" dirty="0"/>
              <a:t>Footer Text</a:t>
            </a:r>
            <a:endParaRPr lang="en-US"/>
          </a:p>
        </p:txBody>
      </p:sp>
      <p:sp>
        <p:nvSpPr>
          <p:cNvPr id="4" name="Date Placeholder 3">
            <a:extLst>
              <a:ext uri="{FF2B5EF4-FFF2-40B4-BE49-F238E27FC236}">
                <a16:creationId xmlns:a16="http://schemas.microsoft.com/office/drawing/2014/main" id="{87C37C09-09D4-468E-D45A-73B5B991AA94}"/>
              </a:ext>
            </a:extLst>
          </p:cNvPr>
          <p:cNvSpPr>
            <a:spLocks noGrp="1"/>
          </p:cNvSpPr>
          <p:nvPr>
            <p:ph type="dt" sz="half" idx="10"/>
          </p:nvPr>
        </p:nvSpPr>
        <p:spPr/>
        <p:txBody>
          <a:bodyPr anchor="ctr">
            <a:normAutofit/>
          </a:bodyPr>
          <a:lstStyle/>
          <a:p>
            <a:pPr>
              <a:spcAft>
                <a:spcPts val="600"/>
              </a:spcAft>
            </a:pPr>
            <a:fld id="{9EAD527F-9C49-4481-A18C-80BA2EA99E79}" type="datetime1">
              <a:rPr lang="en-US" smtClean="0"/>
              <a:pPr>
                <a:spcAft>
                  <a:spcPts val="600"/>
                </a:spcAft>
              </a:pPr>
              <a:t>11/22/25</a:t>
            </a:fld>
            <a:endParaRPr lang="en-US"/>
          </a:p>
        </p:txBody>
      </p:sp>
      <p:sp>
        <p:nvSpPr>
          <p:cNvPr id="5" name="Slide Number Placeholder 4">
            <a:extLst>
              <a:ext uri="{FF2B5EF4-FFF2-40B4-BE49-F238E27FC236}">
                <a16:creationId xmlns:a16="http://schemas.microsoft.com/office/drawing/2014/main" id="{1EDCCAF8-8048-4BDD-CE33-A12802C53FF1}"/>
              </a:ext>
            </a:extLst>
          </p:cNvPr>
          <p:cNvSpPr>
            <a:spLocks noGrp="1"/>
          </p:cNvSpPr>
          <p:nvPr>
            <p:ph type="sldNum" sz="quarter" idx="12"/>
          </p:nvPr>
        </p:nvSpPr>
        <p:spPr/>
        <p:txBody>
          <a:bodyPr anchor="ctr">
            <a:normAutofit/>
          </a:bodyPr>
          <a:lstStyle/>
          <a:p>
            <a:pPr>
              <a:spcAft>
                <a:spcPts val="600"/>
              </a:spcAft>
            </a:pPr>
            <a:fld id="{753D0FD4-819D-4187-8797-C35567B41C78}" type="slidenum">
              <a:rPr lang="en-US" smtClean="0"/>
              <a:pPr>
                <a:spcAft>
                  <a:spcPts val="600"/>
                </a:spcAft>
              </a:pPr>
              <a:t>22</a:t>
            </a:fld>
            <a:endParaRPr lang="en-US"/>
          </a:p>
        </p:txBody>
      </p:sp>
      <p:pic>
        <p:nvPicPr>
          <p:cNvPr id="8" name="Content Placeholder 7" descr="Artificial Intelligence digital concept with brain shape">
            <a:extLst>
              <a:ext uri="{FF2B5EF4-FFF2-40B4-BE49-F238E27FC236}">
                <a16:creationId xmlns:a16="http://schemas.microsoft.com/office/drawing/2014/main" id="{7060BFC1-BBB2-4689-AADD-F6E18F16B452}"/>
              </a:ext>
            </a:extLst>
          </p:cNvPr>
          <p:cNvPicPr>
            <a:picLocks noGrp="1" noChangeAspect="1"/>
          </p:cNvPicPr>
          <p:nvPr>
            <p:ph type="pic" sz="quarter" idx="13"/>
          </p:nvPr>
        </p:nvPicPr>
        <p:blipFill>
          <a:blip r:embed="rId3"/>
          <a:srcRect l="15809" r="15809"/>
          <a:stretch>
            <a:fillRect/>
          </a:stretch>
        </p:blipFill>
        <p:spPr>
          <a:prstGeom prst="rect">
            <a:avLst/>
          </a:prstGeom>
          <a:noFill/>
        </p:spPr>
      </p:pic>
      <p:sp>
        <p:nvSpPr>
          <p:cNvPr id="7" name="Content Placeholder 6">
            <a:extLst>
              <a:ext uri="{FF2B5EF4-FFF2-40B4-BE49-F238E27FC236}">
                <a16:creationId xmlns:a16="http://schemas.microsoft.com/office/drawing/2014/main" id="{0FEE50A7-94BE-32D2-8169-DD568F9230A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a:lnSpc>
                <a:spcPct val="200000"/>
              </a:lnSpc>
            </a:pPr>
            <a:r>
              <a:rPr lang="en-US" sz="2400" b="1" dirty="0"/>
              <a:t>Computational Biology Applies to Every Area of Life Science</a:t>
            </a:r>
          </a:p>
          <a:p>
            <a:pPr>
              <a:lnSpc>
                <a:spcPct val="200000"/>
              </a:lnSpc>
            </a:pPr>
            <a:r>
              <a:rPr lang="en-US" sz="2400" b="1" dirty="0"/>
              <a:t>Integrating Data Science Into BFE Research</a:t>
            </a:r>
          </a:p>
          <a:p>
            <a:pPr>
              <a:lnSpc>
                <a:spcPct val="200000"/>
              </a:lnSpc>
            </a:pPr>
            <a:r>
              <a:rPr lang="en-US" sz="2400" b="1" dirty="0"/>
              <a:t>Benefits to Students and Training</a:t>
            </a:r>
          </a:p>
        </p:txBody>
      </p:sp>
    </p:spTree>
    <p:extLst>
      <p:ext uri="{BB962C8B-B14F-4D97-AF65-F5344CB8AC3E}">
        <p14:creationId xmlns:p14="http://schemas.microsoft.com/office/powerpoint/2010/main" val="3301174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F1B9D-D805-310B-4628-CD1E9BC3A2D6}"/>
              </a:ext>
            </a:extLst>
          </p:cNvPr>
          <p:cNvSpPr>
            <a:spLocks noGrp="1"/>
          </p:cNvSpPr>
          <p:nvPr>
            <p:ph type="title"/>
          </p:nvPr>
        </p:nvSpPr>
        <p:spPr/>
        <p:txBody>
          <a:bodyPr anchor="b">
            <a:normAutofit/>
          </a:bodyPr>
          <a:lstStyle/>
          <a:p>
            <a:r>
              <a:rPr lang="en-US" altLang="zh-CN" dirty="0"/>
              <a:t>Why</a:t>
            </a:r>
            <a:r>
              <a:rPr lang="zh-CN" altLang="en-US" dirty="0"/>
              <a:t> </a:t>
            </a:r>
            <a:r>
              <a:rPr lang="en-US" altLang="zh-CN" dirty="0"/>
              <a:t>Me?</a:t>
            </a:r>
            <a:endParaRPr lang="en-US" dirty="0"/>
          </a:p>
        </p:txBody>
      </p:sp>
      <p:sp>
        <p:nvSpPr>
          <p:cNvPr id="3" name="Footer Placeholder 2">
            <a:extLst>
              <a:ext uri="{FF2B5EF4-FFF2-40B4-BE49-F238E27FC236}">
                <a16:creationId xmlns:a16="http://schemas.microsoft.com/office/drawing/2014/main" id="{0CE03ED7-D57F-5EDA-EA18-94CFB024F2A1}"/>
              </a:ext>
            </a:extLst>
          </p:cNvPr>
          <p:cNvSpPr>
            <a:spLocks noGrp="1"/>
          </p:cNvSpPr>
          <p:nvPr>
            <p:ph type="ftr" sz="quarter" idx="15"/>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4" name="Date Placeholder 3">
            <a:extLst>
              <a:ext uri="{FF2B5EF4-FFF2-40B4-BE49-F238E27FC236}">
                <a16:creationId xmlns:a16="http://schemas.microsoft.com/office/drawing/2014/main" id="{84857DBA-63C0-D639-8C76-992325BCBF42}"/>
              </a:ext>
            </a:extLst>
          </p:cNvPr>
          <p:cNvSpPr>
            <a:spLocks noGrp="1"/>
          </p:cNvSpPr>
          <p:nvPr>
            <p:ph type="dt" sz="half" idx="14"/>
          </p:nvPr>
        </p:nvSpPr>
        <p:spPr/>
        <p:txBody>
          <a:bodyPr anchor="ctr">
            <a:normAutofit/>
          </a:bodyPr>
          <a:lstStyle/>
          <a:p>
            <a:pPr>
              <a:spcAft>
                <a:spcPts val="600"/>
              </a:spcAft>
            </a:pPr>
            <a:fld id="{9EAD527F-9C49-4481-A18C-80BA2EA99E79}" type="datetime1">
              <a:rPr lang="en-US" smtClean="0"/>
              <a:pPr>
                <a:spcAft>
                  <a:spcPts val="600"/>
                </a:spcAft>
              </a:pPr>
              <a:t>11/22/25</a:t>
            </a:fld>
            <a:endParaRPr lang="en-US"/>
          </a:p>
        </p:txBody>
      </p:sp>
      <p:sp>
        <p:nvSpPr>
          <p:cNvPr id="5" name="Slide Number Placeholder 4">
            <a:extLst>
              <a:ext uri="{FF2B5EF4-FFF2-40B4-BE49-F238E27FC236}">
                <a16:creationId xmlns:a16="http://schemas.microsoft.com/office/drawing/2014/main" id="{9D6C908A-CE3D-973B-8987-414271BD5FFA}"/>
              </a:ext>
            </a:extLst>
          </p:cNvPr>
          <p:cNvSpPr>
            <a:spLocks noGrp="1"/>
          </p:cNvSpPr>
          <p:nvPr>
            <p:ph type="sldNum" sz="quarter" idx="16"/>
          </p:nvPr>
        </p:nvSpPr>
        <p:spPr/>
        <p:txBody>
          <a:bodyPr anchor="ctr">
            <a:normAutofit/>
          </a:bodyPr>
          <a:lstStyle/>
          <a:p>
            <a:pPr>
              <a:spcAft>
                <a:spcPts val="600"/>
              </a:spcAft>
            </a:pPr>
            <a:fld id="{753D0FD4-819D-4187-8797-C35567B41C78}" type="slidenum">
              <a:rPr lang="en-US" smtClean="0"/>
              <a:pPr>
                <a:spcAft>
                  <a:spcPts val="600"/>
                </a:spcAft>
              </a:pPr>
              <a:t>23</a:t>
            </a:fld>
            <a:endParaRPr lang="en-US"/>
          </a:p>
        </p:txBody>
      </p:sp>
      <p:sp>
        <p:nvSpPr>
          <p:cNvPr id="7" name="Content Placeholder 6">
            <a:extLst>
              <a:ext uri="{FF2B5EF4-FFF2-40B4-BE49-F238E27FC236}">
                <a16:creationId xmlns:a16="http://schemas.microsoft.com/office/drawing/2014/main" id="{AAAEE0A8-384F-029E-4A21-6AFC50C0016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sz="1400" b="1" dirty="0"/>
              <a:t>Academic and Industry Expertise</a:t>
            </a:r>
          </a:p>
          <a:p>
            <a:pPr marL="0" lvl="1" indent="0">
              <a:buFont typeface="Arial" panose="020B0604020202020204" pitchFamily="34" charset="0"/>
              <a:buNone/>
            </a:pPr>
            <a:r>
              <a:rPr lang="en-US" sz="1400" dirty="0"/>
              <a:t>Combines strong academic background with real-world industry experience bridging theory and practice.</a:t>
            </a:r>
          </a:p>
          <a:p>
            <a:pPr marL="0" indent="0">
              <a:spcBef>
                <a:spcPts val="2500"/>
              </a:spcBef>
              <a:buFont typeface="Arial" panose="020B0604020202020204" pitchFamily="34" charset="0"/>
              <a:buNone/>
            </a:pPr>
            <a:r>
              <a:rPr lang="en-US" sz="1400" b="1" dirty="0"/>
              <a:t>Data-Driven Insights</a:t>
            </a:r>
          </a:p>
          <a:p>
            <a:pPr marL="0" lvl="1" indent="0">
              <a:buFont typeface="Arial" panose="020B0604020202020204" pitchFamily="34" charset="0"/>
              <a:buNone/>
            </a:pPr>
            <a:r>
              <a:rPr lang="en-US" sz="1400" dirty="0"/>
              <a:t>Develops reliable and explainable genomics and machine learning pipelines to extract actionable insights from complex data.</a:t>
            </a:r>
          </a:p>
          <a:p>
            <a:pPr marL="0" indent="0">
              <a:spcBef>
                <a:spcPts val="2500"/>
              </a:spcBef>
              <a:buFont typeface="Arial" panose="020B0604020202020204" pitchFamily="34" charset="0"/>
              <a:buNone/>
            </a:pPr>
            <a:r>
              <a:rPr lang="en-US" sz="1400" b="1" dirty="0"/>
              <a:t>Commitment to Education</a:t>
            </a:r>
          </a:p>
          <a:p>
            <a:pPr marL="0" lvl="1" indent="0">
              <a:buFont typeface="Arial" panose="020B0604020202020204" pitchFamily="34" charset="0"/>
              <a:buNone/>
            </a:pPr>
            <a:r>
              <a:rPr lang="en-US" sz="1400" dirty="0"/>
              <a:t>Delivers scalable education through public tutorials, mobile apps, and conference presentations.</a:t>
            </a:r>
          </a:p>
          <a:p>
            <a:pPr marL="0" indent="0">
              <a:spcBef>
                <a:spcPts val="2500"/>
              </a:spcBef>
              <a:buFont typeface="Arial" panose="020B0604020202020204" pitchFamily="34" charset="0"/>
              <a:buNone/>
            </a:pPr>
            <a:r>
              <a:rPr lang="en-US" sz="1400" b="1" dirty="0"/>
              <a:t>Vision for GTIIT Lab</a:t>
            </a:r>
          </a:p>
          <a:p>
            <a:pPr marL="0" lvl="1" indent="0">
              <a:buFont typeface="Arial" panose="020B0604020202020204" pitchFamily="34" charset="0"/>
              <a:buNone/>
            </a:pPr>
            <a:r>
              <a:rPr lang="en-US" sz="1400" dirty="0"/>
              <a:t>Plans to establish functional labs integrating computational analysis and student research in Biological Food Engineering.</a:t>
            </a:r>
          </a:p>
        </p:txBody>
      </p:sp>
      <p:pic>
        <p:nvPicPr>
          <p:cNvPr id="8" name="Content Placeholder 7" descr="Scientist with studying a graphic on a screen">
            <a:extLst>
              <a:ext uri="{FF2B5EF4-FFF2-40B4-BE49-F238E27FC236}">
                <a16:creationId xmlns:a16="http://schemas.microsoft.com/office/drawing/2014/main" id="{68468647-0478-4A65-B8C8-4466D8660478}"/>
              </a:ext>
            </a:extLst>
          </p:cNvPr>
          <p:cNvPicPr>
            <a:picLocks noGrp="1" noChangeAspect="1"/>
          </p:cNvPicPr>
          <p:nvPr>
            <p:ph type="pic" sz="quarter" idx="13"/>
          </p:nvPr>
        </p:nvPicPr>
        <p:blipFill>
          <a:blip r:embed="rId3"/>
          <a:srcRect l="25851" r="25851"/>
          <a:stretch>
            <a:fillRect/>
          </a:stretch>
        </p:blipFill>
        <p:spPr>
          <a:prstGeom prst="rect">
            <a:avLst/>
          </a:prstGeom>
          <a:noFill/>
        </p:spPr>
      </p:pic>
    </p:spTree>
    <p:extLst>
      <p:ext uri="{BB962C8B-B14F-4D97-AF65-F5344CB8AC3E}">
        <p14:creationId xmlns:p14="http://schemas.microsoft.com/office/powerpoint/2010/main" val="3369108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9591F-F19C-9214-30C9-F277B6B210D9}"/>
              </a:ext>
            </a:extLst>
          </p:cNvPr>
          <p:cNvSpPr>
            <a:spLocks noGrp="1"/>
          </p:cNvSpPr>
          <p:nvPr>
            <p:ph type="title"/>
          </p:nvPr>
        </p:nvSpPr>
        <p:spPr/>
        <p:txBody>
          <a:bodyPr anchor="b">
            <a:normAutofit/>
          </a:bodyPr>
          <a:lstStyle/>
          <a:p>
            <a:r>
              <a:rPr lang="en-US" dirty="0"/>
              <a:t>Th</a:t>
            </a:r>
            <a:r>
              <a:rPr lang="en-US" altLang="zh-CN" dirty="0"/>
              <a:t>ank</a:t>
            </a:r>
            <a:r>
              <a:rPr lang="zh-CN" altLang="en-US" dirty="0"/>
              <a:t> </a:t>
            </a:r>
            <a:r>
              <a:rPr lang="en-US" altLang="zh-CN" dirty="0"/>
              <a:t>You!</a:t>
            </a:r>
            <a:r>
              <a:rPr lang="en-US" dirty="0"/>
              <a:t> </a:t>
            </a:r>
          </a:p>
        </p:txBody>
      </p:sp>
      <p:sp>
        <p:nvSpPr>
          <p:cNvPr id="4" name="Footer Placeholder 3">
            <a:extLst>
              <a:ext uri="{FF2B5EF4-FFF2-40B4-BE49-F238E27FC236}">
                <a16:creationId xmlns:a16="http://schemas.microsoft.com/office/drawing/2014/main" id="{24A8A2FD-C1F6-93F0-5B6E-C8BDD08B686A}"/>
              </a:ext>
            </a:extLst>
          </p:cNvPr>
          <p:cNvSpPr>
            <a:spLocks noGrp="1"/>
          </p:cNvSpPr>
          <p:nvPr>
            <p:ph type="ftr" sz="quarter" idx="11"/>
          </p:nvPr>
        </p:nvSpPr>
        <p:spPr>
          <a:xfrm>
            <a:off x="317773" y="207982"/>
            <a:ext cx="2963692" cy="413360"/>
          </a:xfrm>
        </p:spPr>
        <p:txBody>
          <a:bodyPr anchor="ctr">
            <a:normAutofit/>
          </a:bodyPr>
          <a:lstStyle/>
          <a:p>
            <a:pPr>
              <a:spcAft>
                <a:spcPts val="600"/>
              </a:spcAft>
            </a:pPr>
            <a:r>
              <a:rPr lang="en-US" dirty="0"/>
              <a:t>Footer Text</a:t>
            </a:r>
            <a:endParaRPr lang="en-US"/>
          </a:p>
        </p:txBody>
      </p:sp>
      <p:sp>
        <p:nvSpPr>
          <p:cNvPr id="6" name="Date Placeholder 5">
            <a:extLst>
              <a:ext uri="{FF2B5EF4-FFF2-40B4-BE49-F238E27FC236}">
                <a16:creationId xmlns:a16="http://schemas.microsoft.com/office/drawing/2014/main" id="{C43F2C80-CF61-58E5-EE46-B5BD9081A4F9}"/>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11/22/25</a:t>
            </a:fld>
            <a:endParaRPr lang="en-US"/>
          </a:p>
        </p:txBody>
      </p:sp>
      <p:sp>
        <p:nvSpPr>
          <p:cNvPr id="7" name="Slide Number Placeholder 6">
            <a:extLst>
              <a:ext uri="{FF2B5EF4-FFF2-40B4-BE49-F238E27FC236}">
                <a16:creationId xmlns:a16="http://schemas.microsoft.com/office/drawing/2014/main" id="{D8DFA2B7-8071-F669-593E-95B18F3F07A4}"/>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24</a:t>
            </a:fld>
            <a:endParaRPr lang="en-US"/>
          </a:p>
        </p:txBody>
      </p:sp>
    </p:spTree>
    <p:extLst>
      <p:ext uri="{BB962C8B-B14F-4D97-AF65-F5344CB8AC3E}">
        <p14:creationId xmlns:p14="http://schemas.microsoft.com/office/powerpoint/2010/main" val="12284789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5384</TotalTime>
  <Words>3676</Words>
  <Application>Microsoft Macintosh PowerPoint</Application>
  <PresentationFormat>Widescreen</PresentationFormat>
  <Paragraphs>218</Paragraphs>
  <Slides>24</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Big Biological Data Analysis</vt:lpstr>
      <vt:lpstr>Educational Background</vt:lpstr>
      <vt:lpstr>Career Highlights</vt:lpstr>
      <vt:lpstr>Career Summary: 20+ Years Delivering Impact</vt:lpstr>
      <vt:lpstr>GWAS Methodology</vt:lpstr>
      <vt:lpstr>Genome-Wide Association Study (GWAS)</vt:lpstr>
      <vt:lpstr>Exemplar GWAS Study</vt:lpstr>
      <vt:lpstr>PowerPoint Presentation</vt:lpstr>
      <vt:lpstr>Exemplar RNAseq Analysis</vt:lpstr>
      <vt:lpstr>RNAseq Differential Gene Expression Analysis</vt:lpstr>
      <vt:lpstr>PowerPoint Presentation</vt:lpstr>
      <vt:lpstr>Machine Learning Applications</vt:lpstr>
      <vt:lpstr>PowerPoint Presentation</vt:lpstr>
      <vt:lpstr>PowerPoint Presentation</vt:lpstr>
      <vt:lpstr>Other Contributions</vt:lpstr>
      <vt:lpstr>Publications — GWAS</vt:lpstr>
      <vt:lpstr>Publications — NGS &amp; Functional Genomics</vt:lpstr>
      <vt:lpstr>Publications — Functional Genomics &amp; ML</vt:lpstr>
      <vt:lpstr>Industry Highlights</vt:lpstr>
      <vt:lpstr>GTIIT Teaching Vision</vt:lpstr>
      <vt:lpstr>Passion For Teaching</vt:lpstr>
      <vt:lpstr>Integrating Computational Analysis into BFE</vt:lpstr>
      <vt:lpstr>Why 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Mousheng Xu</dc:creator>
  <cp:lastModifiedBy>Mousheng Xu</cp:lastModifiedBy>
  <cp:revision>76</cp:revision>
  <dcterms:created xsi:type="dcterms:W3CDTF">2025-11-15T11:01:53Z</dcterms:created>
  <dcterms:modified xsi:type="dcterms:W3CDTF">2025-11-22T15:42:47Z</dcterms:modified>
</cp:coreProperties>
</file>