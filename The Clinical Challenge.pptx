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Roboto Slab"/>
      <p:regular r:id="rId7"/>
      <p:bold r:id="rId8"/>
    </p:embeddedFont>
    <p:embeddedFont>
      <p:font typeface="Open Sans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penSans-italic.fntdata"/><Relationship Id="rId10" Type="http://schemas.openxmlformats.org/officeDocument/2006/relationships/font" Target="fonts/OpenSans-bold.fntdata"/><Relationship Id="rId12" Type="http://schemas.openxmlformats.org/officeDocument/2006/relationships/font" Target="fonts/OpenSans-boldItalic.fntdata"/><Relationship Id="rId9" Type="http://schemas.openxmlformats.org/officeDocument/2006/relationships/font" Target="fonts/Open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RobotoSlab-regular.fntdata"/><Relationship Id="rId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28254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803499"/>
            <a:ext cx="5238750" cy="143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56149"/>
            <a:ext cx="5238750" cy="174307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6381750" y="1336774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Definition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6381750" y="3489424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766E"/>
                </a:solidFill>
                <a:latin typeface="Roboto Slab"/>
                <a:ea typeface="Roboto Slab"/>
                <a:cs typeface="Roboto Slab"/>
                <a:sym typeface="Roboto Slab"/>
              </a:rPr>
              <a:t>Prognostic Significance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6381750" y="5937349"/>
            <a:ext cx="5238750" cy="920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Without accurate prediction, patients rely on standard factors which "are limited in their ability to successfully predict severe asthma exacerbations," potentially delaying optimal treatment strategies.</a:t>
            </a:r>
            <a:endParaRPr/>
          </a:p>
        </p:txBody>
      </p:sp>
      <p:pic>
        <p:nvPicPr>
          <p:cNvPr descr="image.png" id="91" name="Google Shape;91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228254"/>
            <a:ext cx="30575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6619875" y="1993999"/>
            <a:ext cx="48101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"The occurrence of either an </a:t>
            </a: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emergency room visit or a hospitalization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for asthma symptoms at any time during the clinical trial period."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619875" y="4146649"/>
            <a:ext cx="481012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"The ability to predict severe asthma exacerbations would therefore have </a:t>
            </a: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direct prognostic significance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 and might form the basis for the development of </a:t>
            </a:r>
            <a:r>
              <a:rPr b="1" i="0" lang="en-US" sz="1500" u="none" cap="none" strike="noStrike">
                <a:solidFill>
                  <a:srgbClr val="1E3A8A"/>
                </a:solidFill>
                <a:latin typeface="Open Sans"/>
                <a:ea typeface="Open Sans"/>
                <a:cs typeface="Open Sans"/>
                <a:sym typeface="Open Sans"/>
              </a:rPr>
              <a:t>novel therapeutic interventions</a:t>
            </a:r>
            <a:r>
              <a:rPr b="0" i="0" lang="en-US" sz="1500" u="none" cap="none" strike="noStrike">
                <a:solidFill>
                  <a:srgbClr val="334155"/>
                </a:solidFill>
                <a:latin typeface="Open Sans"/>
                <a:ea typeface="Open Sans"/>
                <a:cs typeface="Open Sans"/>
                <a:sym typeface="Open Sans"/>
              </a:rPr>
              <a:t>."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71500" y="12799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1E3A8A"/>
                </a:solidFill>
                <a:latin typeface="Roboto Slab"/>
                <a:ea typeface="Roboto Slab"/>
                <a:cs typeface="Roboto Slab"/>
                <a:sym typeface="Roboto Slab"/>
              </a:rPr>
              <a:t>The Clinical Challenge: Why Prediction Matters</a:t>
            </a:r>
            <a:endParaRPr/>
          </a:p>
        </p:txBody>
      </p:sp>
      <p:sp>
        <p:nvSpPr>
          <p:cNvPr id="95" name="Google Shape;95;p13"/>
          <p:cNvSpPr/>
          <p:nvPr/>
        </p:nvSpPr>
        <p:spPr>
          <a:xfrm>
            <a:off x="571500" y="679549"/>
            <a:ext cx="11049000" cy="285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