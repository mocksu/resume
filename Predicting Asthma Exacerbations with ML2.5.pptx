
<file path=[Content_Types].xml><?xml version="1.0" encoding="utf-8"?>
<Types xmlns="http://schemas.openxmlformats.org/package/2006/content-types">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0748"/>
  </p:normalViewPr>
  <p:slideViewPr>
    <p:cSldViewPr snapToGrid="0">
      <p:cViewPr varScale="1">
        <p:scale>
          <a:sx n="88" d="100"/>
          <a:sy n="88" d="100"/>
        </p:scale>
        <p:origin x="81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9" name="Shape 119"/>
          <p:cNvSpPr>
            <a:spLocks noGrp="1" noRot="1" noChangeAspect="1"/>
          </p:cNvSpPr>
          <p:nvPr>
            <p:ph type="sldImg"/>
          </p:nvPr>
        </p:nvSpPr>
        <p:spPr>
          <a:xfrm>
            <a:off x="1143000" y="685800"/>
            <a:ext cx="4572000" cy="3429000"/>
          </a:xfrm>
          <a:prstGeom prst="rect">
            <a:avLst/>
          </a:prstGeom>
        </p:spPr>
        <p:txBody>
          <a:bodyPr/>
          <a:lstStyle/>
          <a:p>
            <a:endParaRPr/>
          </a:p>
        </p:txBody>
      </p:sp>
      <p:sp>
        <p:nvSpPr>
          <p:cNvPr id="120" name="Shape 12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hape 129"/>
          <p:cNvSpPr>
            <a:spLocks noGrp="1" noRot="1" noChangeAspect="1"/>
          </p:cNvSpPr>
          <p:nvPr>
            <p:ph type="sldImg"/>
          </p:nvPr>
        </p:nvSpPr>
        <p:spPr>
          <a:prstGeom prst="rect">
            <a:avLst/>
          </a:prstGeom>
        </p:spPr>
        <p:txBody>
          <a:bodyPr/>
          <a:lstStyle/>
          <a:p>
            <a:endParaRPr/>
          </a:p>
        </p:txBody>
      </p:sp>
      <p:sp>
        <p:nvSpPr>
          <p:cNvPr id="130" name="Shape 130"/>
          <p:cNvSpPr>
            <a:spLocks noGrp="1"/>
          </p:cNvSpPr>
          <p:nvPr>
            <p:ph type="body" sz="quarter" idx="1"/>
          </p:nvPr>
        </p:nvSpPr>
        <p:spPr>
          <a:prstGeom prst="rect">
            <a:avLst/>
          </a:prstGeom>
        </p:spPr>
        <p:txBody>
          <a:bodyPr/>
          <a:lstStyle/>
          <a:p>
            <a:r>
              <a:t>Good morning/afternoon, everyone. I am Mousheng Xu.</a:t>
            </a:r>
          </a:p>
          <a:p>
            <a:endParaRPr/>
          </a:p>
          <a:p>
            <a:r>
              <a:t>First and foremost, I would like to express my sincere gratitude to Dr. Dganit for inviting me to this symposium and giving me the opportunity to speak today. It is truly an honor and a pleasure to be standing here.</a:t>
            </a:r>
          </a:p>
          <a:p>
            <a:endParaRPr/>
          </a:p>
          <a:p>
            <a:r>
              <a:t>Thank you all for taking time out of your busy schedules to join us.</a:t>
            </a:r>
          </a:p>
          <a:p>
            <a:endParaRPr/>
          </a:p>
          <a:p>
            <a:r>
              <a:t>Today, I will be presenting our research on "Predicting Severe Asthma Exacerbations", a side project I conducted while I was working on y Ph.D. dissertation at Harvard Medical School.</a:t>
            </a:r>
          </a:p>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Shape 151"/>
          <p:cNvSpPr>
            <a:spLocks noGrp="1" noRot="1" noChangeAspect="1"/>
          </p:cNvSpPr>
          <p:nvPr>
            <p:ph type="sldImg"/>
          </p:nvPr>
        </p:nvSpPr>
        <p:spPr>
          <a:xfrm>
            <a:off x="381000" y="685800"/>
            <a:ext cx="6096000" cy="3429000"/>
          </a:xfrm>
          <a:prstGeom prst="rect">
            <a:avLst/>
          </a:prstGeom>
        </p:spPr>
        <p:txBody>
          <a:bodyPr/>
          <a:lstStyle/>
          <a:p>
            <a:endParaRPr/>
          </a:p>
        </p:txBody>
      </p:sp>
      <p:sp>
        <p:nvSpPr>
          <p:cNvPr id="152" name="Shape 152"/>
          <p:cNvSpPr>
            <a:spLocks noGrp="1"/>
          </p:cNvSpPr>
          <p:nvPr>
            <p:ph type="body" sz="quarter" idx="1"/>
          </p:nvPr>
        </p:nvSpPr>
        <p:spPr>
          <a:prstGeom prst="rect">
            <a:avLst/>
          </a:prstGeom>
        </p:spPr>
        <p:txBody>
          <a:bodyPr/>
          <a:lstStyle/>
          <a:p>
            <a:r>
              <a:rPr dirty="0"/>
              <a:t>Please allow me to give a brief self introduction</a:t>
            </a:r>
            <a:br>
              <a:rPr dirty="0"/>
            </a:br>
            <a:br>
              <a:rPr dirty="0"/>
            </a:br>
            <a:r>
              <a:rPr dirty="0"/>
              <a:t>In terms of education, I have a …</a:t>
            </a:r>
            <a:br>
              <a:rPr dirty="0"/>
            </a:br>
            <a:br>
              <a:rPr dirty="0"/>
            </a:br>
            <a:r>
              <a:rPr dirty="0"/>
              <a:t>In terms of work experience, I have more than 20 years of experience in software development, bioinformatics or computational biology, statistical genetics, and machine learning</a:t>
            </a:r>
            <a:br>
              <a:rPr dirty="0"/>
            </a:br>
            <a:br>
              <a:rPr dirty="0"/>
            </a:br>
            <a:r>
              <a:rPr dirty="0"/>
              <a:t>For things I feel proud of, I worked on …</a:t>
            </a:r>
            <a:br>
              <a:rPr dirty="0"/>
            </a:br>
            <a:br>
              <a:rPr dirty="0"/>
            </a:br>
            <a:r>
              <a:rPr dirty="0"/>
              <a:t>One of my major early contributions was to the ENCODE project.</a:t>
            </a:r>
          </a:p>
          <a:p>
            <a:r>
              <a:rPr dirty="0"/>
              <a:t>ENCODE is an international consortium aimed at identifying all functional elements in the human genome.</a:t>
            </a:r>
            <a:br>
              <a:rPr dirty="0"/>
            </a:br>
            <a:br>
              <a:rPr dirty="0"/>
            </a:br>
            <a:r>
              <a:rPr dirty="0"/>
              <a:t>Million Veteran Program, which is one of the world’s largest genomic and clinical databases, combining genetic data with electronic health records from over a million participants</a:t>
            </a:r>
            <a:br>
              <a:rPr dirty="0"/>
            </a:b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Shape 165"/>
          <p:cNvSpPr>
            <a:spLocks noGrp="1" noRot="1" noChangeAspect="1"/>
          </p:cNvSpPr>
          <p:nvPr>
            <p:ph type="sldImg"/>
          </p:nvPr>
        </p:nvSpPr>
        <p:spPr>
          <a:prstGeom prst="rect">
            <a:avLst/>
          </a:prstGeom>
        </p:spPr>
        <p:txBody>
          <a:bodyPr/>
          <a:lstStyle/>
          <a:p>
            <a:endParaRPr/>
          </a:p>
        </p:txBody>
      </p:sp>
      <p:sp>
        <p:nvSpPr>
          <p:cNvPr id="166" name="Shape 166"/>
          <p:cNvSpPr>
            <a:spLocks noGrp="1"/>
          </p:cNvSpPr>
          <p:nvPr>
            <p:ph type="body" sz="quarter" idx="1"/>
          </p:nvPr>
        </p:nvSpPr>
        <p:spPr>
          <a:prstGeom prst="rect">
            <a:avLst/>
          </a:prstGeom>
        </p:spPr>
        <p:txBody>
          <a:bodyPr/>
          <a:lstStyle/>
          <a:p>
            <a:r>
              <a:t>Today The core clinical problem we addressed is prediction.</a:t>
            </a:r>
          </a:p>
          <a:p>
            <a:r>
              <a:t>Severe asthma exacerbations—defined as events requiring emergency room visits or hospitalization—are dangerous, costly, and difficult to foresee. The ability to predict this risk early using genetic markers would have direct prognostic significance, forming the basis for earlier and more effective therapeutic interventions.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Shape 186"/>
          <p:cNvSpPr>
            <a:spLocks noGrp="1" noRot="1" noChangeAspect="1"/>
          </p:cNvSpPr>
          <p:nvPr>
            <p:ph type="sldImg"/>
          </p:nvPr>
        </p:nvSpPr>
        <p:spPr>
          <a:xfrm>
            <a:off x="381000" y="685800"/>
            <a:ext cx="6096000" cy="3429000"/>
          </a:xfrm>
          <a:prstGeom prst="rect">
            <a:avLst/>
          </a:prstGeom>
        </p:spPr>
        <p:txBody>
          <a:bodyPr/>
          <a:lstStyle/>
          <a:p>
            <a:endParaRPr/>
          </a:p>
        </p:txBody>
      </p:sp>
      <p:sp>
        <p:nvSpPr>
          <p:cNvPr id="187" name="Shape 187"/>
          <p:cNvSpPr>
            <a:spLocks noGrp="1"/>
          </p:cNvSpPr>
          <p:nvPr>
            <p:ph type="body" sz="quarter" idx="1"/>
          </p:nvPr>
        </p:nvSpPr>
        <p:spPr>
          <a:prstGeom prst="rect">
            <a:avLst/>
          </a:prstGeom>
        </p:spPr>
        <p:txBody>
          <a:bodyPr/>
          <a:lstStyle/>
          <a:p>
            <a:r>
              <a:t>Our analysis faced a classic but severe statistical hurdle: "Small N, Large P."</a:t>
            </a:r>
          </a:p>
          <a:p>
            <a:r>
              <a:t>We had a high-quality dataset of 417 subjects (Small N), but we had to screen over 550,000 genetic and clinical predictors (Large P).</a:t>
            </a:r>
          </a:p>
          <a:p>
            <a:r>
              <a:t>Standard methods like Logistic Regression fail in this scenario because they cannot handle such high dimensionality without overfitting. We needed a machine learning tool specifically designed for this scale.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Shape 209"/>
          <p:cNvSpPr>
            <a:spLocks noGrp="1" noRot="1" noChangeAspect="1"/>
          </p:cNvSpPr>
          <p:nvPr>
            <p:ph type="sldImg"/>
          </p:nvPr>
        </p:nvSpPr>
        <p:spPr>
          <a:xfrm>
            <a:off x="381000" y="685800"/>
            <a:ext cx="6096000" cy="3429000"/>
          </a:xfrm>
          <a:prstGeom prst="rect">
            <a:avLst/>
          </a:prstGeom>
        </p:spPr>
        <p:txBody>
          <a:bodyPr/>
          <a:lstStyle/>
          <a:p>
            <a:endParaRPr/>
          </a:p>
        </p:txBody>
      </p:sp>
      <p:sp>
        <p:nvSpPr>
          <p:cNvPr id="210" name="Shape 210"/>
          <p:cNvSpPr>
            <a:spLocks noGrp="1"/>
          </p:cNvSpPr>
          <p:nvPr>
            <p:ph type="body" sz="quarter" idx="1"/>
          </p:nvPr>
        </p:nvSpPr>
        <p:spPr>
          <a:prstGeom prst="rect">
            <a:avLst/>
          </a:prstGeom>
        </p:spPr>
        <p:txBody>
          <a:bodyPr/>
          <a:lstStyle/>
          <a:p>
            <a:r>
              <a:t>Our solution was the Random Forest classifier.</a:t>
            </a:r>
          </a:p>
          <a:p>
            <a:r>
              <a:t>As the diagram on the left shows, a single Decision Tree can be unstable. However, the Random Forest (on the right) uses an ensemble of hundreds of trees.</a:t>
            </a:r>
          </a:p>
          <a:p>
            <a:r>
              <a:t>Each tree is trained on a random subset of data and votes on the outcome. We then use a "Majority Vote" mechanism to determine the final prediction. This "wisdom of the crowds" approach drastically increases stability and accuracy compared to any single model.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Shape 216"/>
          <p:cNvSpPr>
            <a:spLocks noGrp="1" noRot="1" noChangeAspect="1"/>
          </p:cNvSpPr>
          <p:nvPr>
            <p:ph type="sldImg"/>
          </p:nvPr>
        </p:nvSpPr>
        <p:spPr>
          <a:prstGeom prst="rect">
            <a:avLst/>
          </a:prstGeom>
        </p:spPr>
        <p:txBody>
          <a:bodyPr/>
          <a:lstStyle/>
          <a:p>
            <a:endParaRPr/>
          </a:p>
        </p:txBody>
      </p:sp>
      <p:sp>
        <p:nvSpPr>
          <p:cNvPr id="217" name="Shape 217"/>
          <p:cNvSpPr>
            <a:spLocks noGrp="1"/>
          </p:cNvSpPr>
          <p:nvPr>
            <p:ph type="body" sz="quarter" idx="1"/>
          </p:nvPr>
        </p:nvSpPr>
        <p:spPr>
          <a:prstGeom prst="rect">
            <a:avLst/>
          </a:prstGeom>
        </p:spPr>
        <p:txBody>
          <a:bodyPr/>
          <a:lstStyle/>
          <a:p>
            <a:r>
              <a:t>Briefly, here are the key terms for this analysis:</a:t>
            </a:r>
          </a:p>
          <a:p>
            <a:r>
              <a:t>SNP (Single Nucleotide Polymorphism): The single-letter genetic variations we used as predictors.</a:t>
            </a:r>
          </a:p>
          <a:p>
            <a:r>
              <a:t>Importance Score: The metric Random Forest uses to rank predictors by their predictive power.</a:t>
            </a:r>
          </a:p>
          <a:p>
            <a:r>
              <a:t>AUC (Area Under the Curve): Our measure of success. 0.5 is a random guess; 1.0 is perfect prediction. We aim to maximize this.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hape 223"/>
          <p:cNvSpPr>
            <a:spLocks noGrp="1" noRot="1" noChangeAspect="1"/>
          </p:cNvSpPr>
          <p:nvPr>
            <p:ph type="sldImg"/>
          </p:nvPr>
        </p:nvSpPr>
        <p:spPr>
          <a:prstGeom prst="rect">
            <a:avLst/>
          </a:prstGeom>
        </p:spPr>
        <p:txBody>
          <a:bodyPr/>
          <a:lstStyle/>
          <a:p>
            <a:endParaRPr/>
          </a:p>
        </p:txBody>
      </p:sp>
      <p:sp>
        <p:nvSpPr>
          <p:cNvPr id="224" name="Shape 224"/>
          <p:cNvSpPr>
            <a:spLocks noGrp="1"/>
          </p:cNvSpPr>
          <p:nvPr>
            <p:ph type="body" sz="quarter" idx="1"/>
          </p:nvPr>
        </p:nvSpPr>
        <p:spPr>
          <a:prstGeom prst="rect">
            <a:avLst/>
          </a:prstGeom>
        </p:spPr>
        <p:txBody>
          <a:bodyPr/>
          <a:lstStyle/>
          <a:p>
            <a:r>
              <a:t>During model building, RF uses a method to estimate how importance a predictor (or a feature) is, and assign a importance score to each predictor. The higher the importance score, the more contribution the predictor makes to the prediction.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Shape 231"/>
          <p:cNvSpPr>
            <a:spLocks noGrp="1" noRot="1" noChangeAspect="1"/>
          </p:cNvSpPr>
          <p:nvPr>
            <p:ph type="sldImg"/>
          </p:nvPr>
        </p:nvSpPr>
        <p:spPr>
          <a:xfrm>
            <a:off x="381000" y="685800"/>
            <a:ext cx="6096000" cy="3429000"/>
          </a:xfrm>
          <a:prstGeom prst="rect">
            <a:avLst/>
          </a:prstGeom>
        </p:spPr>
        <p:txBody>
          <a:bodyPr/>
          <a:lstStyle/>
          <a:p>
            <a:endParaRPr/>
          </a:p>
        </p:txBody>
      </p:sp>
      <p:sp>
        <p:nvSpPr>
          <p:cNvPr id="232" name="Shape 232"/>
          <p:cNvSpPr>
            <a:spLocks noGrp="1"/>
          </p:cNvSpPr>
          <p:nvPr>
            <p:ph type="body" sz="quarter" idx="1"/>
          </p:nvPr>
        </p:nvSpPr>
        <p:spPr>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sz="1400" b="1" i="0" u="none" strike="noStrike" dirty="0">
              <a:effectLst/>
              <a:latin typeface="+mn-lt"/>
              <a:ea typeface="+mn-ea"/>
              <a:cs typeface="+mn-cs"/>
              <a:sym typeface="Arial"/>
            </a:endParaRPr>
          </a:p>
          <a:p>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Shape 264"/>
          <p:cNvSpPr>
            <a:spLocks noGrp="1" noRot="1" noChangeAspect="1"/>
          </p:cNvSpPr>
          <p:nvPr>
            <p:ph type="sldImg"/>
          </p:nvPr>
        </p:nvSpPr>
        <p:spPr>
          <a:prstGeom prst="rect">
            <a:avLst/>
          </a:prstGeom>
        </p:spPr>
        <p:txBody>
          <a:bodyPr/>
          <a:lstStyle/>
          <a:p>
            <a:endParaRPr/>
          </a:p>
        </p:txBody>
      </p:sp>
      <p:sp>
        <p:nvSpPr>
          <p:cNvPr id="265" name="Shape 265"/>
          <p:cNvSpPr>
            <a:spLocks noGrp="1"/>
          </p:cNvSpPr>
          <p:nvPr>
            <p:ph type="body" sz="quarter" idx="1"/>
          </p:nvPr>
        </p:nvSpPr>
        <p:spPr>
          <a:prstGeom prst="rect">
            <a:avLst/>
          </a:prstGeom>
        </p:spPr>
        <p:txBody>
          <a:bodyPr/>
          <a:lstStyle/>
          <a:p>
            <a:r>
              <a:t>We developed a three-step filtering pipeline to find the true genetic signal among the noise:</a:t>
            </a:r>
          </a:p>
          <a:p>
            <a:r>
              <a:t>Initial Screen: We scored all 550,000 SNPs using the Random Forest Importance metric.</a:t>
            </a:r>
          </a:p>
          <a:p>
            <a:r>
              <a:t>Ranking: We isolated the top 4,000 signals and re-ran the model to stabilize the rankings.</a:t>
            </a:r>
          </a:p>
          <a:p>
            <a:r>
              <a:t>Prediction: Finally, we built models using increasing subsets of these top SNPs (Top 10, 40, 160, etc.) combined with clinical traits to find the peak performance.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Shape 271"/>
          <p:cNvSpPr>
            <a:spLocks noGrp="1" noRot="1" noChangeAspect="1"/>
          </p:cNvSpPr>
          <p:nvPr>
            <p:ph type="sldImg"/>
          </p:nvPr>
        </p:nvSpPr>
        <p:spPr>
          <a:prstGeom prst="rect">
            <a:avLst/>
          </a:prstGeom>
        </p:spPr>
        <p:txBody>
          <a:bodyPr/>
          <a:lstStyle/>
          <a:p>
            <a:endParaRPr/>
          </a:p>
        </p:txBody>
      </p:sp>
      <p:sp>
        <p:nvSpPr>
          <p:cNvPr id="272" name="Shape 272"/>
          <p:cNvSpPr>
            <a:spLocks noGrp="1"/>
          </p:cNvSpPr>
          <p:nvPr>
            <p:ph type="body" sz="quarter" idx="1"/>
          </p:nvPr>
        </p:nvSpPr>
        <p:spPr>
          <a:prstGeom prst="rect">
            <a:avLst/>
          </a:prstGeom>
        </p:spPr>
        <p:txBody>
          <a:bodyPr/>
          <a:lstStyle/>
          <a:p>
            <a:r>
              <a:t>Unlike a traditional GWAS Manhattan plot which shows -log(p-values), this plot visualizes Random Forest Importance Scores across the genome.</a:t>
            </a:r>
          </a:p>
          <a:p>
            <a:endParaRPr/>
          </a:p>
          <a:p>
            <a:r>
              <a:t>The "peaks" represent SNPs that contribute most significantly to classifying a patient as an "Exacerbator" vs. “Non-Exacerbator".</a:t>
            </a:r>
          </a:p>
          <a:p>
            <a:endParaRPr/>
          </a:p>
          <a:p>
            <a:r>
              <a:t>We identified a clear signal distinguishing the top predictive SNPs from the genomic background noise.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Shape 280"/>
          <p:cNvSpPr>
            <a:spLocks noGrp="1" noRot="1" noChangeAspect="1"/>
          </p:cNvSpPr>
          <p:nvPr>
            <p:ph type="sldImg"/>
          </p:nvPr>
        </p:nvSpPr>
        <p:spPr>
          <a:xfrm>
            <a:off x="381000" y="685800"/>
            <a:ext cx="6096000" cy="3429000"/>
          </a:xfrm>
          <a:prstGeom prst="rect">
            <a:avLst/>
          </a:prstGeom>
        </p:spPr>
        <p:txBody>
          <a:bodyPr/>
          <a:lstStyle/>
          <a:p>
            <a:endParaRPr/>
          </a:p>
        </p:txBody>
      </p:sp>
      <p:sp>
        <p:nvSpPr>
          <p:cNvPr id="281" name="Shape 281"/>
          <p:cNvSpPr>
            <a:spLocks noGrp="1"/>
          </p:cNvSpPr>
          <p:nvPr>
            <p:ph type="body" sz="quarter" idx="1"/>
          </p:nvPr>
        </p:nvSpPr>
        <p:spPr>
          <a:prstGeom prst="rect">
            <a:avLst/>
          </a:prstGeom>
        </p:spPr>
        <p:txBody>
          <a:bodyPr/>
          <a:lstStyle/>
          <a:p>
            <a:r>
              <a:rPr dirty="0"/>
              <a:t>Here is the key result.</a:t>
            </a:r>
          </a:p>
          <a:p>
            <a:r>
              <a:rPr dirty="0"/>
              <a:t>The gray bar shows the model using only clinical traits—it achieved an AUC of 0.54, which is barely better than random.</a:t>
            </a:r>
          </a:p>
          <a:p>
            <a:pPr marL="0" marR="0" lvl="0" indent="0" defTabSz="914400" eaLnBrk="1" fontAlgn="auto" latinLnBrk="0" hangingPunct="1">
              <a:lnSpc>
                <a:spcPct val="100000"/>
              </a:lnSpc>
              <a:spcBef>
                <a:spcPts val="0"/>
              </a:spcBef>
              <a:spcAft>
                <a:spcPts val="0"/>
              </a:spcAft>
              <a:buClrTx/>
              <a:buSzTx/>
              <a:buFontTx/>
              <a:buNone/>
              <a:tabLst/>
              <a:defRPr/>
            </a:pPr>
            <a:r>
              <a:rPr dirty="0"/>
              <a:t>However, as we added the top genetic markers (the blue and green bars), the accuracy climbed significantly. We reached a peak AUC of 0.66 using the Top 160 SNPs. This proves that the genetic signature provides predictive value that clinical history alone cannot capture.</a:t>
            </a:r>
            <a:br>
              <a:rPr lang="en-US" dirty="0"/>
            </a:br>
            <a:br>
              <a:rPr lang="en-US" dirty="0"/>
            </a:br>
            <a:r>
              <a:rPr lang="en-US" dirty="0"/>
              <a:t>Internal cross-validation: 9 fold cross-validation. “</a:t>
            </a:r>
            <a:r>
              <a:rPr lang="en-US" dirty="0">
                <a:effectLst/>
              </a:rPr>
              <a:t>Internal cross-validation: the AUC of the model built with 90% of the randomly selected Stage 1 samples predicting on the rest (10%) of the Stage 1 samples."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Shape 314"/>
          <p:cNvSpPr>
            <a:spLocks noGrp="1" noRot="1" noChangeAspect="1"/>
          </p:cNvSpPr>
          <p:nvPr>
            <p:ph type="sldImg"/>
          </p:nvPr>
        </p:nvSpPr>
        <p:spPr>
          <a:prstGeom prst="rect">
            <a:avLst/>
          </a:prstGeom>
        </p:spPr>
        <p:txBody>
          <a:bodyPr/>
          <a:lstStyle/>
          <a:p>
            <a:endParaRPr/>
          </a:p>
        </p:txBody>
      </p:sp>
      <p:sp>
        <p:nvSpPr>
          <p:cNvPr id="315" name="Shape 315"/>
          <p:cNvSpPr>
            <a:spLocks noGrp="1"/>
          </p:cNvSpPr>
          <p:nvPr>
            <p:ph type="body" sz="quarter" idx="1"/>
          </p:nvPr>
        </p:nvSpPr>
        <p:spPr>
          <a:prstGeom prst="rect">
            <a:avLst/>
          </a:prstGeom>
        </p:spPr>
        <p:txBody>
          <a:bodyPr/>
          <a:lstStyle/>
          <a:p>
            <a:r>
              <a:t>In machine learning, validation is everything. We ensured our results were robust through:</a:t>
            </a:r>
          </a:p>
          <a:p>
            <a:r>
              <a:t>Permutation Testing: Proving our results were not due to chance.</a:t>
            </a:r>
          </a:p>
          <a:p>
            <a:r>
              <a:t>Independent Replication: Most importantly, we tested the model on a completely separate cohort of 164 subjects, and the AUC held steady at 0.66.</a:t>
            </a:r>
          </a:p>
          <a:p>
            <a:r>
              <a:t>This rigorous validation is why the work was recognized as a "Scientific Breakthrough of the Year" by the American Thoracic Society (ATS).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Shape 319"/>
          <p:cNvSpPr>
            <a:spLocks noGrp="1" noRot="1" noChangeAspect="1"/>
          </p:cNvSpPr>
          <p:nvPr>
            <p:ph type="sldImg"/>
          </p:nvPr>
        </p:nvSpPr>
        <p:spPr>
          <a:prstGeom prst="rect">
            <a:avLst/>
          </a:prstGeom>
        </p:spPr>
        <p:txBody>
          <a:bodyPr/>
          <a:lstStyle/>
          <a:p>
            <a:endParaRPr/>
          </a:p>
        </p:txBody>
      </p:sp>
      <p:sp>
        <p:nvSpPr>
          <p:cNvPr id="320" name="Shape 320"/>
          <p:cNvSpPr>
            <a:spLocks noGrp="1"/>
          </p:cNvSpPr>
          <p:nvPr>
            <p:ph type="body" sz="quarter" idx="1"/>
          </p:nvPr>
        </p:nvSpPr>
        <p:spPr>
          <a:prstGeom prst="rect">
            <a:avLst/>
          </a:prstGeom>
        </p:spPr>
        <p:txBody>
          <a:bodyPr/>
          <a:lstStyle/>
          <a:p>
            <a:r>
              <a:t>My research impact extends well beyond this study.</a:t>
            </a:r>
          </a:p>
          <a:p>
            <a:r>
              <a:t>I have published extensively in both Genome-Wide Association Studies (GWAS) and Next-Generation Sequencing (NGS). My work includes high-impact papers in journals like Science and Nature Cell Biology, covering topics ranging from Melanoma risk and Pancreatic cancer survival to the fundamental mechanisms of transcription.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Shape 325"/>
          <p:cNvSpPr>
            <a:spLocks noGrp="1" noRot="1" noChangeAspect="1"/>
          </p:cNvSpPr>
          <p:nvPr>
            <p:ph type="sldImg"/>
          </p:nvPr>
        </p:nvSpPr>
        <p:spPr>
          <a:xfrm>
            <a:off x="381000" y="685800"/>
            <a:ext cx="6096000" cy="3429000"/>
          </a:xfrm>
          <a:prstGeom prst="rect">
            <a:avLst/>
          </a:prstGeom>
        </p:spPr>
        <p:txBody>
          <a:bodyPr/>
          <a:lstStyle/>
          <a:p>
            <a:endParaRPr/>
          </a:p>
        </p:txBody>
      </p:sp>
      <p:sp>
        <p:nvSpPr>
          <p:cNvPr id="326" name="Shape 326"/>
          <p:cNvSpPr>
            <a:spLocks noGrp="1"/>
          </p:cNvSpPr>
          <p:nvPr>
            <p:ph type="body" sz="quarter" idx="1"/>
          </p:nvPr>
        </p:nvSpPr>
        <p:spPr>
          <a:prstGeom prst="rect">
            <a:avLst/>
          </a:prstGeom>
        </p:spPr>
        <p:txBody>
          <a:bodyPr/>
          <a:lstStyle/>
          <a:p>
            <a:r>
              <a:t>I also bring strong industry and technical depth.</a:t>
            </a:r>
          </a:p>
          <a:p>
            <a:r>
              <a:t>Beyond Random Forests, I have deployed Natural Language Processing (NLP) models for NIH datasets and LSTM deep learning models for time-series prediction.</a:t>
            </a:r>
          </a:p>
          <a:p>
            <a:r>
              <a:t>As a founder of Vidagen and a lead at D2M and Booz Allen, I have a proven track record of translating these theoretical models into functional, large-scale genomic pipelines in the private sector.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Shape 332"/>
          <p:cNvSpPr>
            <a:spLocks noGrp="1" noRot="1" noChangeAspect="1"/>
          </p:cNvSpPr>
          <p:nvPr>
            <p:ph type="sldImg"/>
          </p:nvPr>
        </p:nvSpPr>
        <p:spPr>
          <a:prstGeom prst="rect">
            <a:avLst/>
          </a:prstGeom>
        </p:spPr>
        <p:txBody>
          <a:bodyPr/>
          <a:lstStyle/>
          <a:p>
            <a:endParaRPr/>
          </a:p>
        </p:txBody>
      </p:sp>
      <p:sp>
        <p:nvSpPr>
          <p:cNvPr id="333" name="Shape 333"/>
          <p:cNvSpPr>
            <a:spLocks noGrp="1"/>
          </p:cNvSpPr>
          <p:nvPr>
            <p:ph type="body" sz="quarter" idx="1"/>
          </p:nvPr>
        </p:nvSpPr>
        <p:spPr>
          <a:prstGeom prst="rect">
            <a:avLst/>
          </a:prstGeom>
        </p:spPr>
        <p:txBody>
          <a:bodyPr/>
          <a:lstStyle/>
          <a:p>
            <a:r>
              <a:t>I view this opportunity as a chance to drive significant strategic growth. </a:t>
            </a:r>
            <a:br/>
            <a:br/>
            <a:r>
              <a:t>If I were selected for this role,  my vision would be to establish a lab that bridges biology and data science.</a:t>
            </a:r>
          </a:p>
          <a:p>
            <a:endParaRPr/>
          </a:p>
          <a:p>
            <a:r>
              <a:t>Curriculum: I will fill the skills gap by teaching practical Machine Learning and Bioinformatics to students.</a:t>
            </a:r>
          </a:p>
          <a:p>
            <a:endParaRPr/>
          </a:p>
          <a:p>
            <a:r>
              <a:t>Research: We will apply explainable AI to complex food and biological data.</a:t>
            </a:r>
          </a:p>
          <a:p>
            <a:endParaRPr/>
          </a:p>
          <a:p>
            <a:r>
              <a:t>Innovation: We will translate large-scale omics data into actionable engineering insights for industrial applications.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Shape 345"/>
          <p:cNvSpPr>
            <a:spLocks noGrp="1" noRot="1" noChangeAspect="1"/>
          </p:cNvSpPr>
          <p:nvPr>
            <p:ph type="sldImg"/>
          </p:nvPr>
        </p:nvSpPr>
        <p:spPr>
          <a:prstGeom prst="rect">
            <a:avLst/>
          </a:prstGeom>
        </p:spPr>
        <p:txBody>
          <a:bodyPr/>
          <a:lstStyle/>
          <a:p>
            <a:endParaRPr/>
          </a:p>
        </p:txBody>
      </p:sp>
      <p:sp>
        <p:nvSpPr>
          <p:cNvPr id="346" name="Shape 346"/>
          <p:cNvSpPr>
            <a:spLocks noGrp="1"/>
          </p:cNvSpPr>
          <p:nvPr>
            <p:ph type="body" sz="quarter" idx="1"/>
          </p:nvPr>
        </p:nvSpPr>
        <p:spPr>
          <a:prstGeom prst="rect">
            <a:avLst/>
          </a:prstGeom>
        </p:spPr>
        <p:txBody>
          <a:bodyPr/>
          <a:lstStyle/>
          <a:p>
            <a:r>
              <a:t>Thank you very much for your time.</a:t>
            </a:r>
          </a:p>
          <a:p>
            <a:r>
              <a:t>I would be delighted to discuss how my expertise can contribute to the future of the BFE Department. I welcome your questions.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40205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18"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9" name="Body Level One…"/>
          <p:cNvSpPr txBox="1">
            <a:spLocks noGrp="1"/>
          </p:cNvSpPr>
          <p:nvPr>
            <p:ph type="body" sz="quarter" idx="1"/>
          </p:nvPr>
        </p:nvSpPr>
        <p:spPr>
          <a:xfrm>
            <a:off x="1371600" y="3886200"/>
            <a:ext cx="6400800" cy="1752600"/>
          </a:xfrm>
          <a:prstGeom prst="rect">
            <a:avLst/>
          </a:prstGeom>
        </p:spPr>
        <p:txBody>
          <a:bodyPr/>
          <a:lstStyle>
            <a:lvl1pPr marL="381000" indent="-355600" algn="ctr">
              <a:buClrTx/>
              <a:buSzTx/>
              <a:buFontTx/>
              <a:buNone/>
              <a:defRPr>
                <a:solidFill>
                  <a:srgbClr val="888888"/>
                </a:solidFill>
              </a:defRPr>
            </a:lvl1pPr>
            <a:lvl2pPr marL="381000" indent="25400" algn="ctr">
              <a:buClrTx/>
              <a:buSzTx/>
              <a:buFontTx/>
              <a:buNone/>
              <a:defRPr>
                <a:solidFill>
                  <a:srgbClr val="888888"/>
                </a:solidFill>
              </a:defRPr>
            </a:lvl2pPr>
            <a:lvl3pPr marL="381000" indent="25400" algn="ctr">
              <a:buClrTx/>
              <a:buSzTx/>
              <a:buFontTx/>
              <a:buNone/>
              <a:defRPr>
                <a:solidFill>
                  <a:srgbClr val="888888"/>
                </a:solidFill>
              </a:defRPr>
            </a:lvl3pPr>
            <a:lvl4pPr marL="381000" indent="25400" algn="ctr">
              <a:buClrTx/>
              <a:buSzTx/>
              <a:buFontTx/>
              <a:buNone/>
              <a:defRPr>
                <a:solidFill>
                  <a:srgbClr val="888888"/>
                </a:solidFill>
              </a:defRPr>
            </a:lvl4pPr>
            <a:lvl5pPr marL="381000" indent="25400" algn="ctr">
              <a:buClrTx/>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28" name="Body Level One…"/>
          <p:cNvSpPr txBox="1">
            <a:spLocks noGrp="1"/>
          </p:cNvSpPr>
          <p:nvPr>
            <p:ph type="body" idx="1"/>
          </p:nvPr>
        </p:nvSpPr>
        <p:spPr>
          <a:xfrm>
            <a:off x="457200" y="1600200"/>
            <a:ext cx="8229600" cy="4525963"/>
          </a:xfrm>
          <a:prstGeom prst="rect">
            <a:avLst/>
          </a:prstGeom>
        </p:spPr>
        <p:txBody>
          <a:bodyPr/>
          <a:lstStyle>
            <a:lvl1pPr indent="-342900">
              <a:spcBef>
                <a:spcPts val="300"/>
              </a:spcBef>
            </a:lvl1pPr>
            <a:lvl2pPr marL="963384" indent="-391884">
              <a:spcBef>
                <a:spcPts val="300"/>
              </a:spcBef>
            </a:lvl2pPr>
            <a:lvl3pPr marL="1485900" indent="-457200">
              <a:spcBef>
                <a:spcPts val="300"/>
              </a:spcBef>
            </a:lvl3pPr>
            <a:lvl4pPr marL="2034538" indent="-548638">
              <a:spcBef>
                <a:spcPts val="300"/>
              </a:spcBef>
            </a:lvl4pPr>
            <a:lvl5pPr marL="2491738" indent="-548638">
              <a:spcBef>
                <a:spcPts val="300"/>
              </a:spcBef>
            </a:lvl5pPr>
          </a:lstStyle>
          <a:p>
            <a:r>
              <a:t>Body Level One</a:t>
            </a:r>
          </a:p>
          <a:p>
            <a:pPr lvl="1"/>
            <a:r>
              <a:t>Body Level Two</a:t>
            </a:r>
          </a:p>
          <a:p>
            <a:pPr lvl="2"/>
            <a:r>
              <a:t>Body Level Three</a:t>
            </a:r>
          </a:p>
          <a:p>
            <a:pPr lvl="3"/>
            <a:r>
              <a:t>Body Level Four</a:t>
            </a:r>
          </a:p>
          <a:p>
            <a:pPr lvl="4"/>
            <a:r>
              <a:t>Body Level Five</a:t>
            </a:r>
          </a:p>
        </p:txBody>
      </p:sp>
      <p:sp>
        <p:nvSpPr>
          <p:cNvPr id="2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36" name="Title Text"/>
          <p:cNvSpPr txBox="1">
            <a:spLocks noGrp="1"/>
          </p:cNvSpPr>
          <p:nvPr>
            <p:ph type="title"/>
          </p:nvPr>
        </p:nvSpPr>
        <p:spPr>
          <a:xfrm>
            <a:off x="722312" y="4406900"/>
            <a:ext cx="7772401" cy="1362075"/>
          </a:xfrm>
          <a:prstGeom prst="rect">
            <a:avLst/>
          </a:prstGeom>
        </p:spPr>
        <p:txBody>
          <a:bodyPr anchor="t"/>
          <a:lstStyle>
            <a:lvl1pPr algn="l">
              <a:defRPr sz="4000" b="1"/>
            </a:lvl1pPr>
          </a:lstStyle>
          <a:p>
            <a:r>
              <a:t>Title Text</a:t>
            </a:r>
          </a:p>
        </p:txBody>
      </p:sp>
      <p:sp>
        <p:nvSpPr>
          <p:cNvPr id="37" name="Body Level One…"/>
          <p:cNvSpPr txBox="1">
            <a:spLocks noGrp="1"/>
          </p:cNvSpPr>
          <p:nvPr>
            <p:ph type="body" sz="quarter" idx="1"/>
          </p:nvPr>
        </p:nvSpPr>
        <p:spPr>
          <a:xfrm>
            <a:off x="722312" y="2906713"/>
            <a:ext cx="7772401" cy="1500190"/>
          </a:xfrm>
          <a:prstGeom prst="rect">
            <a:avLst/>
          </a:prstGeom>
        </p:spPr>
        <p:txBody>
          <a:bodyPr anchor="b"/>
          <a:lstStyle>
            <a:lvl1pPr marL="0" indent="228600">
              <a:spcBef>
                <a:spcPts val="400"/>
              </a:spcBef>
              <a:buClrTx/>
              <a:buSzTx/>
              <a:buFontTx/>
              <a:buNone/>
              <a:defRPr sz="2000">
                <a:solidFill>
                  <a:srgbClr val="888888"/>
                </a:solidFill>
              </a:defRPr>
            </a:lvl1pPr>
            <a:lvl2pPr marL="0" indent="228600">
              <a:spcBef>
                <a:spcPts val="400"/>
              </a:spcBef>
              <a:buClrTx/>
              <a:buSzTx/>
              <a:buFontTx/>
              <a:buNone/>
              <a:defRPr sz="2000">
                <a:solidFill>
                  <a:srgbClr val="888888"/>
                </a:solidFill>
              </a:defRPr>
            </a:lvl2pPr>
            <a:lvl3pPr marL="0" indent="228600">
              <a:spcBef>
                <a:spcPts val="400"/>
              </a:spcBef>
              <a:buClrTx/>
              <a:buSzTx/>
              <a:buFontTx/>
              <a:buNone/>
              <a:defRPr sz="2000">
                <a:solidFill>
                  <a:srgbClr val="888888"/>
                </a:solidFill>
              </a:defRPr>
            </a:lvl3pPr>
            <a:lvl4pPr marL="0" indent="228600">
              <a:spcBef>
                <a:spcPts val="400"/>
              </a:spcBef>
              <a:buClrTx/>
              <a:buSzTx/>
              <a:buFontTx/>
              <a:buNone/>
              <a:defRPr sz="2000">
                <a:solidFill>
                  <a:srgbClr val="888888"/>
                </a:solidFill>
              </a:defRPr>
            </a:lvl4pPr>
            <a:lvl5pPr marL="0" indent="228600">
              <a:spcBef>
                <a:spcPts val="400"/>
              </a:spcBef>
              <a:buClrTx/>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WO_OBJECTS">
    <p:spTree>
      <p:nvGrpSpPr>
        <p:cNvPr id="1" name=""/>
        <p:cNvGrpSpPr/>
        <p:nvPr/>
      </p:nvGrpSpPr>
      <p:grpSpPr>
        <a:xfrm>
          <a:off x="0" y="0"/>
          <a:ext cx="0" cy="0"/>
          <a:chOff x="0" y="0"/>
          <a:chExt cx="0" cy="0"/>
        </a:xfrm>
      </p:grpSpPr>
      <p:sp>
        <p:nvSpPr>
          <p:cNvPr id="4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46" name="Body Level One…"/>
          <p:cNvSpPr txBox="1">
            <a:spLocks noGrp="1"/>
          </p:cNvSpPr>
          <p:nvPr>
            <p:ph type="body" sz="half" idx="1"/>
          </p:nvPr>
        </p:nvSpPr>
        <p:spPr>
          <a:xfrm>
            <a:off x="457200" y="1600200"/>
            <a:ext cx="4038600" cy="4525963"/>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8" indent="-497838">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r>
              <a:t>Body Level One</a:t>
            </a:r>
          </a:p>
          <a:p>
            <a:pPr lvl="1"/>
            <a:r>
              <a:t>Body Level Two</a:t>
            </a:r>
          </a:p>
          <a:p>
            <a:pPr lvl="2"/>
            <a:r>
              <a:t>Body Level Three</a:t>
            </a:r>
          </a:p>
          <a:p>
            <a:pPr lvl="3"/>
            <a:r>
              <a:t>Body Level Four</a:t>
            </a:r>
          </a:p>
          <a:p>
            <a:pPr lvl="4"/>
            <a:r>
              <a:t>Body Level Five</a:t>
            </a:r>
          </a:p>
        </p:txBody>
      </p:sp>
      <p:sp>
        <p:nvSpPr>
          <p:cNvPr id="47" name="Google Shape;36;p6"/>
          <p:cNvSpPr txBox="1">
            <a:spLocks noGrp="1"/>
          </p:cNvSpPr>
          <p:nvPr>
            <p:ph type="body" sz="half" idx="21"/>
          </p:nvPr>
        </p:nvSpPr>
        <p:spPr>
          <a:xfrm>
            <a:off x="4648200" y="1600200"/>
            <a:ext cx="4038600" cy="4525963"/>
          </a:xfrm>
          <a:prstGeom prst="rect">
            <a:avLst/>
          </a:prstGeom>
        </p:spPr>
        <p:txBody>
          <a:bodyPr/>
          <a:lstStyle/>
          <a:p>
            <a:endParaRPr/>
          </a:p>
        </p:txBody>
      </p:sp>
      <p:sp>
        <p:nvSpPr>
          <p:cNvPr id="4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WO_OBJECTS_WITH_TEXT">
    <p:spTree>
      <p:nvGrpSpPr>
        <p:cNvPr id="1" name=""/>
        <p:cNvGrpSpPr/>
        <p:nvPr/>
      </p:nvGrpSpPr>
      <p:grpSpPr>
        <a:xfrm>
          <a:off x="0" y="0"/>
          <a:ext cx="0" cy="0"/>
          <a:chOff x="0" y="0"/>
          <a:chExt cx="0" cy="0"/>
        </a:xfrm>
      </p:grpSpPr>
      <p:sp>
        <p:nvSpPr>
          <p:cNvPr id="5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56" name="Body Level One…"/>
          <p:cNvSpPr txBox="1">
            <a:spLocks noGrp="1"/>
          </p:cNvSpPr>
          <p:nvPr>
            <p:ph type="body" sz="quarter" idx="1"/>
          </p:nvPr>
        </p:nvSpPr>
        <p:spPr>
          <a:xfrm>
            <a:off x="457200" y="1535112"/>
            <a:ext cx="4040188" cy="639763"/>
          </a:xfrm>
          <a:prstGeom prst="rect">
            <a:avLst/>
          </a:prstGeom>
        </p:spPr>
        <p:txBody>
          <a:bodyPr anchor="b"/>
          <a:lstStyle>
            <a:lvl1pPr marL="0" indent="228600">
              <a:spcBef>
                <a:spcPts val="400"/>
              </a:spcBef>
              <a:buClrTx/>
              <a:buSzTx/>
              <a:buFontTx/>
              <a:buNone/>
              <a:defRPr sz="2400" b="1"/>
            </a:lvl1pPr>
            <a:lvl2pPr marL="0" indent="228600">
              <a:spcBef>
                <a:spcPts val="400"/>
              </a:spcBef>
              <a:buClrTx/>
              <a:buSzTx/>
              <a:buFontTx/>
              <a:buNone/>
              <a:defRPr sz="2400" b="1"/>
            </a:lvl2pPr>
            <a:lvl3pPr marL="0" indent="228600">
              <a:spcBef>
                <a:spcPts val="400"/>
              </a:spcBef>
              <a:buClrTx/>
              <a:buSzTx/>
              <a:buFontTx/>
              <a:buNone/>
              <a:defRPr sz="2400" b="1"/>
            </a:lvl3pPr>
            <a:lvl4pPr marL="0" indent="228600">
              <a:spcBef>
                <a:spcPts val="400"/>
              </a:spcBef>
              <a:buClrTx/>
              <a:buSzTx/>
              <a:buFontTx/>
              <a:buNone/>
              <a:defRPr sz="2400" b="1"/>
            </a:lvl4pPr>
            <a:lvl5pPr marL="0" indent="228600">
              <a:spcBef>
                <a:spcPts val="400"/>
              </a:spcBef>
              <a:buClrTx/>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7" name="Google Shape;43;p7"/>
          <p:cNvSpPr txBox="1">
            <a:spLocks noGrp="1"/>
          </p:cNvSpPr>
          <p:nvPr>
            <p:ph type="body" sz="quarter" idx="21"/>
          </p:nvPr>
        </p:nvSpPr>
        <p:spPr>
          <a:xfrm>
            <a:off x="457200" y="2174875"/>
            <a:ext cx="4040188" cy="3951288"/>
          </a:xfrm>
          <a:prstGeom prst="rect">
            <a:avLst/>
          </a:prstGeom>
        </p:spPr>
        <p:txBody>
          <a:bodyPr/>
          <a:lstStyle/>
          <a:p>
            <a:endParaRPr/>
          </a:p>
        </p:txBody>
      </p:sp>
      <p:sp>
        <p:nvSpPr>
          <p:cNvPr id="58" name="Google Shape;44;p7"/>
          <p:cNvSpPr txBox="1">
            <a:spLocks noGrp="1"/>
          </p:cNvSpPr>
          <p:nvPr>
            <p:ph type="body" sz="quarter" idx="22"/>
          </p:nvPr>
        </p:nvSpPr>
        <p:spPr>
          <a:xfrm>
            <a:off x="4645025" y="1535112"/>
            <a:ext cx="4041775" cy="639765"/>
          </a:xfrm>
          <a:prstGeom prst="rect">
            <a:avLst/>
          </a:prstGeom>
        </p:spPr>
        <p:txBody>
          <a:bodyPr anchor="b"/>
          <a:lstStyle/>
          <a:p>
            <a:endParaRPr/>
          </a:p>
        </p:txBody>
      </p:sp>
      <p:sp>
        <p:nvSpPr>
          <p:cNvPr id="59" name="Google Shape;45;p7"/>
          <p:cNvSpPr txBox="1">
            <a:spLocks noGrp="1"/>
          </p:cNvSpPr>
          <p:nvPr>
            <p:ph type="body" sz="quarter" idx="23"/>
          </p:nvPr>
        </p:nvSpPr>
        <p:spPr>
          <a:xfrm>
            <a:off x="4645025" y="2174875"/>
            <a:ext cx="4041775" cy="3951288"/>
          </a:xfrm>
          <a:prstGeom prst="rect">
            <a:avLst/>
          </a:prstGeom>
        </p:spPr>
        <p:txBody>
          <a:bodyPr/>
          <a:lstStyle/>
          <a:p>
            <a:endParaRPr/>
          </a:p>
        </p:txBody>
      </p:sp>
      <p:sp>
        <p:nvSpPr>
          <p:cNvPr id="6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6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OBJECT_WITH_CAPTION_TEXT">
    <p:spTree>
      <p:nvGrpSpPr>
        <p:cNvPr id="1" name=""/>
        <p:cNvGrpSpPr/>
        <p:nvPr/>
      </p:nvGrpSpPr>
      <p:grpSpPr>
        <a:xfrm>
          <a:off x="0" y="0"/>
          <a:ext cx="0" cy="0"/>
          <a:chOff x="0" y="0"/>
          <a:chExt cx="0" cy="0"/>
        </a:xfrm>
      </p:grpSpPr>
      <p:sp>
        <p:nvSpPr>
          <p:cNvPr id="75" name="Title Text"/>
          <p:cNvSpPr txBox="1">
            <a:spLocks noGrp="1"/>
          </p:cNvSpPr>
          <p:nvPr>
            <p:ph type="title"/>
          </p:nvPr>
        </p:nvSpPr>
        <p:spPr>
          <a:xfrm>
            <a:off x="457200" y="273050"/>
            <a:ext cx="3008316" cy="1162050"/>
          </a:xfrm>
          <a:prstGeom prst="rect">
            <a:avLst/>
          </a:prstGeom>
        </p:spPr>
        <p:txBody>
          <a:bodyPr anchor="b"/>
          <a:lstStyle>
            <a:lvl1pPr algn="l">
              <a:defRPr sz="2000" b="1"/>
            </a:lvl1pPr>
          </a:lstStyle>
          <a:p>
            <a:r>
              <a:t>Title Text</a:t>
            </a:r>
          </a:p>
        </p:txBody>
      </p:sp>
      <p:sp>
        <p:nvSpPr>
          <p:cNvPr id="76" name="Body Level One…"/>
          <p:cNvSpPr txBox="1">
            <a:spLocks noGrp="1"/>
          </p:cNvSpPr>
          <p:nvPr>
            <p:ph type="body" sz="half"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7" name="Google Shape;57;p9"/>
          <p:cNvSpPr txBox="1">
            <a:spLocks noGrp="1"/>
          </p:cNvSpPr>
          <p:nvPr>
            <p:ph type="body" sz="quarter" idx="21"/>
          </p:nvPr>
        </p:nvSpPr>
        <p:spPr>
          <a:xfrm>
            <a:off x="457198" y="1435100"/>
            <a:ext cx="3008317" cy="4691063"/>
          </a:xfrm>
          <a:prstGeom prst="rect">
            <a:avLst/>
          </a:prstGeom>
        </p:spPr>
        <p:txBody>
          <a:bodyPr/>
          <a:lstStyle/>
          <a:p>
            <a:endParaRPr/>
          </a:p>
        </p:txBody>
      </p:sp>
      <p:sp>
        <p:nvSpPr>
          <p:cNvPr id="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_WITH_CAPTION_TEXT">
    <p:spTree>
      <p:nvGrpSpPr>
        <p:cNvPr id="1" name=""/>
        <p:cNvGrpSpPr/>
        <p:nvPr/>
      </p:nvGrpSpPr>
      <p:grpSpPr>
        <a:xfrm>
          <a:off x="0" y="0"/>
          <a:ext cx="0" cy="0"/>
          <a:chOff x="0" y="0"/>
          <a:chExt cx="0" cy="0"/>
        </a:xfrm>
      </p:grpSpPr>
      <p:sp>
        <p:nvSpPr>
          <p:cNvPr id="85" name="Title Text"/>
          <p:cNvSpPr txBox="1">
            <a:spLocks noGrp="1"/>
          </p:cNvSpPr>
          <p:nvPr>
            <p:ph type="title"/>
          </p:nvPr>
        </p:nvSpPr>
        <p:spPr>
          <a:xfrm>
            <a:off x="1792288" y="4800600"/>
            <a:ext cx="5486403" cy="566738"/>
          </a:xfrm>
          <a:prstGeom prst="rect">
            <a:avLst/>
          </a:prstGeom>
        </p:spPr>
        <p:txBody>
          <a:bodyPr anchor="b"/>
          <a:lstStyle>
            <a:lvl1pPr algn="l">
              <a:defRPr sz="2000" b="1"/>
            </a:lvl1pPr>
          </a:lstStyle>
          <a:p>
            <a:r>
              <a:t>Title Text</a:t>
            </a:r>
          </a:p>
        </p:txBody>
      </p:sp>
      <p:sp>
        <p:nvSpPr>
          <p:cNvPr id="86" name="Google Shape;63;p10"/>
          <p:cNvSpPr>
            <a:spLocks noGrp="1"/>
          </p:cNvSpPr>
          <p:nvPr>
            <p:ph type="pic" sz="half" idx="21"/>
          </p:nvPr>
        </p:nvSpPr>
        <p:spPr>
          <a:xfrm>
            <a:off x="1792288" y="612775"/>
            <a:ext cx="5486403" cy="4114800"/>
          </a:xfrm>
          <a:prstGeom prst="rect">
            <a:avLst/>
          </a:prstGeom>
        </p:spPr>
        <p:txBody>
          <a:bodyPr lIns="91439" tIns="45719" rIns="91439" bIns="45719">
            <a:noAutofit/>
          </a:bodyPr>
          <a:lstStyle/>
          <a:p>
            <a:endParaRPr/>
          </a:p>
        </p:txBody>
      </p:sp>
      <p:sp>
        <p:nvSpPr>
          <p:cNvPr id="87" name="Body Level One…"/>
          <p:cNvSpPr txBox="1">
            <a:spLocks noGrp="1"/>
          </p:cNvSpPr>
          <p:nvPr>
            <p:ph type="body" sz="quarter" idx="1"/>
          </p:nvPr>
        </p:nvSpPr>
        <p:spPr>
          <a:xfrm>
            <a:off x="1792288" y="5367337"/>
            <a:ext cx="5486403" cy="804865"/>
          </a:xfrm>
          <a:prstGeom prst="rect">
            <a:avLst/>
          </a:prstGeom>
        </p:spPr>
        <p:txBody>
          <a:bodyPr/>
          <a:lstStyle>
            <a:lvl1pPr marL="0" indent="228600">
              <a:spcBef>
                <a:spcPts val="200"/>
              </a:spcBef>
              <a:buClrTx/>
              <a:buSzTx/>
              <a:buFontTx/>
              <a:buNone/>
              <a:defRPr sz="1400"/>
            </a:lvl1pPr>
            <a:lvl2pPr marL="0" indent="228600">
              <a:spcBef>
                <a:spcPts val="200"/>
              </a:spcBef>
              <a:buClrTx/>
              <a:buSzTx/>
              <a:buFontTx/>
              <a:buNone/>
              <a:defRPr sz="1400"/>
            </a:lvl2pPr>
            <a:lvl3pPr marL="0" indent="228600">
              <a:spcBef>
                <a:spcPts val="200"/>
              </a:spcBef>
              <a:buClrTx/>
              <a:buSzTx/>
              <a:buFontTx/>
              <a:buNone/>
              <a:defRPr sz="1400"/>
            </a:lvl3pPr>
            <a:lvl4pPr marL="0" indent="228600">
              <a:spcBef>
                <a:spcPts val="200"/>
              </a:spcBef>
              <a:buClrTx/>
              <a:buSzTx/>
              <a:buFontTx/>
              <a:buNone/>
              <a:defRPr sz="1400"/>
            </a:lvl4pPr>
            <a:lvl5pPr marL="0" indent="228600">
              <a:spcBef>
                <a:spcPts val="200"/>
              </a:spcBef>
              <a:buClrTx/>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ERTICAL_TEXT">
    <p:spTree>
      <p:nvGrpSpPr>
        <p:cNvPr id="1" name=""/>
        <p:cNvGrpSpPr/>
        <p:nvPr/>
      </p:nvGrpSpPr>
      <p:grpSpPr>
        <a:xfrm>
          <a:off x="0" y="0"/>
          <a:ext cx="0" cy="0"/>
          <a:chOff x="0" y="0"/>
          <a:chExt cx="0" cy="0"/>
        </a:xfrm>
      </p:grpSpPr>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idx="1"/>
          </p:nvPr>
        </p:nvSpPr>
        <p:spPr>
          <a:xfrm rot="5400000">
            <a:off x="2309017" y="-251618"/>
            <a:ext cx="4525966" cy="8229601"/>
          </a:xfrm>
          <a:prstGeom prst="rect">
            <a:avLst/>
          </a:prstGeom>
        </p:spPr>
        <p:txBody>
          <a:bodyPr/>
          <a:lstStyle>
            <a:lvl1pPr indent="-342900">
              <a:spcBef>
                <a:spcPts val="300"/>
              </a:spcBef>
            </a:lvl1pPr>
            <a:lvl2pPr marL="963384" indent="-391884">
              <a:spcBef>
                <a:spcPts val="300"/>
              </a:spcBef>
            </a:lvl2pPr>
            <a:lvl3pPr marL="1485900" indent="-457200">
              <a:spcBef>
                <a:spcPts val="300"/>
              </a:spcBef>
            </a:lvl3pPr>
            <a:lvl4pPr marL="2034538" indent="-548638">
              <a:spcBef>
                <a:spcPts val="300"/>
              </a:spcBef>
            </a:lvl4pPr>
            <a:lvl5pPr marL="2491738" indent="-548638">
              <a:spcBef>
                <a:spcPts val="300"/>
              </a:spcBef>
            </a:lvl5pPr>
          </a:lstStyle>
          <a:p>
            <a:r>
              <a:t>Body Level One</a:t>
            </a:r>
          </a:p>
          <a:p>
            <a:pPr lvl="1"/>
            <a:r>
              <a:t>Body Level Two</a:t>
            </a:r>
          </a:p>
          <a:p>
            <a:pPr lvl="2"/>
            <a:r>
              <a:t>Body Level Three</a:t>
            </a:r>
          </a:p>
          <a:p>
            <a:pPr lvl="3"/>
            <a:r>
              <a:t>Body Level Four</a:t>
            </a:r>
          </a:p>
          <a:p>
            <a:pPr lvl="4"/>
            <a:r>
              <a:t>Body Level Five</a:t>
            </a:r>
          </a:p>
        </p:txBody>
      </p:sp>
      <p:sp>
        <p:nvSpPr>
          <p:cNvPr id="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_TITLE_AND_VERTICAL_TEXT">
    <p:spTree>
      <p:nvGrpSpPr>
        <p:cNvPr id="1" name=""/>
        <p:cNvGrpSpPr/>
        <p:nvPr/>
      </p:nvGrpSpPr>
      <p:grpSpPr>
        <a:xfrm>
          <a:off x="0" y="0"/>
          <a:ext cx="0" cy="0"/>
          <a:chOff x="0" y="0"/>
          <a:chExt cx="0" cy="0"/>
        </a:xfrm>
      </p:grpSpPr>
      <p:sp>
        <p:nvSpPr>
          <p:cNvPr id="104" name="Title Text"/>
          <p:cNvSpPr txBox="1">
            <a:spLocks noGrp="1"/>
          </p:cNvSpPr>
          <p:nvPr>
            <p:ph type="title"/>
          </p:nvPr>
        </p:nvSpPr>
        <p:spPr>
          <a:xfrm rot="5400000">
            <a:off x="4732337" y="2171700"/>
            <a:ext cx="5851528" cy="2057401"/>
          </a:xfrm>
          <a:prstGeom prst="rect">
            <a:avLst/>
          </a:prstGeom>
        </p:spPr>
        <p:txBody>
          <a:bodyPr/>
          <a:lstStyle/>
          <a:p>
            <a:r>
              <a:t>Title Text</a:t>
            </a:r>
          </a:p>
        </p:txBody>
      </p:sp>
      <p:sp>
        <p:nvSpPr>
          <p:cNvPr id="105" name="Body Level One…"/>
          <p:cNvSpPr txBox="1">
            <a:spLocks noGrp="1"/>
          </p:cNvSpPr>
          <p:nvPr>
            <p:ph type="body" idx="1"/>
          </p:nvPr>
        </p:nvSpPr>
        <p:spPr>
          <a:xfrm rot="5400000">
            <a:off x="541337" y="190500"/>
            <a:ext cx="5851527" cy="6019800"/>
          </a:xfrm>
          <a:prstGeom prst="rect">
            <a:avLst/>
          </a:prstGeom>
        </p:spPr>
        <p:txBody>
          <a:bodyPr/>
          <a:lstStyle>
            <a:lvl1pPr indent="-342900">
              <a:spcBef>
                <a:spcPts val="300"/>
              </a:spcBef>
            </a:lvl1pPr>
            <a:lvl2pPr marL="963384" indent="-391884">
              <a:spcBef>
                <a:spcPts val="300"/>
              </a:spcBef>
            </a:lvl2pPr>
            <a:lvl3pPr marL="1485900" indent="-457200">
              <a:spcBef>
                <a:spcPts val="300"/>
              </a:spcBef>
            </a:lvl3pPr>
            <a:lvl4pPr marL="2034538" indent="-548638">
              <a:spcBef>
                <a:spcPts val="300"/>
              </a:spcBef>
            </a:lvl4pPr>
            <a:lvl5pPr marL="2491738" indent="-548638">
              <a:spcBef>
                <a:spcPts val="300"/>
              </a:spcBef>
            </a:lvl5pPr>
          </a:lstStyle>
          <a:p>
            <a:r>
              <a:t>Body Level One</a:t>
            </a:r>
          </a:p>
          <a:p>
            <a:pPr lvl="1"/>
            <a:r>
              <a:t>Body Level Two</a:t>
            </a:r>
          </a:p>
          <a:p>
            <a:pPr lvl="2"/>
            <a:r>
              <a:t>Body Level Three</a:t>
            </a:r>
          </a:p>
          <a:p>
            <a:pPr lvl="3"/>
            <a:r>
              <a:t>Body Level Four</a:t>
            </a:r>
          </a:p>
          <a:p>
            <a:pPr lvl="4"/>
            <a:r>
              <a:t>Body Level Five</a:t>
            </a:r>
          </a:p>
        </p:txBody>
      </p:sp>
      <p:sp>
        <p:nvSpPr>
          <p:cNvPr id="10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Blank">
    <p:spTree>
      <p:nvGrpSpPr>
        <p:cNvPr id="1" name=""/>
        <p:cNvGrpSpPr/>
        <p:nvPr/>
      </p:nvGrpSpPr>
      <p:grpSpPr>
        <a:xfrm>
          <a:off x="0" y="0"/>
          <a:ext cx="0" cy="0"/>
          <a:chOff x="0" y="0"/>
          <a:chExt cx="0" cy="0"/>
        </a:xfrm>
      </p:grpSpPr>
      <p:sp>
        <p:nvSpPr>
          <p:cNvPr id="1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826683" y="769937"/>
            <a:ext cx="9753601" cy="16684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p>
            <a:r>
              <a:t>Title Text</a:t>
            </a:r>
          </a:p>
        </p:txBody>
      </p:sp>
      <p:sp>
        <p:nvSpPr>
          <p:cNvPr id="3" name="Body Level One…"/>
          <p:cNvSpPr txBox="1">
            <a:spLocks noGrp="1"/>
          </p:cNvSpPr>
          <p:nvPr>
            <p:ph type="body" idx="1"/>
          </p:nvPr>
        </p:nvSpPr>
        <p:spPr>
          <a:xfrm>
            <a:off x="6805083" y="2438400"/>
            <a:ext cx="4775201" cy="4419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428219" y="6414781"/>
            <a:ext cx="258582" cy="248263"/>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9pPr>
    </p:titleStyle>
    <p:bodyStyle>
      <a:lvl1pPr marL="457200" marR="0" indent="-43180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1pPr>
      <a:lvl2pPr marL="972457" marR="0" indent="-464457"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2pPr>
      <a:lvl3pPr marL="1498600" marR="0" indent="-50800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3pPr>
      <a:lvl4pPr marL="2042160" marR="0" indent="-56896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4pPr>
      <a:lvl5pPr marL="2499360" marR="0" indent="-56896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5pPr>
      <a:lvl6pPr marL="2956560" marR="0" indent="-56896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6pPr>
      <a:lvl7pPr marL="3413759" marR="0" indent="-568959"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7pPr>
      <a:lvl8pPr marL="3870959" marR="0" indent="-568959"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8pPr>
      <a:lvl9pPr marL="4328159" marR="0" indent="-568959"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8.tif"/></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tif"/></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1.tif"/><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123" name="Google Shape;85;p13" descr="Google Shape;85;p13"/>
          <p:cNvPicPr>
            <a:picLocks noChangeAspect="1"/>
          </p:cNvPicPr>
          <p:nvPr/>
        </p:nvPicPr>
        <p:blipFill>
          <a:blip r:embed="rId4"/>
          <a:stretch>
            <a:fillRect/>
          </a:stretch>
        </p:blipFill>
        <p:spPr>
          <a:xfrm>
            <a:off x="1809750" y="4589114"/>
            <a:ext cx="8572500" cy="921993"/>
          </a:xfrm>
          <a:prstGeom prst="rect">
            <a:avLst/>
          </a:prstGeom>
          <a:ln w="12700">
            <a:miter lim="400000"/>
          </a:ln>
        </p:spPr>
      </p:pic>
      <p:sp>
        <p:nvSpPr>
          <p:cNvPr id="124" name="Google Shape;86;p13"/>
          <p:cNvSpPr txBox="1"/>
          <p:nvPr/>
        </p:nvSpPr>
        <p:spPr>
          <a:xfrm>
            <a:off x="1595437" y="2051742"/>
            <a:ext cx="9001126" cy="147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4800" b="1">
                <a:solidFill>
                  <a:srgbClr val="1E3A8A"/>
                </a:solidFill>
                <a:latin typeface="Roboto Slab"/>
                <a:ea typeface="Roboto Slab"/>
                <a:cs typeface="Roboto Slab"/>
                <a:sym typeface="Roboto Slab"/>
              </a:defRPr>
            </a:lvl1pPr>
          </a:lstStyle>
          <a:p>
            <a:r>
              <a:t>Predicting Severe Asthma Exacerbations</a:t>
            </a:r>
          </a:p>
        </p:txBody>
      </p:sp>
      <p:sp>
        <p:nvSpPr>
          <p:cNvPr id="125" name="Google Shape;87;p13"/>
          <p:cNvSpPr txBox="1"/>
          <p:nvPr/>
        </p:nvSpPr>
        <p:spPr>
          <a:xfrm>
            <a:off x="1809750" y="3842444"/>
            <a:ext cx="8572500"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ctr">
              <a:lnSpc>
                <a:spcPct val="159944"/>
              </a:lnSpc>
              <a:defRPr sz="1800">
                <a:solidFill>
                  <a:srgbClr val="64748B"/>
                </a:solidFill>
                <a:latin typeface="Open Sans"/>
                <a:ea typeface="Open Sans"/>
                <a:cs typeface="Open Sans"/>
                <a:sym typeface="Open Sans"/>
              </a:defRPr>
            </a:pPr>
            <a:r>
              <a:t>A Genome-Wide Association Study using </a:t>
            </a:r>
            <a:r>
              <a:rPr b="1"/>
              <a:t>Random Forests</a:t>
            </a:r>
            <a:r>
              <a:t> Classifiers</a:t>
            </a:r>
          </a:p>
        </p:txBody>
      </p:sp>
      <p:pic>
        <p:nvPicPr>
          <p:cNvPr id="126" name="Google Shape;88;p13" descr="Google Shape;88;p13"/>
          <p:cNvPicPr>
            <a:picLocks noChangeAspect="1"/>
          </p:cNvPicPr>
          <p:nvPr/>
        </p:nvPicPr>
        <p:blipFill>
          <a:blip r:embed="rId5"/>
          <a:stretch>
            <a:fillRect/>
          </a:stretch>
        </p:blipFill>
        <p:spPr>
          <a:xfrm>
            <a:off x="5843587" y="1223069"/>
            <a:ext cx="504828" cy="571503"/>
          </a:xfrm>
          <a:prstGeom prst="rect">
            <a:avLst/>
          </a:prstGeom>
          <a:ln w="12700">
            <a:miter lim="400000"/>
          </a:ln>
        </p:spPr>
      </p:pic>
      <p:sp>
        <p:nvSpPr>
          <p:cNvPr id="127" name="Google Shape;89;p13"/>
          <p:cNvSpPr txBox="1"/>
          <p:nvPr/>
        </p:nvSpPr>
        <p:spPr>
          <a:xfrm>
            <a:off x="1809750" y="4789139"/>
            <a:ext cx="85725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b="1">
                <a:solidFill>
                  <a:srgbClr val="1E3A8A"/>
                </a:solidFill>
                <a:latin typeface="Open Sans"/>
                <a:ea typeface="Open Sans"/>
                <a:cs typeface="Open Sans"/>
                <a:sym typeface="Open Sans"/>
              </a:defRPr>
            </a:lvl1pPr>
          </a:lstStyle>
          <a:p>
            <a:r>
              <a:t>Mousheng Xu, PhD</a:t>
            </a:r>
          </a:p>
        </p:txBody>
      </p:sp>
      <p:sp>
        <p:nvSpPr>
          <p:cNvPr id="128" name="Google Shape;90;p13"/>
          <p:cNvSpPr txBox="1"/>
          <p:nvPr/>
        </p:nvSpPr>
        <p:spPr>
          <a:xfrm>
            <a:off x="1809750" y="5236814"/>
            <a:ext cx="8572500"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300">
                <a:solidFill>
                  <a:srgbClr val="334155"/>
                </a:solidFill>
                <a:latin typeface="Open Sans"/>
                <a:ea typeface="Open Sans"/>
                <a:cs typeface="Open Sans"/>
                <a:sym typeface="Open Sans"/>
              </a:defRPr>
            </a:lvl1pPr>
          </a:lstStyle>
          <a:p>
            <a:r>
              <a:t>Dec 2025 | GTIIT’s 3rd International Symposium Presentation</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 name="Google Shape;95;p14" descr="Google Shape;95;p14"/>
          <p:cNvPicPr>
            <a:picLocks noChangeAspect="1"/>
          </p:cNvPicPr>
          <p:nvPr/>
        </p:nvPicPr>
        <p:blipFill>
          <a:blip r:embed="rId3"/>
          <a:stretch>
            <a:fillRect/>
          </a:stretch>
        </p:blipFill>
        <p:spPr>
          <a:xfrm>
            <a:off x="0" y="-43542"/>
            <a:ext cx="12192000" cy="6858000"/>
          </a:xfrm>
          <a:prstGeom prst="rect">
            <a:avLst/>
          </a:prstGeom>
          <a:ln w="12700">
            <a:miter lim="400000"/>
          </a:ln>
        </p:spPr>
      </p:pic>
      <p:sp>
        <p:nvSpPr>
          <p:cNvPr id="133" name="Google Shape;96;p14"/>
          <p:cNvSpPr txBox="1"/>
          <p:nvPr/>
        </p:nvSpPr>
        <p:spPr>
          <a:xfrm>
            <a:off x="571498" y="1477961"/>
            <a:ext cx="5500690"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100" b="1">
                <a:solidFill>
                  <a:srgbClr val="0F766E"/>
                </a:solidFill>
                <a:latin typeface="Roboto Slab"/>
                <a:ea typeface="Roboto Slab"/>
                <a:cs typeface="Roboto Slab"/>
                <a:sym typeface="Roboto Slab"/>
              </a:defRPr>
            </a:lvl1pPr>
          </a:lstStyle>
          <a:p>
            <a:r>
              <a:t>Mousheng Xu, PhD</a:t>
            </a:r>
          </a:p>
        </p:txBody>
      </p:sp>
      <p:sp>
        <p:nvSpPr>
          <p:cNvPr id="134" name="Google Shape;99;p14"/>
          <p:cNvSpPr txBox="1"/>
          <p:nvPr/>
        </p:nvSpPr>
        <p:spPr>
          <a:xfrm>
            <a:off x="705072" y="4500560"/>
            <a:ext cx="76201"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rPr dirty="0"/>
              <a:t>•</a:t>
            </a:r>
          </a:p>
        </p:txBody>
      </p:sp>
      <p:sp>
        <p:nvSpPr>
          <p:cNvPr id="135" name="Google Shape;100;p14"/>
          <p:cNvSpPr txBox="1"/>
          <p:nvPr/>
        </p:nvSpPr>
        <p:spPr>
          <a:xfrm>
            <a:off x="857472" y="4398962"/>
            <a:ext cx="9971762"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500" b="1">
                <a:solidFill>
                  <a:srgbClr val="334155"/>
                </a:solidFill>
                <a:latin typeface="Open Sans"/>
                <a:ea typeface="Open Sans"/>
                <a:cs typeface="Open Sans"/>
                <a:sym typeface="Open Sans"/>
              </a:defRPr>
            </a:pPr>
            <a:r>
              <a:rPr dirty="0"/>
              <a:t>20+ Years Experience:</a:t>
            </a:r>
            <a:r>
              <a:rPr b="0" dirty="0"/>
              <a:t> Software development, computational biology, statistical genetics, and machine learning.</a:t>
            </a:r>
          </a:p>
        </p:txBody>
      </p:sp>
      <p:sp>
        <p:nvSpPr>
          <p:cNvPr id="136" name="Google Shape;101;p14"/>
          <p:cNvSpPr txBox="1"/>
          <p:nvPr/>
        </p:nvSpPr>
        <p:spPr>
          <a:xfrm>
            <a:off x="746800" y="2562540"/>
            <a:ext cx="76201"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rPr dirty="0"/>
              <a:t>•</a:t>
            </a:r>
          </a:p>
        </p:txBody>
      </p:sp>
      <p:sp>
        <p:nvSpPr>
          <p:cNvPr id="137" name="Google Shape;102;p14"/>
          <p:cNvSpPr txBox="1"/>
          <p:nvPr/>
        </p:nvSpPr>
        <p:spPr>
          <a:xfrm>
            <a:off x="932298" y="2460942"/>
            <a:ext cx="8237055" cy="16916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500" b="1">
                <a:solidFill>
                  <a:srgbClr val="334155"/>
                </a:solidFill>
                <a:latin typeface="Open Sans"/>
                <a:ea typeface="Open Sans"/>
                <a:cs typeface="Open Sans"/>
                <a:sym typeface="Open Sans"/>
              </a:defRPr>
            </a:pPr>
            <a:r>
              <a:rPr dirty="0"/>
              <a:t>Academic Foundation:</a:t>
            </a:r>
            <a:r>
              <a:rPr b="0" dirty="0"/>
              <a:t> </a:t>
            </a:r>
          </a:p>
          <a:p>
            <a:pPr marL="150394" indent="-150394">
              <a:lnSpc>
                <a:spcPct val="160000"/>
              </a:lnSpc>
              <a:buSzPct val="100000"/>
              <a:buChar char="○"/>
              <a:defRPr sz="1500">
                <a:solidFill>
                  <a:srgbClr val="334155"/>
                </a:solidFill>
                <a:latin typeface="Open Sans"/>
                <a:ea typeface="Open Sans"/>
                <a:cs typeface="Open Sans"/>
                <a:sym typeface="Open Sans"/>
              </a:defRPr>
            </a:pPr>
            <a:r>
              <a:rPr dirty="0"/>
              <a:t>  B.S. in Genetics (Wuhan University)</a:t>
            </a:r>
            <a:endParaRPr b="1" dirty="0"/>
          </a:p>
          <a:p>
            <a:pPr marL="150394" indent="-150394">
              <a:lnSpc>
                <a:spcPct val="160000"/>
              </a:lnSpc>
              <a:buSzPct val="100000"/>
              <a:buChar char="○"/>
              <a:defRPr sz="1500">
                <a:solidFill>
                  <a:srgbClr val="334155"/>
                </a:solidFill>
                <a:latin typeface="Open Sans"/>
                <a:ea typeface="Open Sans"/>
                <a:cs typeface="Open Sans"/>
                <a:sym typeface="Open Sans"/>
              </a:defRPr>
            </a:pPr>
            <a:r>
              <a:rPr dirty="0"/>
              <a:t>  M.S. in Biochemistry &amp; Molecular Biology, M.S. in Computer Science (University of Kansas)</a:t>
            </a:r>
            <a:endParaRPr b="1" dirty="0"/>
          </a:p>
          <a:p>
            <a:pPr marL="150394" indent="-150394">
              <a:lnSpc>
                <a:spcPct val="160000"/>
              </a:lnSpc>
              <a:buSzPct val="100000"/>
              <a:buChar char="○"/>
              <a:defRPr sz="1500">
                <a:solidFill>
                  <a:srgbClr val="334155"/>
                </a:solidFill>
                <a:latin typeface="Open Sans"/>
                <a:ea typeface="Open Sans"/>
                <a:cs typeface="Open Sans"/>
                <a:sym typeface="Open Sans"/>
              </a:defRPr>
            </a:pPr>
            <a:r>
              <a:rPr dirty="0"/>
              <a:t>  PhD in Bioinformatics (Boston University; Harvard Medical School)</a:t>
            </a:r>
            <a:endParaRPr b="1" dirty="0"/>
          </a:p>
          <a:p>
            <a:pPr marL="150394" indent="-150394">
              <a:lnSpc>
                <a:spcPct val="160000"/>
              </a:lnSpc>
              <a:buSzPct val="100000"/>
              <a:buChar char="○"/>
              <a:defRPr sz="1500">
                <a:solidFill>
                  <a:srgbClr val="334155"/>
                </a:solidFill>
                <a:latin typeface="Open Sans"/>
                <a:ea typeface="Open Sans"/>
                <a:cs typeface="Open Sans"/>
                <a:sym typeface="Open Sans"/>
              </a:defRPr>
            </a:pPr>
            <a:r>
              <a:rPr dirty="0"/>
              <a:t>  Postdoc in Cancer Genetic Epidemiology (Harvard T.H. Chan School of Public Health).</a:t>
            </a:r>
          </a:p>
        </p:txBody>
      </p:sp>
      <p:sp>
        <p:nvSpPr>
          <p:cNvPr id="138" name="Google Shape;103;p14"/>
          <p:cNvSpPr txBox="1"/>
          <p:nvPr/>
        </p:nvSpPr>
        <p:spPr>
          <a:xfrm>
            <a:off x="685800" y="4948689"/>
            <a:ext cx="762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rPr dirty="0"/>
              <a:t>•</a:t>
            </a:r>
          </a:p>
        </p:txBody>
      </p:sp>
      <p:sp>
        <p:nvSpPr>
          <p:cNvPr id="139" name="Google Shape;104;p14"/>
          <p:cNvSpPr txBox="1"/>
          <p:nvPr/>
        </p:nvSpPr>
        <p:spPr>
          <a:xfrm>
            <a:off x="838200" y="4830762"/>
            <a:ext cx="497205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b="1">
                <a:solidFill>
                  <a:srgbClr val="334155"/>
                </a:solidFill>
                <a:latin typeface="Open Sans"/>
                <a:ea typeface="Open Sans"/>
                <a:cs typeface="Open Sans"/>
                <a:sym typeface="Open Sans"/>
              </a:defRPr>
            </a:lvl1pPr>
          </a:lstStyle>
          <a:p>
            <a:r>
              <a:t>Key Achievements:</a:t>
            </a:r>
          </a:p>
        </p:txBody>
      </p:sp>
      <p:sp>
        <p:nvSpPr>
          <p:cNvPr id="140" name="Google Shape;106;p14"/>
          <p:cNvSpPr txBox="1"/>
          <p:nvPr/>
        </p:nvSpPr>
        <p:spPr>
          <a:xfrm>
            <a:off x="851886" y="5306610"/>
            <a:ext cx="1143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rPr dirty="0"/>
              <a:t>○</a:t>
            </a:r>
          </a:p>
        </p:txBody>
      </p:sp>
      <p:sp>
        <p:nvSpPr>
          <p:cNvPr id="141" name="Google Shape;107;p14"/>
          <p:cNvSpPr txBox="1"/>
          <p:nvPr/>
        </p:nvSpPr>
        <p:spPr>
          <a:xfrm>
            <a:off x="1066800" y="5248046"/>
            <a:ext cx="4743450" cy="695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r>
              <a:rPr lang="en-US" altLang="zh-CN" dirty="0"/>
              <a:t>The</a:t>
            </a:r>
            <a:r>
              <a:rPr lang="zh-CN" altLang="en-US" dirty="0"/>
              <a:t> </a:t>
            </a:r>
            <a:r>
              <a:rPr lang="en-US" altLang="zh-CN" dirty="0"/>
              <a:t>Encyclopedia</a:t>
            </a:r>
            <a:r>
              <a:rPr lang="zh-CN" altLang="en-US" dirty="0"/>
              <a:t> </a:t>
            </a:r>
            <a:r>
              <a:rPr lang="en-US" altLang="zh-CN" dirty="0"/>
              <a:t>of</a:t>
            </a:r>
            <a:r>
              <a:rPr lang="zh-CN" altLang="en-US" dirty="0"/>
              <a:t> </a:t>
            </a:r>
            <a:r>
              <a:rPr lang="en-US" altLang="zh-CN" dirty="0"/>
              <a:t>DNA</a:t>
            </a:r>
            <a:r>
              <a:rPr lang="zh-CN" altLang="en-US" dirty="0"/>
              <a:t> </a:t>
            </a:r>
            <a:r>
              <a:rPr lang="en-US" altLang="zh-CN" dirty="0"/>
              <a:t>Elements</a:t>
            </a:r>
            <a:r>
              <a:rPr lang="zh-CN" altLang="en-US" dirty="0"/>
              <a:t> </a:t>
            </a:r>
            <a:r>
              <a:rPr lang="en-US" altLang="zh-CN" dirty="0"/>
              <a:t>(ENCODE)</a:t>
            </a:r>
            <a:endParaRPr lang="en-US" dirty="0"/>
          </a:p>
          <a:p>
            <a:r>
              <a:rPr dirty="0"/>
              <a:t>Million Veteran Program</a:t>
            </a:r>
            <a:r>
              <a:rPr lang="zh-CN" altLang="en-US" dirty="0"/>
              <a:t> </a:t>
            </a:r>
            <a:r>
              <a:rPr lang="en-US" altLang="zh-CN" dirty="0"/>
              <a:t>(MVP)</a:t>
            </a:r>
            <a:endParaRPr dirty="0"/>
          </a:p>
        </p:txBody>
      </p:sp>
      <p:sp>
        <p:nvSpPr>
          <p:cNvPr id="142" name="Google Shape;108;p14"/>
          <p:cNvSpPr txBox="1"/>
          <p:nvPr/>
        </p:nvSpPr>
        <p:spPr>
          <a:xfrm>
            <a:off x="838200" y="6071735"/>
            <a:ext cx="1143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rPr dirty="0"/>
              <a:t>○</a:t>
            </a:r>
          </a:p>
        </p:txBody>
      </p:sp>
      <p:sp>
        <p:nvSpPr>
          <p:cNvPr id="143" name="Google Shape;109;p14"/>
          <p:cNvSpPr txBox="1"/>
          <p:nvPr/>
        </p:nvSpPr>
        <p:spPr>
          <a:xfrm>
            <a:off x="1066800" y="5986462"/>
            <a:ext cx="474345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r>
              <a:rPr dirty="0"/>
              <a:t>Founded Hubei Vidagen (Genetic Testing)</a:t>
            </a:r>
          </a:p>
        </p:txBody>
      </p:sp>
      <p:sp>
        <p:nvSpPr>
          <p:cNvPr id="144" name="Google Shape;110;p14"/>
          <p:cNvSpPr txBox="1"/>
          <p:nvPr/>
        </p:nvSpPr>
        <p:spPr>
          <a:xfrm>
            <a:off x="838277" y="6430649"/>
            <a:ext cx="114301"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rPr dirty="0"/>
              <a:t>○</a:t>
            </a:r>
          </a:p>
        </p:txBody>
      </p:sp>
      <p:sp>
        <p:nvSpPr>
          <p:cNvPr id="145" name="Google Shape;111;p14"/>
          <p:cNvSpPr txBox="1"/>
          <p:nvPr/>
        </p:nvSpPr>
        <p:spPr>
          <a:xfrm>
            <a:off x="1066800" y="6359525"/>
            <a:ext cx="4743451"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r>
              <a:rPr dirty="0"/>
              <a:t>Scientific Breakthrough Of the Year (ATS 2009)</a:t>
            </a:r>
          </a:p>
        </p:txBody>
      </p:sp>
      <p:sp>
        <p:nvSpPr>
          <p:cNvPr id="146" name="Google Shape;112;p14"/>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Self Introduction</a:t>
            </a:r>
          </a:p>
        </p:txBody>
      </p:sp>
      <p:sp>
        <p:nvSpPr>
          <p:cNvPr id="147" name="Google Shape;113;p14"/>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sp>
        <p:nvSpPr>
          <p:cNvPr id="148" name="Google Shape;97;p14"/>
          <p:cNvSpPr txBox="1"/>
          <p:nvPr/>
        </p:nvSpPr>
        <p:spPr>
          <a:xfrm>
            <a:off x="571500" y="1973259"/>
            <a:ext cx="523875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b="1">
                <a:solidFill>
                  <a:srgbClr val="334155"/>
                </a:solidFill>
                <a:latin typeface="Open Sans"/>
                <a:ea typeface="Open Sans"/>
                <a:cs typeface="Open Sans"/>
                <a:sym typeface="Open Sans"/>
              </a:defRPr>
            </a:lvl1pPr>
          </a:lstStyle>
          <a:p>
            <a:r>
              <a:t>Head of Biosciences, A Private Company In Singapore</a:t>
            </a:r>
          </a:p>
        </p:txBody>
      </p:sp>
      <p:sp>
        <p:nvSpPr>
          <p:cNvPr id="149" name="Google Shape;106;p14"/>
          <p:cNvSpPr txBox="1"/>
          <p:nvPr/>
        </p:nvSpPr>
        <p:spPr>
          <a:xfrm>
            <a:off x="4993675" y="5180012"/>
            <a:ext cx="114301"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endParaRPr dirty="0"/>
          </a:p>
        </p:txBody>
      </p:sp>
      <p:sp>
        <p:nvSpPr>
          <p:cNvPr id="2" name="Google Shape;106;p14">
            <a:extLst>
              <a:ext uri="{FF2B5EF4-FFF2-40B4-BE49-F238E27FC236}">
                <a16:creationId xmlns:a16="http://schemas.microsoft.com/office/drawing/2014/main" id="{14762AF1-C1A7-7C4F-9BAD-2C8EA359340B}"/>
              </a:ext>
            </a:extLst>
          </p:cNvPr>
          <p:cNvSpPr txBox="1"/>
          <p:nvPr/>
        </p:nvSpPr>
        <p:spPr>
          <a:xfrm>
            <a:off x="859140" y="5691234"/>
            <a:ext cx="1143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rPr dirty="0"/>
              <a:t>○</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 name="Google Shape;118;p15" descr="Google Shape;118;p15"/>
          <p:cNvPicPr>
            <a:picLocks noChangeAspect="1"/>
          </p:cNvPicPr>
          <p:nvPr/>
        </p:nvPicPr>
        <p:blipFill>
          <a:blip r:embed="rId3"/>
          <a:stretch>
            <a:fillRect/>
          </a:stretch>
        </p:blipFill>
        <p:spPr>
          <a:xfrm>
            <a:off x="0" y="-321861"/>
            <a:ext cx="12192001" cy="6858004"/>
          </a:xfrm>
          <a:prstGeom prst="rect">
            <a:avLst/>
          </a:prstGeom>
          <a:ln w="12700">
            <a:miter lim="400000"/>
          </a:ln>
        </p:spPr>
      </p:pic>
      <p:pic>
        <p:nvPicPr>
          <p:cNvPr id="155" name="Google Shape;119;p15" descr="Google Shape;119;p15"/>
          <p:cNvPicPr>
            <a:picLocks noChangeAspect="1"/>
          </p:cNvPicPr>
          <p:nvPr/>
        </p:nvPicPr>
        <p:blipFill>
          <a:blip r:embed="rId4"/>
          <a:stretch>
            <a:fillRect/>
          </a:stretch>
        </p:blipFill>
        <p:spPr>
          <a:xfrm>
            <a:off x="571500" y="2062159"/>
            <a:ext cx="5238750" cy="3810005"/>
          </a:xfrm>
          <a:prstGeom prst="rect">
            <a:avLst/>
          </a:prstGeom>
          <a:ln w="12700">
            <a:miter lim="400000"/>
          </a:ln>
        </p:spPr>
      </p:pic>
      <p:sp>
        <p:nvSpPr>
          <p:cNvPr id="156" name="Google Shape;129;p15"/>
          <p:cNvSpPr txBox="1"/>
          <p:nvPr/>
        </p:nvSpPr>
        <p:spPr>
          <a:xfrm>
            <a:off x="571500" y="571500"/>
            <a:ext cx="11601450" cy="520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900" b="1">
                <a:solidFill>
                  <a:srgbClr val="1E3A8A"/>
                </a:solidFill>
                <a:latin typeface="Roboto Slab"/>
                <a:ea typeface="Roboto Slab"/>
                <a:cs typeface="Roboto Slab"/>
                <a:sym typeface="Roboto Slab"/>
              </a:defRPr>
            </a:lvl1pPr>
          </a:lstStyle>
          <a:p>
            <a:r>
              <a:t>The Clinical Challenge：Childhood Severe Asthma Exacerbations</a:t>
            </a:r>
          </a:p>
        </p:txBody>
      </p:sp>
      <p:sp>
        <p:nvSpPr>
          <p:cNvPr id="157" name="Google Shape;130;p15"/>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pic>
        <p:nvPicPr>
          <p:cNvPr id="158" name="Image" descr="Image"/>
          <p:cNvPicPr>
            <a:picLocks noChangeAspect="1"/>
          </p:cNvPicPr>
          <p:nvPr/>
        </p:nvPicPr>
        <p:blipFill>
          <a:blip r:embed="rId5"/>
          <a:stretch>
            <a:fillRect/>
          </a:stretch>
        </p:blipFill>
        <p:spPr>
          <a:xfrm>
            <a:off x="429379" y="1463675"/>
            <a:ext cx="5238752" cy="5238750"/>
          </a:xfrm>
          <a:prstGeom prst="rect">
            <a:avLst/>
          </a:prstGeom>
          <a:ln w="12700">
            <a:miter lim="400000"/>
          </a:ln>
        </p:spPr>
      </p:pic>
      <p:sp>
        <p:nvSpPr>
          <p:cNvPr id="159" name="Google Shape;88;p13"/>
          <p:cNvSpPr txBox="1"/>
          <p:nvPr/>
        </p:nvSpPr>
        <p:spPr>
          <a:xfrm>
            <a:off x="6381750" y="1844774"/>
            <a:ext cx="5500688" cy="292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900" b="1">
                <a:solidFill>
                  <a:srgbClr val="0F766E"/>
                </a:solidFill>
                <a:latin typeface="Roboto Slab"/>
                <a:ea typeface="Roboto Slab"/>
                <a:cs typeface="Roboto Slab"/>
                <a:sym typeface="Roboto Slab"/>
              </a:defRPr>
            </a:lvl1pPr>
          </a:lstStyle>
          <a:p>
            <a:r>
              <a:t>Definition</a:t>
            </a:r>
          </a:p>
        </p:txBody>
      </p:sp>
      <p:sp>
        <p:nvSpPr>
          <p:cNvPr id="160" name="Google Shape;89;p13"/>
          <p:cNvSpPr txBox="1"/>
          <p:nvPr/>
        </p:nvSpPr>
        <p:spPr>
          <a:xfrm>
            <a:off x="6381750" y="3412986"/>
            <a:ext cx="5500688" cy="292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900" b="1">
                <a:solidFill>
                  <a:srgbClr val="0F766E"/>
                </a:solidFill>
                <a:latin typeface="Roboto Slab"/>
                <a:ea typeface="Roboto Slab"/>
                <a:cs typeface="Roboto Slab"/>
                <a:sym typeface="Roboto Slab"/>
              </a:defRPr>
            </a:lvl1pPr>
          </a:lstStyle>
          <a:p>
            <a:r>
              <a:t>Prognostic Significance</a:t>
            </a:r>
          </a:p>
        </p:txBody>
      </p:sp>
      <p:sp>
        <p:nvSpPr>
          <p:cNvPr id="161" name="Google Shape;92;p13"/>
          <p:cNvSpPr txBox="1"/>
          <p:nvPr/>
        </p:nvSpPr>
        <p:spPr>
          <a:xfrm>
            <a:off x="6596061" y="2398725"/>
            <a:ext cx="4810126" cy="5943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500">
                <a:solidFill>
                  <a:srgbClr val="334155"/>
                </a:solidFill>
                <a:latin typeface="Open Sans"/>
                <a:ea typeface="Open Sans"/>
                <a:cs typeface="Open Sans"/>
                <a:sym typeface="Open Sans"/>
              </a:defRPr>
            </a:pPr>
            <a:r>
              <a:t>Severe Asthma Exacerbations: </a:t>
            </a:r>
            <a:r>
              <a:rPr b="1">
                <a:solidFill>
                  <a:srgbClr val="1E3A8A"/>
                </a:solidFill>
              </a:rPr>
              <a:t>emergency room visit or a hospitalization</a:t>
            </a:r>
            <a:r>
              <a:t> for asthma symptoms.</a:t>
            </a:r>
          </a:p>
        </p:txBody>
      </p:sp>
      <p:sp>
        <p:nvSpPr>
          <p:cNvPr id="162" name="Google Shape;93;p13"/>
          <p:cNvSpPr txBox="1"/>
          <p:nvPr/>
        </p:nvSpPr>
        <p:spPr>
          <a:xfrm>
            <a:off x="6596060" y="4011219"/>
            <a:ext cx="4810128"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500">
                <a:solidFill>
                  <a:srgbClr val="334155"/>
                </a:solidFill>
                <a:latin typeface="Open Sans"/>
                <a:ea typeface="Open Sans"/>
                <a:cs typeface="Open Sans"/>
                <a:sym typeface="Open Sans"/>
              </a:defRPr>
            </a:pPr>
            <a:r>
              <a:rPr b="1">
                <a:solidFill>
                  <a:srgbClr val="1E3A8A"/>
                </a:solidFill>
              </a:rPr>
              <a:t>Earlier therapeutic interventions</a:t>
            </a:r>
            <a:r>
              <a:t>.</a:t>
            </a:r>
          </a:p>
        </p:txBody>
      </p:sp>
      <p:sp>
        <p:nvSpPr>
          <p:cNvPr id="163" name="Google Shape;89;p13"/>
          <p:cNvSpPr txBox="1"/>
          <p:nvPr/>
        </p:nvSpPr>
        <p:spPr>
          <a:xfrm>
            <a:off x="6381750" y="4602836"/>
            <a:ext cx="5500688" cy="292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900" b="1">
                <a:solidFill>
                  <a:srgbClr val="0F766E"/>
                </a:solidFill>
                <a:latin typeface="Roboto Slab"/>
                <a:ea typeface="Roboto Slab"/>
                <a:cs typeface="Roboto Slab"/>
                <a:sym typeface="Roboto Slab"/>
              </a:defRPr>
            </a:lvl1pPr>
          </a:lstStyle>
          <a:p>
            <a:r>
              <a:t>The Clinical Challenge</a:t>
            </a:r>
          </a:p>
        </p:txBody>
      </p:sp>
      <p:sp>
        <p:nvSpPr>
          <p:cNvPr id="164" name="Google Shape;93;p13"/>
          <p:cNvSpPr txBox="1"/>
          <p:nvPr/>
        </p:nvSpPr>
        <p:spPr>
          <a:xfrm>
            <a:off x="6427675" y="5146051"/>
            <a:ext cx="5408839" cy="9601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50394" indent="-150394">
              <a:lnSpc>
                <a:spcPct val="160000"/>
              </a:lnSpc>
              <a:buSzPct val="100000"/>
              <a:buChar char="•"/>
              <a:defRPr sz="1500">
                <a:solidFill>
                  <a:srgbClr val="334155"/>
                </a:solidFill>
                <a:latin typeface="Open Sans"/>
                <a:ea typeface="Open Sans"/>
                <a:cs typeface="Open Sans"/>
                <a:sym typeface="Open Sans"/>
              </a:defRPr>
            </a:pPr>
            <a:r>
              <a:rPr b="1">
                <a:solidFill>
                  <a:srgbClr val="1E3A8A"/>
                </a:solidFill>
              </a:rPr>
              <a:t>Prediction with clinical traits is not good enough</a:t>
            </a:r>
          </a:p>
          <a:p>
            <a:pPr marL="150394" indent="-150394">
              <a:lnSpc>
                <a:spcPct val="160000"/>
              </a:lnSpc>
              <a:buSzPct val="100000"/>
              <a:buChar char="•"/>
              <a:defRPr sz="1500">
                <a:solidFill>
                  <a:srgbClr val="334155"/>
                </a:solidFill>
                <a:latin typeface="Open Sans"/>
                <a:ea typeface="Open Sans"/>
                <a:cs typeface="Open Sans"/>
                <a:sym typeface="Open Sans"/>
              </a:defRPr>
            </a:pPr>
            <a:r>
              <a:rPr b="1">
                <a:solidFill>
                  <a:srgbClr val="1E3A8A"/>
                </a:solidFill>
              </a:rPr>
              <a:t>Genomic information might be helpful for prediction</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 name="Google Shape;135;p16" descr="Google Shape;135;p16"/>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169" name="Google Shape;136;p16" descr="Google Shape;136;p16"/>
          <p:cNvPicPr>
            <a:picLocks noChangeAspect="1"/>
          </p:cNvPicPr>
          <p:nvPr/>
        </p:nvPicPr>
        <p:blipFill>
          <a:blip r:embed="rId4"/>
          <a:stretch>
            <a:fillRect/>
          </a:stretch>
        </p:blipFill>
        <p:spPr>
          <a:xfrm>
            <a:off x="571500" y="2077341"/>
            <a:ext cx="3492549" cy="3779493"/>
          </a:xfrm>
          <a:prstGeom prst="rect">
            <a:avLst/>
          </a:prstGeom>
          <a:ln w="12700">
            <a:miter lim="400000"/>
          </a:ln>
        </p:spPr>
      </p:pic>
      <p:pic>
        <p:nvPicPr>
          <p:cNvPr id="170" name="Google Shape;137;p16" descr="Google Shape;137;p16"/>
          <p:cNvPicPr>
            <a:picLocks noChangeAspect="1"/>
          </p:cNvPicPr>
          <p:nvPr/>
        </p:nvPicPr>
        <p:blipFill>
          <a:blip r:embed="rId5"/>
          <a:stretch>
            <a:fillRect/>
          </a:stretch>
        </p:blipFill>
        <p:spPr>
          <a:xfrm>
            <a:off x="8314329" y="2077341"/>
            <a:ext cx="3492552" cy="3779493"/>
          </a:xfrm>
          <a:prstGeom prst="rect">
            <a:avLst/>
          </a:prstGeom>
          <a:ln w="12700">
            <a:miter lim="400000"/>
          </a:ln>
        </p:spPr>
      </p:pic>
      <p:sp>
        <p:nvSpPr>
          <p:cNvPr id="171" name="Google Shape;139;p16"/>
          <p:cNvSpPr txBox="1"/>
          <p:nvPr/>
        </p:nvSpPr>
        <p:spPr>
          <a:xfrm>
            <a:off x="1262567" y="3086991"/>
            <a:ext cx="2110266"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Sample Size (N)</a:t>
            </a:r>
          </a:p>
        </p:txBody>
      </p:sp>
      <p:sp>
        <p:nvSpPr>
          <p:cNvPr id="172" name="Google Shape;140;p16"/>
          <p:cNvSpPr txBox="1"/>
          <p:nvPr/>
        </p:nvSpPr>
        <p:spPr>
          <a:xfrm>
            <a:off x="1026463" y="3694036"/>
            <a:ext cx="3032787" cy="2272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59972"/>
              </a:lnSpc>
              <a:defRPr sz="3400" b="1">
                <a:solidFill>
                  <a:srgbClr val="1E3A8A"/>
                </a:solidFill>
                <a:latin typeface="Open Sans"/>
                <a:ea typeface="Open Sans"/>
                <a:cs typeface="Open Sans"/>
                <a:sym typeface="Open Sans"/>
              </a:defRPr>
            </a:pPr>
            <a:r>
              <a:rPr sz="3200" dirty="0"/>
              <a:t>127 cases</a:t>
            </a:r>
          </a:p>
          <a:p>
            <a:pPr>
              <a:lnSpc>
                <a:spcPct val="159972"/>
              </a:lnSpc>
              <a:defRPr sz="3400" b="1">
                <a:solidFill>
                  <a:srgbClr val="1E3A8A"/>
                </a:solidFill>
                <a:latin typeface="Open Sans"/>
                <a:ea typeface="Open Sans"/>
                <a:cs typeface="Open Sans"/>
                <a:sym typeface="Open Sans"/>
              </a:defRPr>
            </a:pPr>
            <a:r>
              <a:rPr sz="3200" dirty="0"/>
              <a:t>290 controls</a:t>
            </a:r>
          </a:p>
          <a:p>
            <a:pPr>
              <a:lnSpc>
                <a:spcPct val="159972"/>
              </a:lnSpc>
              <a:defRPr sz="3400" b="1">
                <a:solidFill>
                  <a:srgbClr val="1E3A8A"/>
                </a:solidFill>
                <a:latin typeface="Open Sans"/>
                <a:ea typeface="Open Sans"/>
                <a:cs typeface="Open Sans"/>
                <a:sym typeface="Open Sans"/>
              </a:defRPr>
            </a:pPr>
            <a:r>
              <a:rPr sz="3200" dirty="0"/>
              <a:t>417 total</a:t>
            </a:r>
          </a:p>
        </p:txBody>
      </p:sp>
      <p:sp>
        <p:nvSpPr>
          <p:cNvPr id="173" name="Google Shape;142;p16"/>
          <p:cNvSpPr txBox="1"/>
          <p:nvPr/>
        </p:nvSpPr>
        <p:spPr>
          <a:xfrm>
            <a:off x="8890383" y="3086991"/>
            <a:ext cx="2340295"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Standard Method</a:t>
            </a:r>
          </a:p>
        </p:txBody>
      </p:sp>
      <p:sp>
        <p:nvSpPr>
          <p:cNvPr id="174" name="Google Shape;143;p16"/>
          <p:cNvSpPr txBox="1"/>
          <p:nvPr/>
        </p:nvSpPr>
        <p:spPr>
          <a:xfrm>
            <a:off x="9165181" y="3642617"/>
            <a:ext cx="1790701" cy="5943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b="1">
                <a:solidFill>
                  <a:srgbClr val="334155"/>
                </a:solidFill>
                <a:latin typeface="Open Sans"/>
                <a:ea typeface="Open Sans"/>
                <a:cs typeface="Open Sans"/>
                <a:sym typeface="Open Sans"/>
              </a:defRPr>
            </a:lvl1pPr>
          </a:lstStyle>
          <a:p>
            <a:r>
              <a:t>Logistic Regression</a:t>
            </a:r>
          </a:p>
        </p:txBody>
      </p:sp>
      <p:pic>
        <p:nvPicPr>
          <p:cNvPr id="175" name="Google Shape;148;p16" descr="Google Shape;148;p16"/>
          <p:cNvPicPr>
            <a:picLocks noChangeAspect="1"/>
          </p:cNvPicPr>
          <p:nvPr/>
        </p:nvPicPr>
        <p:blipFill>
          <a:blip r:embed="rId6"/>
          <a:stretch>
            <a:fillRect/>
          </a:stretch>
        </p:blipFill>
        <p:spPr>
          <a:xfrm>
            <a:off x="2031950" y="2391666"/>
            <a:ext cx="571502" cy="457203"/>
          </a:xfrm>
          <a:prstGeom prst="rect">
            <a:avLst/>
          </a:prstGeom>
          <a:ln w="12700">
            <a:miter lim="400000"/>
          </a:ln>
        </p:spPr>
      </p:pic>
      <p:pic>
        <p:nvPicPr>
          <p:cNvPr id="176" name="Google Shape;149;p16" descr="Google Shape;149;p16"/>
          <p:cNvPicPr>
            <a:picLocks noChangeAspect="1"/>
          </p:cNvPicPr>
          <p:nvPr/>
        </p:nvPicPr>
        <p:blipFill>
          <a:blip r:embed="rId7"/>
          <a:stretch>
            <a:fillRect/>
          </a:stretch>
        </p:blipFill>
        <p:spPr>
          <a:xfrm>
            <a:off x="9889081" y="2391666"/>
            <a:ext cx="342901" cy="457203"/>
          </a:xfrm>
          <a:prstGeom prst="rect">
            <a:avLst/>
          </a:prstGeom>
          <a:ln w="12700">
            <a:miter lim="400000"/>
          </a:ln>
        </p:spPr>
      </p:pic>
      <p:grpSp>
        <p:nvGrpSpPr>
          <p:cNvPr id="182" name="Group"/>
          <p:cNvGrpSpPr/>
          <p:nvPr/>
        </p:nvGrpSpPr>
        <p:grpSpPr>
          <a:xfrm>
            <a:off x="4436132" y="2077341"/>
            <a:ext cx="3492552" cy="3779493"/>
            <a:chOff x="0" y="0"/>
            <a:chExt cx="3492551" cy="3779492"/>
          </a:xfrm>
        </p:grpSpPr>
        <p:pic>
          <p:nvPicPr>
            <p:cNvPr id="177" name="Google Shape;138;p16" descr="Google Shape;138;p16"/>
            <p:cNvPicPr>
              <a:picLocks noChangeAspect="1"/>
            </p:cNvPicPr>
            <p:nvPr/>
          </p:nvPicPr>
          <p:blipFill>
            <a:blip r:embed="rId8"/>
            <a:stretch>
              <a:fillRect/>
            </a:stretch>
          </p:blipFill>
          <p:spPr>
            <a:xfrm>
              <a:off x="0" y="0"/>
              <a:ext cx="3492552" cy="3779493"/>
            </a:xfrm>
            <a:prstGeom prst="rect">
              <a:avLst/>
            </a:prstGeom>
            <a:ln w="12700" cap="flat">
              <a:noFill/>
              <a:miter lim="400000"/>
            </a:ln>
            <a:effectLst/>
          </p:spPr>
        </p:pic>
        <p:sp>
          <p:nvSpPr>
            <p:cNvPr id="178" name="Google Shape;145;p16"/>
            <p:cNvSpPr txBox="1"/>
            <p:nvPr/>
          </p:nvSpPr>
          <p:spPr>
            <a:xfrm>
              <a:off x="836083" y="1009650"/>
              <a:ext cx="1820230" cy="3175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defRPr sz="2100" b="1">
                  <a:solidFill>
                    <a:srgbClr val="0F766E"/>
                  </a:solidFill>
                  <a:latin typeface="Roboto Slab"/>
                  <a:ea typeface="Roboto Slab"/>
                  <a:cs typeface="Roboto Slab"/>
                  <a:sym typeface="Roboto Slab"/>
                </a:defRPr>
              </a:lvl1pPr>
            </a:lstStyle>
            <a:p>
              <a:r>
                <a:t>Predictors (P)</a:t>
              </a:r>
            </a:p>
          </p:txBody>
        </p:sp>
        <p:sp>
          <p:nvSpPr>
            <p:cNvPr id="179" name="Google Shape;146;p16"/>
            <p:cNvSpPr txBox="1"/>
            <p:nvPr/>
          </p:nvSpPr>
          <p:spPr>
            <a:xfrm>
              <a:off x="779412" y="1600201"/>
              <a:ext cx="2417863" cy="5461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lnSpc>
                  <a:spcPct val="159972"/>
                </a:lnSpc>
                <a:defRPr sz="3600" b="1">
                  <a:solidFill>
                    <a:srgbClr val="1E3A8A"/>
                  </a:solidFill>
                  <a:latin typeface="Open Sans"/>
                  <a:ea typeface="Open Sans"/>
                  <a:cs typeface="Open Sans"/>
                  <a:sym typeface="Open Sans"/>
                </a:defRPr>
              </a:lvl1pPr>
            </a:lstStyle>
            <a:p>
              <a:r>
                <a:t>&gt; 550,000</a:t>
              </a:r>
            </a:p>
          </p:txBody>
        </p:sp>
        <p:sp>
          <p:nvSpPr>
            <p:cNvPr id="180" name="Google Shape;147;p16"/>
            <p:cNvSpPr txBox="1"/>
            <p:nvPr/>
          </p:nvSpPr>
          <p:spPr>
            <a:xfrm>
              <a:off x="295275" y="2426941"/>
              <a:ext cx="2902001" cy="59436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lnSpc>
                  <a:spcPct val="160000"/>
                </a:lnSpc>
                <a:defRPr sz="1500">
                  <a:solidFill>
                    <a:srgbClr val="334155"/>
                  </a:solidFill>
                  <a:latin typeface="Open Sans"/>
                  <a:ea typeface="Open Sans"/>
                  <a:cs typeface="Open Sans"/>
                  <a:sym typeface="Open Sans"/>
                </a:defRPr>
              </a:lvl1pPr>
            </a:lstStyle>
            <a:p>
              <a:r>
                <a:t>Single Nucleotide Polymorphisms (SNPs) + Clinical Traits</a:t>
              </a:r>
            </a:p>
          </p:txBody>
        </p:sp>
        <p:pic>
          <p:nvPicPr>
            <p:cNvPr id="181" name="Google Shape;150;p16" descr="Google Shape;150;p16"/>
            <p:cNvPicPr>
              <a:picLocks noChangeAspect="1"/>
            </p:cNvPicPr>
            <p:nvPr/>
          </p:nvPicPr>
          <p:blipFill>
            <a:blip r:embed="rId9"/>
            <a:stretch>
              <a:fillRect/>
            </a:stretch>
          </p:blipFill>
          <p:spPr>
            <a:xfrm>
              <a:off x="1517598" y="314325"/>
              <a:ext cx="457203" cy="457202"/>
            </a:xfrm>
            <a:prstGeom prst="rect">
              <a:avLst/>
            </a:prstGeom>
            <a:ln w="12700" cap="flat">
              <a:noFill/>
              <a:miter lim="400000"/>
            </a:ln>
            <a:effectLst/>
          </p:spPr>
        </p:pic>
      </p:grpSp>
      <p:sp>
        <p:nvSpPr>
          <p:cNvPr id="183" name="Google Shape;151;p16"/>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The Problem: ”Small N, Large P" Problem</a:t>
            </a:r>
          </a:p>
        </p:txBody>
      </p:sp>
      <p:sp>
        <p:nvSpPr>
          <p:cNvPr id="184" name="Google Shape;152;p16"/>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sp>
        <p:nvSpPr>
          <p:cNvPr id="185" name="Google Shape;144;p16"/>
          <p:cNvSpPr txBox="1"/>
          <p:nvPr/>
        </p:nvSpPr>
        <p:spPr>
          <a:xfrm>
            <a:off x="8609604" y="4475101"/>
            <a:ext cx="2902002" cy="9601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ctr">
              <a:lnSpc>
                <a:spcPct val="160000"/>
              </a:lnSpc>
              <a:defRPr sz="1500">
                <a:solidFill>
                  <a:srgbClr val="334155"/>
                </a:solidFill>
                <a:latin typeface="Open Sans"/>
                <a:ea typeface="Open Sans"/>
                <a:cs typeface="Open Sans"/>
                <a:sym typeface="Open Sans"/>
              </a:defRPr>
            </a:pPr>
            <a:r>
              <a:t>Struggles when predictors (P) vastly outnumber samples (N) </a:t>
            </a:r>
          </a:p>
          <a:p>
            <a:pPr algn="ctr">
              <a:lnSpc>
                <a:spcPct val="160000"/>
              </a:lnSpc>
              <a:defRPr sz="1500">
                <a:solidFill>
                  <a:srgbClr val="334155"/>
                </a:solidFill>
                <a:latin typeface="Open Sans"/>
                <a:ea typeface="Open Sans"/>
                <a:cs typeface="Open Sans"/>
                <a:sym typeface="Open Sans"/>
              </a:defRPr>
            </a:pPr>
            <a:r>
              <a:t>Problem: overfitting</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9"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190" name="Google Shape;85;p13"/>
          <p:cNvSpPr txBox="1"/>
          <p:nvPr/>
        </p:nvSpPr>
        <p:spPr>
          <a:xfrm>
            <a:off x="571500" y="3810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0F172A"/>
                </a:solidFill>
                <a:latin typeface="Outfit"/>
                <a:ea typeface="Outfit"/>
                <a:cs typeface="Outfit"/>
                <a:sym typeface="Outfit"/>
              </a:defRPr>
            </a:lvl1pPr>
          </a:lstStyle>
          <a:p>
            <a:r>
              <a:t>Our Solution: Random Forests</a:t>
            </a:r>
          </a:p>
        </p:txBody>
      </p:sp>
      <p:sp>
        <p:nvSpPr>
          <p:cNvPr id="191" name="Google Shape;86;p13"/>
          <p:cNvSpPr txBox="1"/>
          <p:nvPr/>
        </p:nvSpPr>
        <p:spPr>
          <a:xfrm>
            <a:off x="571500" y="995661"/>
            <a:ext cx="110490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60000"/>
              </a:lnSpc>
              <a:defRPr sz="1500">
                <a:solidFill>
                  <a:srgbClr val="64748B"/>
                </a:solidFill>
                <a:latin typeface="DM Sans"/>
                <a:ea typeface="DM Sans"/>
                <a:cs typeface="DM Sans"/>
                <a:sym typeface="DM Sans"/>
              </a:defRPr>
            </a:lvl1pPr>
          </a:lstStyle>
          <a:p>
            <a:r>
              <a:t>Leveraging ensemble power for robust predictive modeling.</a:t>
            </a:r>
          </a:p>
        </p:txBody>
      </p:sp>
      <p:pic>
        <p:nvPicPr>
          <p:cNvPr id="192" name="Google Shape;88;p13" descr="Google Shape;88;p13"/>
          <p:cNvPicPr>
            <a:picLocks noChangeAspect="1"/>
          </p:cNvPicPr>
          <p:nvPr/>
        </p:nvPicPr>
        <p:blipFill>
          <a:blip r:embed="rId4"/>
          <a:stretch>
            <a:fillRect/>
          </a:stretch>
        </p:blipFill>
        <p:spPr>
          <a:xfrm>
            <a:off x="285750" y="4002285"/>
            <a:ext cx="5238752" cy="2400302"/>
          </a:xfrm>
          <a:prstGeom prst="rect">
            <a:avLst/>
          </a:prstGeom>
          <a:ln w="12700">
            <a:miter lim="400000"/>
          </a:ln>
        </p:spPr>
      </p:pic>
      <p:sp>
        <p:nvSpPr>
          <p:cNvPr id="193" name="Google Shape;89;p13"/>
          <p:cNvSpPr txBox="1"/>
          <p:nvPr/>
        </p:nvSpPr>
        <p:spPr>
          <a:xfrm>
            <a:off x="6209269" y="1641947"/>
            <a:ext cx="5500688"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100" b="1">
                <a:solidFill>
                  <a:srgbClr val="0F172A"/>
                </a:solidFill>
                <a:latin typeface="Outfit"/>
                <a:ea typeface="Outfit"/>
                <a:cs typeface="Outfit"/>
                <a:sym typeface="Outfit"/>
              </a:defRPr>
            </a:lvl1pPr>
          </a:lstStyle>
          <a:p>
            <a:r>
              <a:t>Key Concepts of Random Forests</a:t>
            </a:r>
          </a:p>
        </p:txBody>
      </p:sp>
      <p:sp>
        <p:nvSpPr>
          <p:cNvPr id="194" name="Google Shape;94;p13"/>
          <p:cNvSpPr txBox="1"/>
          <p:nvPr/>
        </p:nvSpPr>
        <p:spPr>
          <a:xfrm>
            <a:off x="6495019" y="2118197"/>
            <a:ext cx="4953002" cy="5283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A </a:t>
            </a:r>
            <a:r>
              <a:rPr b="1">
                <a:solidFill>
                  <a:srgbClr val="0EA5E9"/>
                </a:solidFill>
              </a:rPr>
              <a:t>decision tree</a:t>
            </a:r>
            <a:r>
              <a:t> predicts outcomes by splitting data based on feature values.</a:t>
            </a:r>
          </a:p>
        </p:txBody>
      </p:sp>
      <p:sp>
        <p:nvSpPr>
          <p:cNvPr id="195" name="Google Shape;95;p13"/>
          <p:cNvSpPr txBox="1"/>
          <p:nvPr/>
        </p:nvSpPr>
        <p:spPr>
          <a:xfrm>
            <a:off x="6495019" y="2809650"/>
            <a:ext cx="4953002"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An </a:t>
            </a:r>
            <a:r>
              <a:rPr b="1">
                <a:solidFill>
                  <a:srgbClr val="0EA5E9"/>
                </a:solidFill>
              </a:rPr>
              <a:t>ensemble of many decision trees</a:t>
            </a:r>
            <a:r>
              <a:t> forms a "forest".</a:t>
            </a:r>
          </a:p>
        </p:txBody>
      </p:sp>
      <p:sp>
        <p:nvSpPr>
          <p:cNvPr id="196" name="Google Shape;96;p13"/>
          <p:cNvSpPr txBox="1"/>
          <p:nvPr/>
        </p:nvSpPr>
        <p:spPr>
          <a:xfrm>
            <a:off x="6495019" y="3226816"/>
            <a:ext cx="4953002" cy="5283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Each tree uses </a:t>
            </a:r>
            <a:r>
              <a:rPr b="1">
                <a:solidFill>
                  <a:srgbClr val="0EA5E9"/>
                </a:solidFill>
              </a:rPr>
              <a:t>random samples</a:t>
            </a:r>
            <a:r>
              <a:t> of the data and considers only </a:t>
            </a:r>
            <a:r>
              <a:rPr b="1">
                <a:solidFill>
                  <a:srgbClr val="0EA5E9"/>
                </a:solidFill>
              </a:rPr>
              <a:t>random features</a:t>
            </a:r>
            <a:r>
              <a:t> at each split, enhancing diversity.</a:t>
            </a:r>
          </a:p>
        </p:txBody>
      </p:sp>
      <p:sp>
        <p:nvSpPr>
          <p:cNvPr id="197" name="Google Shape;97;p13"/>
          <p:cNvSpPr txBox="1"/>
          <p:nvPr/>
        </p:nvSpPr>
        <p:spPr>
          <a:xfrm>
            <a:off x="6495019" y="3918272"/>
            <a:ext cx="4953002" cy="8406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b="1">
                <a:latin typeface="+mn-lt"/>
                <a:ea typeface="+mn-ea"/>
                <a:cs typeface="+mn-cs"/>
                <a:sym typeface="Arial"/>
              </a:defRPr>
            </a:pPr>
            <a:r>
              <a:t>Voting Mechanism:</a:t>
            </a:r>
            <a:r>
              <a:rPr b="0"/>
              <a:t> The model aggregates predictions by taking the </a:t>
            </a:r>
            <a:r>
              <a:t>votes from each decision tree</a:t>
            </a:r>
            <a:r>
              <a:rPr b="0"/>
              <a:t> to determine the final outcome.</a:t>
            </a:r>
          </a:p>
        </p:txBody>
      </p:sp>
      <p:sp>
        <p:nvSpPr>
          <p:cNvPr id="198" name="Google Shape;98;p13"/>
          <p:cNvSpPr txBox="1"/>
          <p:nvPr/>
        </p:nvSpPr>
        <p:spPr>
          <a:xfrm>
            <a:off x="6495019" y="5037239"/>
            <a:ext cx="4953002" cy="5283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Handles </a:t>
            </a:r>
            <a:r>
              <a:rPr b="1">
                <a:solidFill>
                  <a:srgbClr val="0EA5E9"/>
                </a:solidFill>
              </a:rPr>
              <a:t>nonlinear, high-dimensional data</a:t>
            </a:r>
            <a:r>
              <a:t> effectively, crucial for complex datasets.</a:t>
            </a:r>
          </a:p>
        </p:txBody>
      </p:sp>
      <p:sp>
        <p:nvSpPr>
          <p:cNvPr id="199" name="Google Shape;99;p13"/>
          <p:cNvSpPr txBox="1"/>
          <p:nvPr/>
        </p:nvSpPr>
        <p:spPr>
          <a:xfrm>
            <a:off x="6495019" y="5728694"/>
            <a:ext cx="4953002" cy="2877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rPr lang="en-US" dirty="0"/>
              <a:t>It is</a:t>
            </a:r>
            <a:r>
              <a:rPr lang="zh-CN" altLang="en-US" dirty="0"/>
              <a:t> </a:t>
            </a:r>
            <a:r>
              <a:rPr lang="en-US" altLang="zh-CN" dirty="0"/>
              <a:t>known</a:t>
            </a:r>
            <a:r>
              <a:rPr lang="zh-CN" altLang="en-US" dirty="0"/>
              <a:t> </a:t>
            </a:r>
            <a:r>
              <a:rPr lang="en-US" altLang="zh-CN" dirty="0"/>
              <a:t>to</a:t>
            </a:r>
            <a:r>
              <a:rPr lang="zh-CN" altLang="en-US" dirty="0"/>
              <a:t> </a:t>
            </a:r>
            <a:r>
              <a:rPr lang="en-US" altLang="zh-CN" dirty="0"/>
              <a:t>be</a:t>
            </a:r>
            <a:r>
              <a:rPr lang="zh-CN" altLang="en-US" dirty="0"/>
              <a:t> </a:t>
            </a:r>
            <a:r>
              <a:rPr lang="en-US" altLang="zh-CN" dirty="0"/>
              <a:t>relatively</a:t>
            </a:r>
            <a:r>
              <a:rPr lang="zh-CN" altLang="en-US" dirty="0"/>
              <a:t> </a:t>
            </a:r>
            <a:r>
              <a:rPr lang="en-US" altLang="zh-CN" dirty="0"/>
              <a:t>resistant</a:t>
            </a:r>
            <a:r>
              <a:rPr lang="zh-CN" altLang="en-US" dirty="0"/>
              <a:t> </a:t>
            </a:r>
            <a:r>
              <a:rPr lang="en-US" altLang="zh-CN" dirty="0"/>
              <a:t>to</a:t>
            </a:r>
            <a:r>
              <a:rPr lang="zh-CN" altLang="en-US" dirty="0"/>
              <a:t> </a:t>
            </a:r>
            <a:r>
              <a:rPr lang="en-US" altLang="zh-CN" dirty="0"/>
              <a:t>overfitting</a:t>
            </a:r>
            <a:endParaRPr dirty="0"/>
          </a:p>
        </p:txBody>
      </p:sp>
      <p:pic>
        <p:nvPicPr>
          <p:cNvPr id="200" name="Google Shape;100;p13" descr="Google Shape;100;p13"/>
          <p:cNvPicPr>
            <a:picLocks noChangeAspect="1"/>
          </p:cNvPicPr>
          <p:nvPr/>
        </p:nvPicPr>
        <p:blipFill>
          <a:blip r:embed="rId5"/>
          <a:stretch>
            <a:fillRect/>
          </a:stretch>
        </p:blipFill>
        <p:spPr>
          <a:xfrm>
            <a:off x="6209269" y="2137247"/>
            <a:ext cx="190502" cy="200027"/>
          </a:xfrm>
          <a:prstGeom prst="rect">
            <a:avLst/>
          </a:prstGeom>
          <a:ln w="12700">
            <a:miter lim="400000"/>
          </a:ln>
        </p:spPr>
      </p:pic>
      <p:pic>
        <p:nvPicPr>
          <p:cNvPr id="201" name="Google Shape;101;p13" descr="Google Shape;101;p13"/>
          <p:cNvPicPr>
            <a:picLocks noChangeAspect="1"/>
          </p:cNvPicPr>
          <p:nvPr/>
        </p:nvPicPr>
        <p:blipFill>
          <a:blip r:embed="rId5"/>
          <a:stretch>
            <a:fillRect/>
          </a:stretch>
        </p:blipFill>
        <p:spPr>
          <a:xfrm>
            <a:off x="6209269" y="2828700"/>
            <a:ext cx="190502" cy="200027"/>
          </a:xfrm>
          <a:prstGeom prst="rect">
            <a:avLst/>
          </a:prstGeom>
          <a:ln w="12700">
            <a:miter lim="400000"/>
          </a:ln>
        </p:spPr>
      </p:pic>
      <p:pic>
        <p:nvPicPr>
          <p:cNvPr id="202" name="Google Shape;102;p13" descr="Google Shape;102;p13"/>
          <p:cNvPicPr>
            <a:picLocks noChangeAspect="1"/>
          </p:cNvPicPr>
          <p:nvPr/>
        </p:nvPicPr>
        <p:blipFill>
          <a:blip r:embed="rId5"/>
          <a:stretch>
            <a:fillRect/>
          </a:stretch>
        </p:blipFill>
        <p:spPr>
          <a:xfrm>
            <a:off x="6209269" y="3245866"/>
            <a:ext cx="190502" cy="200027"/>
          </a:xfrm>
          <a:prstGeom prst="rect">
            <a:avLst/>
          </a:prstGeom>
          <a:ln w="12700">
            <a:miter lim="400000"/>
          </a:ln>
        </p:spPr>
      </p:pic>
      <p:pic>
        <p:nvPicPr>
          <p:cNvPr id="203" name="Google Shape;103;p13" descr="Google Shape;103;p13"/>
          <p:cNvPicPr>
            <a:picLocks noChangeAspect="1"/>
          </p:cNvPicPr>
          <p:nvPr/>
        </p:nvPicPr>
        <p:blipFill>
          <a:blip r:embed="rId5"/>
          <a:stretch>
            <a:fillRect/>
          </a:stretch>
        </p:blipFill>
        <p:spPr>
          <a:xfrm>
            <a:off x="6209269" y="3937322"/>
            <a:ext cx="190502" cy="200027"/>
          </a:xfrm>
          <a:prstGeom prst="rect">
            <a:avLst/>
          </a:prstGeom>
          <a:ln w="12700">
            <a:miter lim="400000"/>
          </a:ln>
        </p:spPr>
      </p:pic>
      <p:pic>
        <p:nvPicPr>
          <p:cNvPr id="204" name="Google Shape;104;p13" descr="Google Shape;104;p13"/>
          <p:cNvPicPr>
            <a:picLocks noChangeAspect="1"/>
          </p:cNvPicPr>
          <p:nvPr/>
        </p:nvPicPr>
        <p:blipFill>
          <a:blip r:embed="rId5"/>
          <a:stretch>
            <a:fillRect/>
          </a:stretch>
        </p:blipFill>
        <p:spPr>
          <a:xfrm>
            <a:off x="6209269" y="5056289"/>
            <a:ext cx="190502" cy="200027"/>
          </a:xfrm>
          <a:prstGeom prst="rect">
            <a:avLst/>
          </a:prstGeom>
          <a:ln w="12700">
            <a:miter lim="400000"/>
          </a:ln>
        </p:spPr>
      </p:pic>
      <p:pic>
        <p:nvPicPr>
          <p:cNvPr id="205" name="Google Shape;105;p13" descr="Google Shape;105;p13"/>
          <p:cNvPicPr>
            <a:picLocks noChangeAspect="1"/>
          </p:cNvPicPr>
          <p:nvPr/>
        </p:nvPicPr>
        <p:blipFill>
          <a:blip r:embed="rId5"/>
          <a:stretch>
            <a:fillRect/>
          </a:stretch>
        </p:blipFill>
        <p:spPr>
          <a:xfrm>
            <a:off x="6209269" y="5747744"/>
            <a:ext cx="190502" cy="200027"/>
          </a:xfrm>
          <a:prstGeom prst="rect">
            <a:avLst/>
          </a:prstGeom>
          <a:ln w="12700">
            <a:miter lim="400000"/>
          </a:ln>
        </p:spPr>
      </p:pic>
      <p:pic>
        <p:nvPicPr>
          <p:cNvPr id="206" name="Picture 2" descr="Picture 2"/>
          <p:cNvPicPr>
            <a:picLocks noChangeAspect="1"/>
          </p:cNvPicPr>
          <p:nvPr/>
        </p:nvPicPr>
        <p:blipFill>
          <a:blip r:embed="rId6"/>
          <a:stretch>
            <a:fillRect/>
          </a:stretch>
        </p:blipFill>
        <p:spPr>
          <a:xfrm>
            <a:off x="778408" y="4094684"/>
            <a:ext cx="3781441" cy="2836081"/>
          </a:xfrm>
          <a:prstGeom prst="rect">
            <a:avLst/>
          </a:prstGeom>
          <a:ln w="12700">
            <a:miter lim="400000"/>
          </a:ln>
        </p:spPr>
      </p:pic>
      <p:pic>
        <p:nvPicPr>
          <p:cNvPr id="207" name="pasted-movie.png" descr="pasted-movie.png"/>
          <p:cNvPicPr>
            <a:picLocks noChangeAspect="1"/>
          </p:cNvPicPr>
          <p:nvPr/>
        </p:nvPicPr>
        <p:blipFill>
          <a:blip r:embed="rId7"/>
          <a:stretch>
            <a:fillRect/>
          </a:stretch>
        </p:blipFill>
        <p:spPr>
          <a:xfrm>
            <a:off x="434976" y="1571400"/>
            <a:ext cx="4940302" cy="2679702"/>
          </a:xfrm>
          <a:prstGeom prst="rect">
            <a:avLst/>
          </a:prstGeom>
          <a:ln w="12700">
            <a:miter lim="400000"/>
          </a:ln>
        </p:spPr>
      </p:pic>
      <p:pic>
        <p:nvPicPr>
          <p:cNvPr id="208" name="pasted-movie.png" descr="pasted-movie.png"/>
          <p:cNvPicPr>
            <a:picLocks noChangeAspect="1"/>
          </p:cNvPicPr>
          <p:nvPr/>
        </p:nvPicPr>
        <p:blipFill>
          <a:blip r:embed="rId8"/>
          <a:stretch>
            <a:fillRect/>
          </a:stretch>
        </p:blipFill>
        <p:spPr>
          <a:xfrm>
            <a:off x="4258507" y="1594956"/>
            <a:ext cx="1760594" cy="840645"/>
          </a:xfrm>
          <a:prstGeom prst="rect">
            <a:avLst/>
          </a:pr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2"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213" name="Google Shape;93;p13"/>
          <p:cNvSpPr txBox="1"/>
          <p:nvPr/>
        </p:nvSpPr>
        <p:spPr>
          <a:xfrm>
            <a:off x="571500" y="381000"/>
            <a:ext cx="11601450" cy="558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0F172A"/>
                </a:solidFill>
                <a:latin typeface="Outfit"/>
                <a:ea typeface="Outfit"/>
                <a:cs typeface="Outfit"/>
                <a:sym typeface="Outfit"/>
              </a:defRPr>
            </a:lvl1pPr>
          </a:lstStyle>
          <a:p>
            <a:r>
              <a:t>Key Terminology：SNP</a:t>
            </a:r>
          </a:p>
        </p:txBody>
      </p:sp>
      <p:sp>
        <p:nvSpPr>
          <p:cNvPr id="214" name="Google Shape;93;p13"/>
          <p:cNvSpPr txBox="1"/>
          <p:nvPr/>
        </p:nvSpPr>
        <p:spPr>
          <a:xfrm>
            <a:off x="304499" y="2655570"/>
            <a:ext cx="6510915" cy="1546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30341" indent="-130341">
              <a:lnSpc>
                <a:spcPct val="160000"/>
              </a:lnSpc>
              <a:buSzPct val="100000"/>
              <a:buChar char="•"/>
              <a:defRPr sz="2400" b="1" u="sng">
                <a:solidFill>
                  <a:srgbClr val="475569"/>
                </a:solidFill>
                <a:latin typeface="DM Sans"/>
                <a:ea typeface="DM Sans"/>
                <a:cs typeface="DM Sans"/>
                <a:sym typeface="DM Sans"/>
              </a:defRPr>
            </a:pPr>
            <a:r>
              <a:t>S</a:t>
            </a:r>
            <a:r>
              <a:rPr u="none"/>
              <a:t>ingle </a:t>
            </a:r>
            <a:r>
              <a:t>N</a:t>
            </a:r>
            <a:r>
              <a:rPr u="none"/>
              <a:t>ucleotide </a:t>
            </a:r>
            <a:r>
              <a:t>P</a:t>
            </a:r>
            <a:r>
              <a:rPr u="none"/>
              <a:t>olymorphism</a:t>
            </a:r>
          </a:p>
          <a:p>
            <a:pPr marL="130341" indent="-130341">
              <a:lnSpc>
                <a:spcPct val="160000"/>
              </a:lnSpc>
              <a:buSzPct val="100000"/>
              <a:buChar char="•"/>
              <a:defRPr sz="2400">
                <a:solidFill>
                  <a:srgbClr val="475569"/>
                </a:solidFill>
                <a:latin typeface="DM Sans"/>
                <a:ea typeface="DM Sans"/>
                <a:cs typeface="DM Sans"/>
                <a:sym typeface="DM Sans"/>
              </a:defRPr>
            </a:pPr>
            <a:r>
              <a:t>A one-letter difference (A/C/G/T) on DNA</a:t>
            </a:r>
          </a:p>
          <a:p>
            <a:pPr marL="130341" indent="-130341">
              <a:lnSpc>
                <a:spcPct val="160000"/>
              </a:lnSpc>
              <a:buSzPct val="100000"/>
              <a:buChar char="•"/>
              <a:defRPr sz="2400">
                <a:solidFill>
                  <a:srgbClr val="475569"/>
                </a:solidFill>
                <a:latin typeface="DM Sans"/>
                <a:ea typeface="DM Sans"/>
                <a:cs typeface="DM Sans"/>
                <a:sym typeface="DM Sans"/>
              </a:defRPr>
            </a:pPr>
            <a:r>
              <a:t>May influence traits or disease risks</a:t>
            </a:r>
          </a:p>
        </p:txBody>
      </p:sp>
      <p:pic>
        <p:nvPicPr>
          <p:cNvPr id="215" name="Image" descr="Image"/>
          <p:cNvPicPr>
            <a:picLocks noChangeAspect="1"/>
          </p:cNvPicPr>
          <p:nvPr/>
        </p:nvPicPr>
        <p:blipFill>
          <a:blip r:embed="rId4"/>
          <a:stretch>
            <a:fillRect/>
          </a:stretch>
        </p:blipFill>
        <p:spPr>
          <a:xfrm>
            <a:off x="6489766" y="1911531"/>
            <a:ext cx="5426358" cy="3421798"/>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220" name="Google Shape;93;p13"/>
          <p:cNvSpPr txBox="1"/>
          <p:nvPr/>
        </p:nvSpPr>
        <p:spPr>
          <a:xfrm>
            <a:off x="571500" y="3810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0F172A"/>
                </a:solidFill>
                <a:latin typeface="Outfit"/>
                <a:ea typeface="Outfit"/>
                <a:cs typeface="Outfit"/>
                <a:sym typeface="Outfit"/>
              </a:defRPr>
            </a:lvl1pPr>
          </a:lstStyle>
          <a:p>
            <a:r>
              <a:t>Key Terminology: RF Importance Score</a:t>
            </a:r>
          </a:p>
        </p:txBody>
      </p:sp>
      <p:sp>
        <p:nvSpPr>
          <p:cNvPr id="221" name="Google Shape;95;p13"/>
          <p:cNvSpPr txBox="1"/>
          <p:nvPr/>
        </p:nvSpPr>
        <p:spPr>
          <a:xfrm>
            <a:off x="8319988" y="1960329"/>
            <a:ext cx="3712510" cy="3314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30341" indent="-130341">
              <a:lnSpc>
                <a:spcPct val="160000"/>
              </a:lnSpc>
              <a:buSzPct val="100000"/>
              <a:buChar char="•"/>
              <a:defRPr sz="2400">
                <a:solidFill>
                  <a:srgbClr val="475569"/>
                </a:solidFill>
                <a:latin typeface="DM Sans"/>
                <a:ea typeface="DM Sans"/>
                <a:cs typeface="DM Sans"/>
                <a:sym typeface="DM Sans"/>
              </a:defRPr>
            </a:pPr>
            <a:r>
              <a:t>Random Forest </a:t>
            </a:r>
            <a:r>
              <a:rPr b="1"/>
              <a:t>predictive power</a:t>
            </a:r>
            <a:r>
              <a:t>: contribution to the predictive accuracy</a:t>
            </a:r>
          </a:p>
          <a:p>
            <a:pPr marL="130341" indent="-130341">
              <a:lnSpc>
                <a:spcPct val="160000"/>
              </a:lnSpc>
              <a:buSzPct val="100000"/>
              <a:buChar char="•"/>
              <a:defRPr sz="2400">
                <a:solidFill>
                  <a:srgbClr val="475569"/>
                </a:solidFill>
                <a:latin typeface="DM Sans"/>
                <a:ea typeface="DM Sans"/>
                <a:cs typeface="DM Sans"/>
                <a:sym typeface="DM Sans"/>
              </a:defRPr>
            </a:pPr>
            <a:r>
              <a:t>The higher, the more contribution</a:t>
            </a:r>
          </a:p>
        </p:txBody>
      </p:sp>
      <p:pic>
        <p:nvPicPr>
          <p:cNvPr id="222" name="pasted-movie.png" descr="pasted-movie.png"/>
          <p:cNvPicPr>
            <a:picLocks noChangeAspect="1"/>
          </p:cNvPicPr>
          <p:nvPr/>
        </p:nvPicPr>
        <p:blipFill>
          <a:blip r:embed="rId4"/>
          <a:stretch>
            <a:fillRect/>
          </a:stretch>
        </p:blipFill>
        <p:spPr>
          <a:xfrm>
            <a:off x="153954" y="1717003"/>
            <a:ext cx="8049170" cy="3801352"/>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6"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227" name="Google Shape;93;p13"/>
          <p:cNvSpPr txBox="1"/>
          <p:nvPr/>
        </p:nvSpPr>
        <p:spPr>
          <a:xfrm>
            <a:off x="571500" y="2921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0F172A"/>
                </a:solidFill>
                <a:latin typeface="Outfit"/>
                <a:ea typeface="Outfit"/>
                <a:cs typeface="Outfit"/>
                <a:sym typeface="Outfit"/>
              </a:defRPr>
            </a:lvl1pPr>
          </a:lstStyle>
          <a:p>
            <a:r>
              <a:t>Key Terminology: AUC</a:t>
            </a:r>
          </a:p>
        </p:txBody>
      </p:sp>
      <p:sp>
        <p:nvSpPr>
          <p:cNvPr id="228" name="Google Shape;95;p13"/>
          <p:cNvSpPr txBox="1"/>
          <p:nvPr/>
        </p:nvSpPr>
        <p:spPr>
          <a:xfrm>
            <a:off x="475708" y="4123033"/>
            <a:ext cx="11240584" cy="2215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30341" indent="-130341">
              <a:buSzPct val="100000"/>
              <a:buChar char="•"/>
              <a:defRPr sz="2400" b="1" u="sng">
                <a:solidFill>
                  <a:srgbClr val="475569"/>
                </a:solidFill>
                <a:latin typeface="DM Sans"/>
                <a:ea typeface="DM Sans"/>
                <a:cs typeface="DM Sans"/>
                <a:sym typeface="DM Sans"/>
              </a:defRPr>
            </a:pPr>
            <a:r>
              <a:rPr sz="2400" dirty="0">
                <a:latin typeface="Times New Roman" panose="02020603050405020304" pitchFamily="18" charset="0"/>
                <a:cs typeface="Times New Roman" panose="02020603050405020304" pitchFamily="18" charset="0"/>
              </a:rPr>
              <a:t>A</a:t>
            </a:r>
            <a:r>
              <a:rPr sz="2400" u="none" dirty="0">
                <a:latin typeface="Times New Roman" panose="02020603050405020304" pitchFamily="18" charset="0"/>
                <a:cs typeface="Times New Roman" panose="02020603050405020304" pitchFamily="18" charset="0"/>
              </a:rPr>
              <a:t>rea </a:t>
            </a:r>
            <a:r>
              <a:rPr sz="2400" dirty="0">
                <a:latin typeface="Times New Roman" panose="02020603050405020304" pitchFamily="18" charset="0"/>
                <a:cs typeface="Times New Roman" panose="02020603050405020304" pitchFamily="18" charset="0"/>
              </a:rPr>
              <a:t>U</a:t>
            </a:r>
            <a:r>
              <a:rPr sz="2400" u="none" dirty="0">
                <a:latin typeface="Times New Roman" panose="02020603050405020304" pitchFamily="18" charset="0"/>
                <a:cs typeface="Times New Roman" panose="02020603050405020304" pitchFamily="18" charset="0"/>
              </a:rPr>
              <a:t>nder the </a:t>
            </a:r>
            <a:r>
              <a:rPr lang="en-US" altLang="zh-CN" sz="2400" u="none" dirty="0">
                <a:latin typeface="Times New Roman" panose="02020603050405020304" pitchFamily="18" charset="0"/>
                <a:cs typeface="Times New Roman" panose="02020603050405020304" pitchFamily="18" charset="0"/>
              </a:rPr>
              <a:t>(ROC)</a:t>
            </a:r>
            <a:r>
              <a:rPr lang="zh-CN" altLang="en-US" sz="2400" u="none"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t>
            </a:r>
            <a:r>
              <a:rPr sz="2400" u="none" dirty="0">
                <a:latin typeface="Times New Roman" panose="02020603050405020304" pitchFamily="18" charset="0"/>
                <a:cs typeface="Times New Roman" panose="02020603050405020304" pitchFamily="18" charset="0"/>
              </a:rPr>
              <a:t>urve</a:t>
            </a:r>
          </a:p>
          <a:p>
            <a:pPr marL="130341" indent="-130341">
              <a:buSzPct val="100000"/>
              <a:buChar char="•"/>
              <a:defRPr sz="2400">
                <a:solidFill>
                  <a:srgbClr val="475569"/>
                </a:solidFill>
                <a:latin typeface="DM Sans"/>
                <a:ea typeface="DM Sans"/>
                <a:cs typeface="DM Sans"/>
                <a:sym typeface="DM Sans"/>
              </a:defRPr>
            </a:pPr>
            <a:r>
              <a:rPr sz="2400" dirty="0">
                <a:latin typeface="Times New Roman" panose="02020603050405020304" pitchFamily="18" charset="0"/>
                <a:cs typeface="Times New Roman" panose="02020603050405020304" pitchFamily="18" charset="0"/>
              </a:rPr>
              <a:t>A performance metric ranging from 0 to 1</a:t>
            </a:r>
          </a:p>
          <a:p>
            <a:pPr marL="130341" indent="-130341">
              <a:buSzPct val="100000"/>
              <a:buChar char="•"/>
              <a:defRPr sz="2400">
                <a:solidFill>
                  <a:srgbClr val="475569"/>
                </a:solidFill>
                <a:latin typeface="DM Sans"/>
                <a:ea typeface="DM Sans"/>
                <a:cs typeface="DM Sans"/>
                <a:sym typeface="DM Sans"/>
              </a:defRPr>
            </a:pPr>
            <a:r>
              <a:rPr sz="2400" dirty="0">
                <a:latin typeface="Times New Roman" panose="02020603050405020304" pitchFamily="18" charset="0"/>
                <a:cs typeface="Times New Roman" panose="02020603050405020304" pitchFamily="18" charset="0"/>
              </a:rPr>
              <a:t>Measures the ability to distinguish between classes </a:t>
            </a:r>
          </a:p>
          <a:p>
            <a:pPr marL="130341" indent="-130341">
              <a:buSzPct val="100000"/>
              <a:buChar char="•"/>
              <a:defRPr sz="2400" b="1">
                <a:solidFill>
                  <a:srgbClr val="475569"/>
                </a:solidFill>
                <a:latin typeface="DM Sans"/>
                <a:ea typeface="DM Sans"/>
                <a:cs typeface="DM Sans"/>
                <a:sym typeface="DM Sans"/>
              </a:defRPr>
            </a:pPr>
            <a:r>
              <a:rPr sz="2400" dirty="0">
                <a:latin typeface="Times New Roman" panose="02020603050405020304" pitchFamily="18" charset="0"/>
                <a:cs typeface="Times New Roman" panose="02020603050405020304" pitchFamily="18" charset="0"/>
              </a:rPr>
              <a:t>0.5 is random guessing</a:t>
            </a:r>
          </a:p>
          <a:p>
            <a:pPr marL="130341" indent="-130341">
              <a:buSzPct val="100000"/>
              <a:buChar char="•"/>
              <a:defRPr sz="2400" b="1">
                <a:solidFill>
                  <a:srgbClr val="475569"/>
                </a:solidFill>
                <a:latin typeface="DM Sans"/>
                <a:ea typeface="DM Sans"/>
                <a:cs typeface="DM Sans"/>
                <a:sym typeface="DM Sans"/>
              </a:defRPr>
            </a:pPr>
            <a:r>
              <a:rPr sz="2400" dirty="0">
                <a:latin typeface="Times New Roman" panose="02020603050405020304" pitchFamily="18" charset="0"/>
                <a:cs typeface="Times New Roman" panose="02020603050405020304" pitchFamily="18" charset="0"/>
              </a:rPr>
              <a:t>1.0 is perfect prediction</a:t>
            </a:r>
            <a:endParaRPr lang="en-US" sz="2400" dirty="0">
              <a:latin typeface="Times New Roman" panose="02020603050405020304" pitchFamily="18" charset="0"/>
              <a:cs typeface="Times New Roman" panose="02020603050405020304" pitchFamily="18" charset="0"/>
            </a:endParaRPr>
          </a:p>
          <a:p>
            <a:pPr marL="130341" indent="-130341">
              <a:buSzPct val="100000"/>
              <a:buChar char="•"/>
              <a:defRPr sz="2400" b="1">
                <a:solidFill>
                  <a:srgbClr val="475569"/>
                </a:solidFill>
                <a:latin typeface="DM Sans"/>
                <a:ea typeface="DM Sans"/>
                <a:cs typeface="DM Sans"/>
                <a:sym typeface="DM Sans"/>
              </a:defRPr>
            </a:pPr>
            <a:r>
              <a:rPr lang="en-US" altLang="zh-CN" sz="2400" dirty="0">
                <a:latin typeface="Times New Roman" panose="02020603050405020304" pitchFamily="18" charset="0"/>
                <a:cs typeface="Times New Roman" panose="02020603050405020304" pitchFamily="18" charset="0"/>
              </a:rPr>
              <a:t>Receiver-Operating</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Characteristic</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(ROC)</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curve</a:t>
            </a:r>
            <a:endParaRPr sz="2400" dirty="0">
              <a:latin typeface="Times New Roman" panose="02020603050405020304" pitchFamily="18" charset="0"/>
              <a:cs typeface="Times New Roman" panose="02020603050405020304" pitchFamily="18" charset="0"/>
            </a:endParaRPr>
          </a:p>
        </p:txBody>
      </p:sp>
      <p:pic>
        <p:nvPicPr>
          <p:cNvPr id="229" name="Image" descr="Image"/>
          <p:cNvPicPr>
            <a:picLocks noChangeAspect="1"/>
          </p:cNvPicPr>
          <p:nvPr/>
        </p:nvPicPr>
        <p:blipFill>
          <a:blip r:embed="rId4"/>
          <a:stretch>
            <a:fillRect/>
          </a:stretch>
        </p:blipFill>
        <p:spPr>
          <a:xfrm>
            <a:off x="-704866" y="1156029"/>
            <a:ext cx="8341667" cy="2551570"/>
          </a:xfrm>
          <a:prstGeom prst="rect">
            <a:avLst/>
          </a:prstGeom>
          <a:ln w="12700">
            <a:miter lim="400000"/>
          </a:ln>
        </p:spPr>
      </p:pic>
      <p:pic>
        <p:nvPicPr>
          <p:cNvPr id="230" name="Image" descr="Image"/>
          <p:cNvPicPr>
            <a:picLocks noChangeAspect="1"/>
          </p:cNvPicPr>
          <p:nvPr/>
        </p:nvPicPr>
        <p:blipFill>
          <a:blip r:embed="rId5"/>
          <a:stretch>
            <a:fillRect/>
          </a:stretch>
        </p:blipFill>
        <p:spPr>
          <a:xfrm>
            <a:off x="7613783" y="737506"/>
            <a:ext cx="5927317" cy="4445489"/>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 name="Google Shape;175;p18" descr="Google Shape;175;p18"/>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235" name="Google Shape;182;p18" descr="Google Shape;182;p18"/>
          <p:cNvPicPr>
            <a:picLocks noChangeAspect="1"/>
          </p:cNvPicPr>
          <p:nvPr/>
        </p:nvPicPr>
        <p:blipFill>
          <a:blip r:embed="rId4"/>
          <a:stretch>
            <a:fillRect/>
          </a:stretch>
        </p:blipFill>
        <p:spPr>
          <a:xfrm>
            <a:off x="3797472" y="3431294"/>
            <a:ext cx="856314" cy="988054"/>
          </a:xfrm>
          <a:prstGeom prst="rect">
            <a:avLst/>
          </a:prstGeom>
          <a:ln w="12700">
            <a:miter lim="400000"/>
          </a:ln>
        </p:spPr>
      </p:pic>
      <p:sp>
        <p:nvSpPr>
          <p:cNvPr id="236" name="Google Shape;183;p18"/>
          <p:cNvSpPr txBox="1"/>
          <p:nvPr/>
        </p:nvSpPr>
        <p:spPr>
          <a:xfrm>
            <a:off x="5155184" y="1803573"/>
            <a:ext cx="2090263"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Step 2: Ranking</a:t>
            </a:r>
          </a:p>
        </p:txBody>
      </p:sp>
      <p:sp>
        <p:nvSpPr>
          <p:cNvPr id="237" name="Google Shape;186;p18"/>
          <p:cNvSpPr txBox="1"/>
          <p:nvPr/>
        </p:nvSpPr>
        <p:spPr>
          <a:xfrm>
            <a:off x="9105641" y="1803573"/>
            <a:ext cx="2273568"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Step 3: Prediction</a:t>
            </a:r>
          </a:p>
        </p:txBody>
      </p:sp>
      <p:sp>
        <p:nvSpPr>
          <p:cNvPr id="238" name="Google Shape;187;p18"/>
          <p:cNvSpPr txBox="1"/>
          <p:nvPr/>
        </p:nvSpPr>
        <p:spPr>
          <a:xfrm>
            <a:off x="9566385" y="3429000"/>
            <a:ext cx="2165303" cy="9601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r>
              <a:t>Build final models using Top N SNPs (10, 40, 160, 320) + 4 Clinical Traits.</a:t>
            </a:r>
          </a:p>
        </p:txBody>
      </p:sp>
      <p:sp>
        <p:nvSpPr>
          <p:cNvPr id="239" name="Google Shape;190;p18"/>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Methodology: Feature (SNP) Selection</a:t>
            </a:r>
          </a:p>
        </p:txBody>
      </p:sp>
      <p:sp>
        <p:nvSpPr>
          <p:cNvPr id="240" name="Google Shape;191;p18"/>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pic>
        <p:nvPicPr>
          <p:cNvPr id="241" name="Picture 11" descr="Picture 11"/>
          <p:cNvPicPr>
            <a:picLocks noChangeAspect="1"/>
          </p:cNvPicPr>
          <p:nvPr/>
        </p:nvPicPr>
        <p:blipFill>
          <a:blip r:embed="rId5"/>
          <a:stretch>
            <a:fillRect/>
          </a:stretch>
        </p:blipFill>
        <p:spPr>
          <a:xfrm>
            <a:off x="-9304" y="3972447"/>
            <a:ext cx="3568245" cy="2857134"/>
          </a:xfrm>
          <a:prstGeom prst="rect">
            <a:avLst/>
          </a:prstGeom>
          <a:ln w="12700">
            <a:miter lim="400000"/>
          </a:ln>
        </p:spPr>
      </p:pic>
      <p:sp>
        <p:nvSpPr>
          <p:cNvPr id="242" name="Line"/>
          <p:cNvSpPr/>
          <p:nvPr/>
        </p:nvSpPr>
        <p:spPr>
          <a:xfrm flipV="1">
            <a:off x="470607" y="3406485"/>
            <a:ext cx="2" cy="1315743"/>
          </a:xfrm>
          <a:prstGeom prst="line">
            <a:avLst/>
          </a:prstGeom>
          <a:ln w="25400">
            <a:solidFill>
              <a:schemeClr val="accent1"/>
            </a:solidFill>
          </a:ln>
        </p:spPr>
        <p:txBody>
          <a:bodyPr lIns="45718" tIns="45718" rIns="45718" bIns="45718"/>
          <a:lstStyle/>
          <a:p>
            <a:endParaRPr/>
          </a:p>
        </p:txBody>
      </p:sp>
      <p:sp>
        <p:nvSpPr>
          <p:cNvPr id="243" name="Oval"/>
          <p:cNvSpPr/>
          <p:nvPr/>
        </p:nvSpPr>
        <p:spPr>
          <a:xfrm>
            <a:off x="193650" y="2945227"/>
            <a:ext cx="929920" cy="444502"/>
          </a:xfrm>
          <a:prstGeom prst="ellipse">
            <a:avLst/>
          </a:prstGeom>
          <a:solidFill>
            <a:srgbClr val="FFFFFF"/>
          </a:solidFill>
          <a:ln w="25400">
            <a:solidFill>
              <a:schemeClr val="accent1"/>
            </a:solidFill>
          </a:ln>
        </p:spPr>
        <p:txBody>
          <a:bodyPr lIns="0" tIns="0" rIns="0" bIns="0"/>
          <a:lstStyle/>
          <a:p>
            <a:endParaRPr/>
          </a:p>
        </p:txBody>
      </p:sp>
      <p:sp>
        <p:nvSpPr>
          <p:cNvPr id="244" name="4k SNPs"/>
          <p:cNvSpPr txBox="1"/>
          <p:nvPr/>
        </p:nvSpPr>
        <p:spPr>
          <a:xfrm>
            <a:off x="212208" y="3049915"/>
            <a:ext cx="704367"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4k SNPs</a:t>
            </a:r>
          </a:p>
        </p:txBody>
      </p:sp>
      <p:sp>
        <p:nvSpPr>
          <p:cNvPr id="245" name="Oval"/>
          <p:cNvSpPr/>
          <p:nvPr/>
        </p:nvSpPr>
        <p:spPr>
          <a:xfrm>
            <a:off x="1141297" y="2993380"/>
            <a:ext cx="929919" cy="444503"/>
          </a:xfrm>
          <a:prstGeom prst="ellipse">
            <a:avLst/>
          </a:prstGeom>
          <a:solidFill>
            <a:srgbClr val="FFFFFF"/>
          </a:solidFill>
          <a:ln w="25400">
            <a:solidFill>
              <a:schemeClr val="accent1"/>
            </a:solidFill>
          </a:ln>
        </p:spPr>
        <p:txBody>
          <a:bodyPr lIns="0" tIns="0" rIns="0" bIns="0"/>
          <a:lstStyle/>
          <a:p>
            <a:endParaRPr/>
          </a:p>
        </p:txBody>
      </p:sp>
      <p:sp>
        <p:nvSpPr>
          <p:cNvPr id="246" name="4k SNPs"/>
          <p:cNvSpPr txBox="1"/>
          <p:nvPr/>
        </p:nvSpPr>
        <p:spPr>
          <a:xfrm>
            <a:off x="1190896" y="3059527"/>
            <a:ext cx="704367"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4k SNPs</a:t>
            </a:r>
          </a:p>
        </p:txBody>
      </p:sp>
      <p:sp>
        <p:nvSpPr>
          <p:cNvPr id="247" name="Line"/>
          <p:cNvSpPr/>
          <p:nvPr/>
        </p:nvSpPr>
        <p:spPr>
          <a:xfrm flipV="1">
            <a:off x="523060" y="3408803"/>
            <a:ext cx="681492" cy="1311108"/>
          </a:xfrm>
          <a:prstGeom prst="line">
            <a:avLst/>
          </a:prstGeom>
          <a:ln w="25400">
            <a:solidFill>
              <a:schemeClr val="accent1"/>
            </a:solidFill>
          </a:ln>
        </p:spPr>
        <p:txBody>
          <a:bodyPr lIns="45718" tIns="45718" rIns="45718" bIns="45718"/>
          <a:lstStyle/>
          <a:p>
            <a:endParaRPr/>
          </a:p>
        </p:txBody>
      </p:sp>
      <p:sp>
        <p:nvSpPr>
          <p:cNvPr id="248" name="…"/>
          <p:cNvSpPr txBox="1"/>
          <p:nvPr/>
        </p:nvSpPr>
        <p:spPr>
          <a:xfrm>
            <a:off x="2176527" y="3059527"/>
            <a:ext cx="190501"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a:t>
            </a:r>
          </a:p>
        </p:txBody>
      </p:sp>
      <p:sp>
        <p:nvSpPr>
          <p:cNvPr id="249" name="Oval"/>
          <p:cNvSpPr/>
          <p:nvPr/>
        </p:nvSpPr>
        <p:spPr>
          <a:xfrm>
            <a:off x="2472339" y="2996027"/>
            <a:ext cx="929920" cy="444502"/>
          </a:xfrm>
          <a:prstGeom prst="ellipse">
            <a:avLst/>
          </a:prstGeom>
          <a:solidFill>
            <a:srgbClr val="FFFFFF"/>
          </a:solidFill>
          <a:ln w="25400">
            <a:solidFill>
              <a:schemeClr val="accent1"/>
            </a:solidFill>
          </a:ln>
        </p:spPr>
        <p:txBody>
          <a:bodyPr lIns="0" tIns="0" rIns="0" bIns="0"/>
          <a:lstStyle/>
          <a:p>
            <a:endParaRPr/>
          </a:p>
        </p:txBody>
      </p:sp>
      <p:sp>
        <p:nvSpPr>
          <p:cNvPr id="250" name="4k SNPs"/>
          <p:cNvSpPr txBox="1"/>
          <p:nvPr/>
        </p:nvSpPr>
        <p:spPr>
          <a:xfrm>
            <a:off x="2634389" y="3082280"/>
            <a:ext cx="704368"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4k SNPs</a:t>
            </a:r>
          </a:p>
        </p:txBody>
      </p:sp>
      <p:sp>
        <p:nvSpPr>
          <p:cNvPr id="251" name="Line"/>
          <p:cNvSpPr/>
          <p:nvPr/>
        </p:nvSpPr>
        <p:spPr>
          <a:xfrm flipH="1" flipV="1">
            <a:off x="3082291" y="3454586"/>
            <a:ext cx="180661" cy="1296255"/>
          </a:xfrm>
          <a:prstGeom prst="line">
            <a:avLst/>
          </a:prstGeom>
          <a:ln w="25400">
            <a:solidFill>
              <a:schemeClr val="accent1"/>
            </a:solidFill>
          </a:ln>
        </p:spPr>
        <p:txBody>
          <a:bodyPr lIns="45718" tIns="45718" rIns="45718" bIns="45718"/>
          <a:lstStyle/>
          <a:p>
            <a:endParaRPr/>
          </a:p>
        </p:txBody>
      </p:sp>
      <p:sp>
        <p:nvSpPr>
          <p:cNvPr id="252" name="RF"/>
          <p:cNvSpPr txBox="1"/>
          <p:nvPr/>
        </p:nvSpPr>
        <p:spPr>
          <a:xfrm>
            <a:off x="533755" y="2695543"/>
            <a:ext cx="249709"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RF</a:t>
            </a:r>
          </a:p>
        </p:txBody>
      </p:sp>
      <p:sp>
        <p:nvSpPr>
          <p:cNvPr id="253" name="RF"/>
          <p:cNvSpPr txBox="1"/>
          <p:nvPr/>
        </p:nvSpPr>
        <p:spPr>
          <a:xfrm>
            <a:off x="1418224" y="2678221"/>
            <a:ext cx="249710"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RF</a:t>
            </a:r>
          </a:p>
        </p:txBody>
      </p:sp>
      <p:sp>
        <p:nvSpPr>
          <p:cNvPr id="254" name="RF"/>
          <p:cNvSpPr txBox="1"/>
          <p:nvPr/>
        </p:nvSpPr>
        <p:spPr>
          <a:xfrm>
            <a:off x="2699188" y="2678221"/>
            <a:ext cx="249710"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RF</a:t>
            </a:r>
          </a:p>
        </p:txBody>
      </p:sp>
      <p:sp>
        <p:nvSpPr>
          <p:cNvPr id="255" name="Google Shape;180;p18"/>
          <p:cNvSpPr txBox="1"/>
          <p:nvPr/>
        </p:nvSpPr>
        <p:spPr>
          <a:xfrm>
            <a:off x="450675" y="1803573"/>
            <a:ext cx="3085456" cy="31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Step 1: Initial Screen</a:t>
            </a:r>
          </a:p>
        </p:txBody>
      </p:sp>
      <p:sp>
        <p:nvSpPr>
          <p:cNvPr id="256" name="Oval"/>
          <p:cNvSpPr/>
          <p:nvPr/>
        </p:nvSpPr>
        <p:spPr>
          <a:xfrm>
            <a:off x="5141964" y="3703070"/>
            <a:ext cx="929921" cy="444503"/>
          </a:xfrm>
          <a:prstGeom prst="ellipse">
            <a:avLst/>
          </a:prstGeom>
          <a:solidFill>
            <a:srgbClr val="FFFFFF"/>
          </a:solidFill>
          <a:ln w="25400">
            <a:solidFill>
              <a:schemeClr val="accent1"/>
            </a:solidFill>
          </a:ln>
        </p:spPr>
        <p:txBody>
          <a:bodyPr lIns="0" tIns="0" rIns="0" bIns="0"/>
          <a:lstStyle/>
          <a:p>
            <a:endParaRPr/>
          </a:p>
        </p:txBody>
      </p:sp>
      <p:sp>
        <p:nvSpPr>
          <p:cNvPr id="257" name="RF"/>
          <p:cNvSpPr txBox="1"/>
          <p:nvPr/>
        </p:nvSpPr>
        <p:spPr>
          <a:xfrm>
            <a:off x="6589262" y="3204325"/>
            <a:ext cx="249709"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RF</a:t>
            </a:r>
          </a:p>
        </p:txBody>
      </p:sp>
      <p:pic>
        <p:nvPicPr>
          <p:cNvPr id="258" name="Google Shape;182;p18" descr="Google Shape;182;p18"/>
          <p:cNvPicPr>
            <a:picLocks noChangeAspect="1"/>
          </p:cNvPicPr>
          <p:nvPr/>
        </p:nvPicPr>
        <p:blipFill>
          <a:blip r:embed="rId4"/>
          <a:stretch>
            <a:fillRect/>
          </a:stretch>
        </p:blipFill>
        <p:spPr>
          <a:xfrm>
            <a:off x="6413922" y="3431294"/>
            <a:ext cx="856314" cy="988054"/>
          </a:xfrm>
          <a:prstGeom prst="rect">
            <a:avLst/>
          </a:prstGeom>
          <a:ln w="12700">
            <a:miter lim="400000"/>
          </a:ln>
        </p:spPr>
      </p:pic>
      <p:sp>
        <p:nvSpPr>
          <p:cNvPr id="259" name="Top 4k SNPs Importance…"/>
          <p:cNvSpPr txBox="1"/>
          <p:nvPr/>
        </p:nvSpPr>
        <p:spPr>
          <a:xfrm>
            <a:off x="5208973" y="2988425"/>
            <a:ext cx="1040433" cy="647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Top 4k SNPs</a:t>
            </a:r>
            <a:br/>
            <a:r>
              <a:t>Importance</a:t>
            </a:r>
          </a:p>
          <a:p>
            <a:r>
              <a:t>Score</a:t>
            </a:r>
          </a:p>
        </p:txBody>
      </p:sp>
      <p:sp>
        <p:nvSpPr>
          <p:cNvPr id="260" name="Oval"/>
          <p:cNvSpPr/>
          <p:nvPr/>
        </p:nvSpPr>
        <p:spPr>
          <a:xfrm>
            <a:off x="7532826" y="3703070"/>
            <a:ext cx="929919" cy="444503"/>
          </a:xfrm>
          <a:prstGeom prst="ellipse">
            <a:avLst/>
          </a:prstGeom>
          <a:solidFill>
            <a:srgbClr val="FFFFFF"/>
          </a:solidFill>
          <a:ln w="25400">
            <a:solidFill>
              <a:schemeClr val="accent1"/>
            </a:solidFill>
          </a:ln>
        </p:spPr>
        <p:txBody>
          <a:bodyPr lIns="0" tIns="0" rIns="0" bIns="0"/>
          <a:lstStyle/>
          <a:p>
            <a:endParaRPr/>
          </a:p>
        </p:txBody>
      </p:sp>
      <p:sp>
        <p:nvSpPr>
          <p:cNvPr id="261" name="Reranked 4k SNPs Importance…"/>
          <p:cNvSpPr txBox="1"/>
          <p:nvPr/>
        </p:nvSpPr>
        <p:spPr>
          <a:xfrm>
            <a:off x="7235438" y="2980678"/>
            <a:ext cx="1524695" cy="647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Reranked 4k SNPs</a:t>
            </a:r>
            <a:br/>
            <a:r>
              <a:t>Importance</a:t>
            </a:r>
          </a:p>
          <a:p>
            <a:r>
              <a:t>Score</a:t>
            </a:r>
          </a:p>
        </p:txBody>
      </p:sp>
      <p:pic>
        <p:nvPicPr>
          <p:cNvPr id="262" name="Google Shape;182;p18" descr="Google Shape;182;p18"/>
          <p:cNvPicPr>
            <a:picLocks noChangeAspect="1"/>
          </p:cNvPicPr>
          <p:nvPr/>
        </p:nvPicPr>
        <p:blipFill>
          <a:blip r:embed="rId4"/>
          <a:stretch>
            <a:fillRect/>
          </a:stretch>
        </p:blipFill>
        <p:spPr>
          <a:xfrm>
            <a:off x="8549320" y="3429000"/>
            <a:ext cx="856312" cy="988052"/>
          </a:xfrm>
          <a:prstGeom prst="rect">
            <a:avLst/>
          </a:prstGeom>
          <a:ln w="12700">
            <a:miter lim="400000"/>
          </a:ln>
        </p:spPr>
      </p:pic>
      <p:sp>
        <p:nvSpPr>
          <p:cNvPr id="263" name="RF"/>
          <p:cNvSpPr txBox="1"/>
          <p:nvPr/>
        </p:nvSpPr>
        <p:spPr>
          <a:xfrm>
            <a:off x="10524180" y="2980678"/>
            <a:ext cx="249709"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t>RF</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7" name="Google Shape;196;p19" descr="Google Shape;196;p19"/>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268" name="Google Shape;197;p19"/>
          <p:cNvSpPr txBox="1"/>
          <p:nvPr/>
        </p:nvSpPr>
        <p:spPr>
          <a:xfrm>
            <a:off x="523541" y="298405"/>
            <a:ext cx="6731012" cy="469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The RF Importance Landscape</a:t>
            </a:r>
          </a:p>
        </p:txBody>
      </p:sp>
      <p:sp>
        <p:nvSpPr>
          <p:cNvPr id="269" name="Google Shape;198;p19"/>
          <p:cNvSpPr/>
          <p:nvPr/>
        </p:nvSpPr>
        <p:spPr>
          <a:xfrm>
            <a:off x="539527" y="908774"/>
            <a:ext cx="4953001" cy="28576"/>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pic>
        <p:nvPicPr>
          <p:cNvPr id="270" name="Picture 11" descr="Picture 11"/>
          <p:cNvPicPr>
            <a:picLocks noChangeAspect="1"/>
          </p:cNvPicPr>
          <p:nvPr/>
        </p:nvPicPr>
        <p:blipFill>
          <a:blip r:embed="rId4"/>
          <a:stretch>
            <a:fillRect/>
          </a:stretch>
        </p:blipFill>
        <p:spPr>
          <a:xfrm>
            <a:off x="2131386" y="1077818"/>
            <a:ext cx="7128552" cy="5707916"/>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4" name="Google Shape;208;p20" descr="Google Shape;208;p20"/>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275" name="Google Shape;211;p20"/>
          <p:cNvSpPr txBox="1"/>
          <p:nvPr/>
        </p:nvSpPr>
        <p:spPr>
          <a:xfrm>
            <a:off x="623614" y="1367470"/>
            <a:ext cx="6677029"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59944"/>
              </a:lnSpc>
              <a:defRPr sz="1800">
                <a:solidFill>
                  <a:srgbClr val="64748B"/>
                </a:solidFill>
                <a:latin typeface="Open Sans"/>
                <a:ea typeface="Open Sans"/>
                <a:cs typeface="Open Sans"/>
                <a:sym typeface="Open Sans"/>
              </a:defRPr>
            </a:lvl1pPr>
          </a:lstStyle>
          <a:p>
            <a:r>
              <a:t>Area Under the Curve (AUC) in Independent Replication Cohort</a:t>
            </a:r>
          </a:p>
        </p:txBody>
      </p:sp>
      <p:sp>
        <p:nvSpPr>
          <p:cNvPr id="276" name="Google Shape;213;p20"/>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Predictive Power</a:t>
            </a:r>
          </a:p>
        </p:txBody>
      </p:sp>
      <p:sp>
        <p:nvSpPr>
          <p:cNvPr id="277" name="Google Shape;214;p20"/>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pic>
        <p:nvPicPr>
          <p:cNvPr id="278" name="Picture 22" descr="Picture 22"/>
          <p:cNvPicPr>
            <a:picLocks noChangeAspect="1"/>
          </p:cNvPicPr>
          <p:nvPr/>
        </p:nvPicPr>
        <p:blipFill>
          <a:blip r:embed="rId4"/>
          <a:stretch>
            <a:fillRect/>
          </a:stretch>
        </p:blipFill>
        <p:spPr>
          <a:xfrm>
            <a:off x="-35057" y="1747518"/>
            <a:ext cx="7653329" cy="5163377"/>
          </a:xfrm>
          <a:prstGeom prst="rect">
            <a:avLst/>
          </a:prstGeom>
          <a:ln w="12700">
            <a:miter lim="400000"/>
          </a:ln>
        </p:spPr>
      </p:pic>
      <p:sp>
        <p:nvSpPr>
          <p:cNvPr id="279" name="Google Shape;212;p20"/>
          <p:cNvSpPr txBox="1"/>
          <p:nvPr/>
        </p:nvSpPr>
        <p:spPr>
          <a:xfrm>
            <a:off x="7627053" y="1591563"/>
            <a:ext cx="4262608" cy="46939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200526" indent="-200526">
              <a:lnSpc>
                <a:spcPct val="160000"/>
              </a:lnSpc>
              <a:buSzPct val="100000"/>
              <a:buChar char="•"/>
              <a:defRPr sz="2000" b="1">
                <a:solidFill>
                  <a:srgbClr val="065F46"/>
                </a:solidFill>
                <a:latin typeface="Open Sans"/>
                <a:ea typeface="Open Sans"/>
                <a:cs typeface="Open Sans"/>
                <a:sym typeface="Open Sans"/>
              </a:defRPr>
            </a:pPr>
            <a:r>
              <a:rPr b="0"/>
              <a:t>Adding genetic markers significantly improved prediction over clinical history alone. </a:t>
            </a:r>
          </a:p>
          <a:p>
            <a:pPr marL="200526" indent="-200526">
              <a:lnSpc>
                <a:spcPct val="160000"/>
              </a:lnSpc>
              <a:buSzPct val="100000"/>
              <a:buChar char="•"/>
              <a:defRPr sz="2000" b="1">
                <a:solidFill>
                  <a:srgbClr val="065F46"/>
                </a:solidFill>
                <a:latin typeface="Open Sans"/>
                <a:ea typeface="Open Sans"/>
                <a:cs typeface="Open Sans"/>
                <a:sym typeface="Open Sans"/>
              </a:defRPr>
            </a:pPr>
            <a:r>
              <a:rPr b="0"/>
              <a:t>The model plateaued at 160 SNPs</a:t>
            </a:r>
          </a:p>
          <a:p>
            <a:pPr marL="200526" indent="-200526">
              <a:lnSpc>
                <a:spcPct val="160000"/>
              </a:lnSpc>
              <a:buSzPct val="100000"/>
              <a:buChar char="•"/>
              <a:defRPr sz="2000" b="1">
                <a:solidFill>
                  <a:srgbClr val="065F46"/>
                </a:solidFill>
                <a:latin typeface="Open Sans"/>
                <a:ea typeface="Open Sans"/>
                <a:cs typeface="Open Sans"/>
                <a:sym typeface="Open Sans"/>
              </a:defRPr>
            </a:pPr>
            <a:r>
              <a:t>Permutation Testing:</a:t>
            </a:r>
            <a:r>
              <a:rPr b="0"/>
              <a:t> Confirmed results were not due to chance.</a:t>
            </a:r>
          </a:p>
          <a:p>
            <a:pPr marL="200526" indent="-200526">
              <a:lnSpc>
                <a:spcPct val="160000"/>
              </a:lnSpc>
              <a:buSzPct val="100000"/>
              <a:buChar char="•"/>
              <a:defRPr sz="2000" b="1">
                <a:solidFill>
                  <a:srgbClr val="065F46"/>
                </a:solidFill>
                <a:latin typeface="Open Sans"/>
                <a:ea typeface="Open Sans"/>
                <a:cs typeface="Open Sans"/>
                <a:sym typeface="Open Sans"/>
              </a:defRPr>
            </a:pPr>
            <a:r>
              <a:t>Independent Replication:</a:t>
            </a:r>
            <a:r>
              <a:rPr b="0"/>
              <a:t> The model was tested on a separate cohort of 164 subjects, maintaining an AUC of 0.66.</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 name="Google Shape;208;p20" descr="Google Shape;208;p20"/>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284" name="Google Shape;213;p20"/>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Top Genes</a:t>
            </a:r>
          </a:p>
        </p:txBody>
      </p:sp>
      <p:sp>
        <p:nvSpPr>
          <p:cNvPr id="285" name="Google Shape;214;p20"/>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sp>
        <p:nvSpPr>
          <p:cNvPr id="286" name="Google Shape;212;p20"/>
          <p:cNvSpPr txBox="1"/>
          <p:nvPr/>
        </p:nvSpPr>
        <p:spPr>
          <a:xfrm>
            <a:off x="6791721" y="1463675"/>
            <a:ext cx="4713277" cy="5003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300789" indent="-300789" defTabSz="457200">
              <a:spcBef>
                <a:spcPts val="1200"/>
              </a:spcBef>
              <a:buSzPct val="100000"/>
              <a:buChar char="•"/>
              <a:defRPr sz="3000">
                <a:latin typeface="Times Roman"/>
                <a:ea typeface="Times Roman"/>
                <a:cs typeface="Times Roman"/>
                <a:sym typeface="Times Roman"/>
              </a:defRPr>
            </a:pPr>
            <a:r>
              <a:t>The 160 SNPs are in or near to 140 genes</a:t>
            </a:r>
          </a:p>
          <a:p>
            <a:pPr marL="300789" indent="-300789" defTabSz="457200">
              <a:spcBef>
                <a:spcPts val="1200"/>
              </a:spcBef>
              <a:buSzPct val="100000"/>
              <a:buChar char="•"/>
              <a:defRPr sz="3000">
                <a:latin typeface="Times Roman"/>
                <a:ea typeface="Times Roman"/>
                <a:cs typeface="Times Roman"/>
                <a:sym typeface="Times Roman"/>
              </a:defRPr>
            </a:pPr>
            <a:r>
              <a:t>One SNP (rs10496476) is located within the intron of gene DPP10, which has been shown to be associated with asthma in multiple populations, based on a recent review</a:t>
            </a:r>
          </a:p>
          <a:p>
            <a:pPr marL="300789" indent="-300789" defTabSz="457200">
              <a:spcBef>
                <a:spcPts val="1200"/>
              </a:spcBef>
              <a:buSzPct val="100000"/>
              <a:buChar char="•"/>
              <a:defRPr sz="3000">
                <a:latin typeface="Times Roman"/>
                <a:ea typeface="Times Roman"/>
                <a:cs typeface="Times Roman"/>
                <a:sym typeface="Times Roman"/>
              </a:defRPr>
            </a:pPr>
            <a:r>
              <a:t>Most genes are novel</a:t>
            </a:r>
          </a:p>
        </p:txBody>
      </p:sp>
      <p:pic>
        <p:nvPicPr>
          <p:cNvPr id="287" name="pasted-movie.png" descr="pasted-movie.png"/>
          <p:cNvPicPr>
            <a:picLocks noChangeAspect="1"/>
          </p:cNvPicPr>
          <p:nvPr/>
        </p:nvPicPr>
        <p:blipFill>
          <a:blip r:embed="rId3"/>
          <a:stretch>
            <a:fillRect/>
          </a:stretch>
        </p:blipFill>
        <p:spPr>
          <a:xfrm>
            <a:off x="-134505" y="2084144"/>
            <a:ext cx="6896101" cy="3670301"/>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9" name="Google Shape;84;p13" descr="Google Shape;84;p13"/>
          <p:cNvPicPr>
            <a:picLocks noChangeAspect="1"/>
          </p:cNvPicPr>
          <p:nvPr/>
        </p:nvPicPr>
        <p:blipFill>
          <a:blip r:embed="rId2"/>
          <a:stretch>
            <a:fillRect/>
          </a:stretch>
        </p:blipFill>
        <p:spPr>
          <a:xfrm>
            <a:off x="0" y="0"/>
            <a:ext cx="12192000" cy="6858000"/>
          </a:xfrm>
          <a:prstGeom prst="rect">
            <a:avLst/>
          </a:prstGeom>
          <a:ln w="12700">
            <a:miter lim="400000"/>
          </a:ln>
        </p:spPr>
      </p:pic>
      <p:pic>
        <p:nvPicPr>
          <p:cNvPr id="290" name="Google Shape;85;p13" descr="Google Shape;85;p13"/>
          <p:cNvPicPr>
            <a:picLocks noChangeAspect="1"/>
          </p:cNvPicPr>
          <p:nvPr/>
        </p:nvPicPr>
        <p:blipFill>
          <a:blip r:embed="rId3"/>
          <a:stretch>
            <a:fillRect/>
          </a:stretch>
        </p:blipFill>
        <p:spPr>
          <a:xfrm>
            <a:off x="571500" y="1400175"/>
            <a:ext cx="3492401" cy="4724400"/>
          </a:xfrm>
          <a:prstGeom prst="rect">
            <a:avLst/>
          </a:prstGeom>
          <a:ln w="12700">
            <a:miter lim="400000"/>
          </a:ln>
        </p:spPr>
      </p:pic>
      <p:pic>
        <p:nvPicPr>
          <p:cNvPr id="291" name="Google Shape;86;p13" descr="Google Shape;86;p13"/>
          <p:cNvPicPr>
            <a:picLocks noChangeAspect="1"/>
          </p:cNvPicPr>
          <p:nvPr/>
        </p:nvPicPr>
        <p:blipFill>
          <a:blip r:embed="rId4"/>
          <a:stretch>
            <a:fillRect/>
          </a:stretch>
        </p:blipFill>
        <p:spPr>
          <a:xfrm>
            <a:off x="4349650" y="1400175"/>
            <a:ext cx="3492549" cy="4724400"/>
          </a:xfrm>
          <a:prstGeom prst="rect">
            <a:avLst/>
          </a:prstGeom>
          <a:ln w="12700">
            <a:miter lim="400000"/>
          </a:ln>
        </p:spPr>
      </p:pic>
      <p:pic>
        <p:nvPicPr>
          <p:cNvPr id="292" name="Google Shape;87;p13" descr="Google Shape;87;p13"/>
          <p:cNvPicPr>
            <a:picLocks noChangeAspect="1"/>
          </p:cNvPicPr>
          <p:nvPr/>
        </p:nvPicPr>
        <p:blipFill>
          <a:blip r:embed="rId5"/>
          <a:stretch>
            <a:fillRect/>
          </a:stretch>
        </p:blipFill>
        <p:spPr>
          <a:xfrm>
            <a:off x="8127949" y="1400175"/>
            <a:ext cx="3492401" cy="4724400"/>
          </a:xfrm>
          <a:prstGeom prst="rect">
            <a:avLst/>
          </a:prstGeom>
          <a:ln w="12700">
            <a:miter lim="400000"/>
          </a:ln>
        </p:spPr>
      </p:pic>
      <p:sp>
        <p:nvSpPr>
          <p:cNvPr id="293" name="Google Shape;88;p13"/>
          <p:cNvSpPr txBox="1"/>
          <p:nvPr/>
        </p:nvSpPr>
        <p:spPr>
          <a:xfrm>
            <a:off x="571500" y="476250"/>
            <a:ext cx="11601450" cy="45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000" b="1">
                <a:solidFill>
                  <a:srgbClr val="0F172A"/>
                </a:solidFill>
                <a:latin typeface="Outfit"/>
                <a:ea typeface="Outfit"/>
                <a:cs typeface="Outfit"/>
                <a:sym typeface="Outfit"/>
              </a:defRPr>
            </a:lvl1pPr>
          </a:lstStyle>
          <a:p>
            <a:r>
              <a:t>Significance of the Research</a:t>
            </a:r>
          </a:p>
        </p:txBody>
      </p:sp>
      <p:sp>
        <p:nvSpPr>
          <p:cNvPr id="294" name="Google Shape;89;p13"/>
          <p:cNvSpPr/>
          <p:nvPr/>
        </p:nvSpPr>
        <p:spPr>
          <a:xfrm>
            <a:off x="571500" y="1047750"/>
            <a:ext cx="11049000" cy="19050"/>
          </a:xfrm>
          <a:prstGeom prst="rect">
            <a:avLst/>
          </a:prstGeom>
          <a:solidFill>
            <a:srgbClr val="E2E8F0"/>
          </a:solidFill>
          <a:ln w="12700">
            <a:miter lim="400000"/>
          </a:ln>
        </p:spPr>
        <p:txBody>
          <a:bodyPr lIns="0" tIns="0" rIns="0" bIns="0" anchor="ctr"/>
          <a:lstStyle/>
          <a:p>
            <a:pPr algn="ctr">
              <a:defRPr sz="1800">
                <a:latin typeface="Calibri"/>
                <a:ea typeface="Calibri"/>
                <a:cs typeface="Calibri"/>
                <a:sym typeface="Calibri"/>
              </a:defRPr>
            </a:pPr>
            <a:endParaRPr/>
          </a:p>
        </p:txBody>
      </p:sp>
      <p:pic>
        <p:nvPicPr>
          <p:cNvPr id="295" name="Google Shape;90;p13" descr="Google Shape;90;p13"/>
          <p:cNvPicPr>
            <a:picLocks noChangeAspect="1"/>
          </p:cNvPicPr>
          <p:nvPr/>
        </p:nvPicPr>
        <p:blipFill>
          <a:blip r:embed="rId6"/>
          <a:stretch>
            <a:fillRect/>
          </a:stretch>
        </p:blipFill>
        <p:spPr>
          <a:xfrm>
            <a:off x="866775" y="1695450"/>
            <a:ext cx="571500" cy="571500"/>
          </a:xfrm>
          <a:prstGeom prst="rect">
            <a:avLst/>
          </a:prstGeom>
          <a:ln w="12700">
            <a:miter lim="400000"/>
          </a:ln>
        </p:spPr>
      </p:pic>
      <p:sp>
        <p:nvSpPr>
          <p:cNvPr id="296" name="Google Shape;91;p13"/>
          <p:cNvSpPr txBox="1"/>
          <p:nvPr/>
        </p:nvSpPr>
        <p:spPr>
          <a:xfrm>
            <a:off x="866775" y="2686050"/>
            <a:ext cx="3046944" cy="279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800" b="1">
                <a:solidFill>
                  <a:srgbClr val="0EA5E9"/>
                </a:solidFill>
                <a:latin typeface="Outfit"/>
                <a:ea typeface="Outfit"/>
                <a:cs typeface="Outfit"/>
                <a:sym typeface="Outfit"/>
              </a:defRPr>
            </a:lvl1pPr>
          </a:lstStyle>
          <a:p>
            <a:r>
              <a:t>Clinical Utility</a:t>
            </a:r>
          </a:p>
        </p:txBody>
      </p:sp>
      <p:sp>
        <p:nvSpPr>
          <p:cNvPr id="297" name="Google Shape;92;p13"/>
          <p:cNvSpPr txBox="1"/>
          <p:nvPr/>
        </p:nvSpPr>
        <p:spPr>
          <a:xfrm>
            <a:off x="866775" y="3276600"/>
            <a:ext cx="2901851" cy="17429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59921"/>
              </a:lnSpc>
              <a:defRPr sz="1200">
                <a:solidFill>
                  <a:srgbClr val="334155"/>
                </a:solidFill>
                <a:latin typeface="DM Sans"/>
                <a:ea typeface="DM Sans"/>
                <a:cs typeface="DM Sans"/>
                <a:sym typeface="DM Sans"/>
              </a:defRPr>
            </a:pPr>
            <a:r>
              <a:rPr dirty="0"/>
              <a:t>By identifying </a:t>
            </a:r>
            <a:r>
              <a:rPr b="1" dirty="0"/>
              <a:t>specific genetic markers </a:t>
            </a:r>
            <a:r>
              <a:rPr dirty="0"/>
              <a:t>(SNPs) linked to exacerbation risk, we move closer to </a:t>
            </a:r>
            <a:r>
              <a:rPr b="1" dirty="0">
                <a:solidFill>
                  <a:srgbClr val="0F172A"/>
                </a:solidFill>
              </a:rPr>
              <a:t>Personalized Medicine</a:t>
            </a:r>
            <a:r>
              <a:rPr dirty="0"/>
              <a:t>. This enables earlier therapeutic interventions for high-risk children, potentially reducing hospitalizations.</a:t>
            </a:r>
          </a:p>
        </p:txBody>
      </p:sp>
      <p:pic>
        <p:nvPicPr>
          <p:cNvPr id="298" name="Google Shape;93;p13" descr="Google Shape;93;p13"/>
          <p:cNvPicPr>
            <a:picLocks noChangeAspect="1"/>
          </p:cNvPicPr>
          <p:nvPr/>
        </p:nvPicPr>
        <p:blipFill>
          <a:blip r:embed="rId6"/>
          <a:stretch>
            <a:fillRect/>
          </a:stretch>
        </p:blipFill>
        <p:spPr>
          <a:xfrm>
            <a:off x="4644925" y="1695450"/>
            <a:ext cx="571501" cy="571500"/>
          </a:xfrm>
          <a:prstGeom prst="rect">
            <a:avLst/>
          </a:prstGeom>
          <a:ln w="12700">
            <a:miter lim="400000"/>
          </a:ln>
        </p:spPr>
      </p:pic>
      <p:sp>
        <p:nvSpPr>
          <p:cNvPr id="299" name="Google Shape;94;p13"/>
          <p:cNvSpPr txBox="1"/>
          <p:nvPr/>
        </p:nvSpPr>
        <p:spPr>
          <a:xfrm>
            <a:off x="4644925" y="2686050"/>
            <a:ext cx="3047100" cy="279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800" b="1">
                <a:solidFill>
                  <a:srgbClr val="0EA5E9"/>
                </a:solidFill>
                <a:latin typeface="Outfit"/>
                <a:ea typeface="Outfit"/>
                <a:cs typeface="Outfit"/>
                <a:sym typeface="Outfit"/>
              </a:defRPr>
            </a:lvl1pPr>
          </a:lstStyle>
          <a:p>
            <a:r>
              <a:t>Methodological Innovation</a:t>
            </a:r>
          </a:p>
        </p:txBody>
      </p:sp>
      <p:sp>
        <p:nvSpPr>
          <p:cNvPr id="300" name="Google Shape;95;p13"/>
          <p:cNvSpPr txBox="1"/>
          <p:nvPr/>
        </p:nvSpPr>
        <p:spPr>
          <a:xfrm>
            <a:off x="4644925" y="3276600"/>
            <a:ext cx="2902000" cy="15994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59921"/>
              </a:lnSpc>
              <a:defRPr sz="1200">
                <a:solidFill>
                  <a:srgbClr val="334155"/>
                </a:solidFill>
                <a:latin typeface="DM Sans"/>
                <a:ea typeface="DM Sans"/>
                <a:cs typeface="DM Sans"/>
                <a:sym typeface="DM Sans"/>
              </a:defRPr>
            </a:pPr>
            <a:r>
              <a:t>We successfully demonstrated that </a:t>
            </a:r>
            <a:r>
              <a:rPr b="1">
                <a:solidFill>
                  <a:srgbClr val="0F172A"/>
                </a:solidFill>
              </a:rPr>
              <a:t>Random Forests</a:t>
            </a:r>
            <a:r>
              <a:t> can handle the "Small N, Large P" problem in genomics. This validated a new approach for integrating massive genetic datasets with clinical variables without overfitting.</a:t>
            </a:r>
          </a:p>
        </p:txBody>
      </p:sp>
      <p:pic>
        <p:nvPicPr>
          <p:cNvPr id="301" name="Google Shape;96;p13" descr="Google Shape;96;p13"/>
          <p:cNvPicPr>
            <a:picLocks noChangeAspect="1"/>
          </p:cNvPicPr>
          <p:nvPr/>
        </p:nvPicPr>
        <p:blipFill>
          <a:blip r:embed="rId6"/>
          <a:stretch>
            <a:fillRect/>
          </a:stretch>
        </p:blipFill>
        <p:spPr>
          <a:xfrm>
            <a:off x="8423224" y="1695450"/>
            <a:ext cx="571501" cy="571500"/>
          </a:xfrm>
          <a:prstGeom prst="rect">
            <a:avLst/>
          </a:prstGeom>
          <a:ln w="12700">
            <a:miter lim="400000"/>
          </a:ln>
        </p:spPr>
      </p:pic>
      <p:sp>
        <p:nvSpPr>
          <p:cNvPr id="302" name="Google Shape;97;p13"/>
          <p:cNvSpPr txBox="1"/>
          <p:nvPr/>
        </p:nvSpPr>
        <p:spPr>
          <a:xfrm>
            <a:off x="8423224" y="2686050"/>
            <a:ext cx="3046944" cy="279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800" b="1">
                <a:solidFill>
                  <a:srgbClr val="0EA5E9"/>
                </a:solidFill>
                <a:latin typeface="Outfit"/>
                <a:ea typeface="Outfit"/>
                <a:cs typeface="Outfit"/>
                <a:sym typeface="Outfit"/>
              </a:defRPr>
            </a:lvl1pPr>
          </a:lstStyle>
          <a:p>
            <a:r>
              <a:t>Biological Insight</a:t>
            </a:r>
          </a:p>
        </p:txBody>
      </p:sp>
      <p:sp>
        <p:nvSpPr>
          <p:cNvPr id="303" name="Google Shape;98;p13"/>
          <p:cNvSpPr txBox="1"/>
          <p:nvPr/>
        </p:nvSpPr>
        <p:spPr>
          <a:xfrm>
            <a:off x="8423224" y="3276600"/>
            <a:ext cx="2901851" cy="13151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59921"/>
              </a:lnSpc>
              <a:defRPr sz="1200">
                <a:solidFill>
                  <a:srgbClr val="334155"/>
                </a:solidFill>
                <a:latin typeface="DM Sans"/>
                <a:ea typeface="DM Sans"/>
                <a:cs typeface="DM Sans"/>
                <a:sym typeface="DM Sans"/>
              </a:defRPr>
            </a:pPr>
            <a:r>
              <a:t>The model identified novel genetic targets (like </a:t>
            </a:r>
            <a:r>
              <a:rPr b="1">
                <a:solidFill>
                  <a:srgbClr val="0F172A"/>
                </a:solidFill>
              </a:rPr>
              <a:t>DPP10</a:t>
            </a:r>
            <a:r>
              <a:t>) by capturing non-linear gene-gene interactions that traditional linear models miss, opening new avenues for understanding asthma pathology.</a:t>
            </a:r>
          </a:p>
        </p:txBody>
      </p:sp>
      <p:pic>
        <p:nvPicPr>
          <p:cNvPr id="304" name="Google Shape;99;p13" descr="Google Shape;99;p13"/>
          <p:cNvPicPr>
            <a:picLocks noChangeAspect="1"/>
          </p:cNvPicPr>
          <p:nvPr/>
        </p:nvPicPr>
        <p:blipFill>
          <a:blip r:embed="rId7"/>
          <a:stretch>
            <a:fillRect/>
          </a:stretch>
        </p:blipFill>
        <p:spPr>
          <a:xfrm>
            <a:off x="1033462" y="1847850"/>
            <a:ext cx="238126" cy="266700"/>
          </a:xfrm>
          <a:prstGeom prst="rect">
            <a:avLst/>
          </a:prstGeom>
          <a:ln w="12700">
            <a:miter lim="400000"/>
          </a:ln>
        </p:spPr>
      </p:pic>
      <p:pic>
        <p:nvPicPr>
          <p:cNvPr id="305" name="Google Shape;100;p13" descr="Google Shape;100;p13"/>
          <p:cNvPicPr>
            <a:picLocks noChangeAspect="1"/>
          </p:cNvPicPr>
          <p:nvPr/>
        </p:nvPicPr>
        <p:blipFill>
          <a:blip r:embed="rId8"/>
          <a:stretch>
            <a:fillRect/>
          </a:stretch>
        </p:blipFill>
        <p:spPr>
          <a:xfrm>
            <a:off x="4763987" y="1847850"/>
            <a:ext cx="333376" cy="266700"/>
          </a:xfrm>
          <a:prstGeom prst="rect">
            <a:avLst/>
          </a:prstGeom>
          <a:ln w="12700">
            <a:miter lim="400000"/>
          </a:ln>
        </p:spPr>
      </p:pic>
      <p:pic>
        <p:nvPicPr>
          <p:cNvPr id="306" name="Google Shape;101;p13" descr="Google Shape;101;p13"/>
          <p:cNvPicPr>
            <a:picLocks noChangeAspect="1"/>
          </p:cNvPicPr>
          <p:nvPr/>
        </p:nvPicPr>
        <p:blipFill>
          <a:blip r:embed="rId9"/>
          <a:stretch>
            <a:fillRect/>
          </a:stretch>
        </p:blipFill>
        <p:spPr>
          <a:xfrm>
            <a:off x="8589912" y="1847850"/>
            <a:ext cx="238126" cy="266700"/>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 name="Google Shape;219;p21" descr="Google Shape;219;p21"/>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309" name="Google Shape;231;p21" descr="Google Shape;231;p21"/>
          <p:cNvPicPr>
            <a:picLocks noChangeAspect="1"/>
          </p:cNvPicPr>
          <p:nvPr/>
        </p:nvPicPr>
        <p:blipFill>
          <a:blip r:embed="rId4"/>
          <a:stretch>
            <a:fillRect/>
          </a:stretch>
        </p:blipFill>
        <p:spPr>
          <a:xfrm>
            <a:off x="714125" y="1504606"/>
            <a:ext cx="946423" cy="841269"/>
          </a:xfrm>
          <a:prstGeom prst="rect">
            <a:avLst/>
          </a:prstGeom>
          <a:ln w="12700">
            <a:miter lim="400000"/>
          </a:ln>
        </p:spPr>
      </p:pic>
      <p:sp>
        <p:nvSpPr>
          <p:cNvPr id="310" name="Google Shape;233;p21"/>
          <p:cNvSpPr txBox="1"/>
          <p:nvPr/>
        </p:nvSpPr>
        <p:spPr>
          <a:xfrm>
            <a:off x="667349" y="2809081"/>
            <a:ext cx="10544822" cy="368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2400" b="1">
                <a:solidFill>
                  <a:srgbClr val="334155"/>
                </a:solidFill>
                <a:latin typeface="Open Sans"/>
                <a:ea typeface="Open Sans"/>
                <a:cs typeface="Open Sans"/>
                <a:sym typeface="Open Sans"/>
              </a:defRPr>
            </a:pPr>
            <a:r>
              <a:t>ATS 2009:</a:t>
            </a:r>
            <a:r>
              <a:rPr b="0"/>
              <a:t> Featured at the "</a:t>
            </a:r>
            <a:r>
              <a:rPr b="0">
                <a:solidFill>
                  <a:srgbClr val="FF2600"/>
                </a:solidFill>
              </a:rPr>
              <a:t>Scientific Breakthroughs of the Year</a:t>
            </a:r>
            <a:r>
              <a:rPr b="0"/>
              <a:t>" symposium.</a:t>
            </a:r>
          </a:p>
        </p:txBody>
      </p:sp>
      <p:sp>
        <p:nvSpPr>
          <p:cNvPr id="311" name="Google Shape;235;p21"/>
          <p:cNvSpPr txBox="1"/>
          <p:nvPr/>
        </p:nvSpPr>
        <p:spPr>
          <a:xfrm>
            <a:off x="571499" y="4001887"/>
            <a:ext cx="11049002" cy="15468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60000"/>
              </a:lnSpc>
              <a:defRPr sz="2400" b="1">
                <a:solidFill>
                  <a:srgbClr val="334155"/>
                </a:solidFill>
                <a:latin typeface="Open Sans"/>
                <a:ea typeface="Open Sans"/>
                <a:cs typeface="Open Sans"/>
                <a:sym typeface="Open Sans"/>
              </a:defRPr>
            </a:pPr>
            <a:r>
              <a:t>Impact:</a:t>
            </a:r>
            <a:r>
              <a:rPr b="0"/>
              <a:t> Categorized as "</a:t>
            </a:r>
            <a:r>
              <a:rPr b="0">
                <a:solidFill>
                  <a:srgbClr val="FF2600"/>
                </a:solidFill>
              </a:rPr>
              <a:t>Highly Accessed</a:t>
            </a:r>
            <a:r>
              <a:rPr b="0"/>
              <a:t>" (1,120 accesses 4 months after publication) by BMC Medical Genetics, influencing future ML-GWAS integration studies.</a:t>
            </a:r>
          </a:p>
        </p:txBody>
      </p:sp>
      <p:sp>
        <p:nvSpPr>
          <p:cNvPr id="312" name="Google Shape;236;p21"/>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Recognition</a:t>
            </a:r>
          </a:p>
        </p:txBody>
      </p:sp>
      <p:sp>
        <p:nvSpPr>
          <p:cNvPr id="313" name="Google Shape;237;p21"/>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Text"/>
          <p:cNvSpPr txBox="1"/>
          <p:nvPr/>
        </p:nvSpPr>
        <p:spPr>
          <a:xfrm>
            <a:off x="6159500" y="3469111"/>
            <a:ext cx="127000"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457200">
              <a:defRPr sz="1200">
                <a:latin typeface="Times Roman"/>
                <a:ea typeface="Times Roman"/>
                <a:cs typeface="Times Roman"/>
                <a:sym typeface="Times Roman"/>
              </a:defRPr>
            </a:lvl1pPr>
          </a:lstStyle>
          <a:p>
            <a:r>
              <a:t> </a:t>
            </a:r>
          </a:p>
        </p:txBody>
      </p:sp>
      <p:pic>
        <p:nvPicPr>
          <p:cNvPr id="318" name="Image" descr="Image"/>
          <p:cNvPicPr>
            <a:picLocks noChangeAspect="1"/>
          </p:cNvPicPr>
          <p:nvPr/>
        </p:nvPicPr>
        <p:blipFill>
          <a:blip r:embed="rId3"/>
          <a:stretch>
            <a:fillRect/>
          </a:stretch>
        </p:blipFill>
        <p:spPr>
          <a:xfrm>
            <a:off x="12700" y="-1"/>
            <a:ext cx="12192000" cy="6858001"/>
          </a:xfrm>
          <a:prstGeom prst="rect">
            <a:avLst/>
          </a:prstGeom>
          <a:ln w="12700">
            <a:miter lim="400000"/>
          </a:ln>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2" name="Google Shape;258;p23" descr="Google Shape;258;p23"/>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323" name="Text"/>
          <p:cNvSpPr txBox="1"/>
          <p:nvPr/>
        </p:nvSpPr>
        <p:spPr>
          <a:xfrm>
            <a:off x="6159500" y="3469111"/>
            <a:ext cx="127000"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457200">
              <a:defRPr sz="1200">
                <a:latin typeface="Times Roman"/>
                <a:ea typeface="Times Roman"/>
                <a:cs typeface="Times Roman"/>
                <a:sym typeface="Times Roman"/>
              </a:defRPr>
            </a:lvl1pPr>
          </a:lstStyle>
          <a:p>
            <a:r>
              <a:t> </a:t>
            </a:r>
          </a:p>
        </p:txBody>
      </p:sp>
      <p:pic>
        <p:nvPicPr>
          <p:cNvPr id="324" name="Image" descr="Image"/>
          <p:cNvPicPr>
            <a:picLocks noChangeAspect="1"/>
          </p:cNvPicPr>
          <p:nvPr/>
        </p:nvPicPr>
        <p:blipFill>
          <a:blip r:embed="rId4"/>
          <a:stretch>
            <a:fillRect/>
          </a:stretch>
        </p:blipFill>
        <p:spPr>
          <a:xfrm>
            <a:off x="0" y="-1"/>
            <a:ext cx="12192001" cy="6858001"/>
          </a:xfrm>
          <a:prstGeom prst="rect">
            <a:avLst/>
          </a:prstGeom>
          <a:ln w="12700">
            <a:miter lim="400000"/>
          </a:ln>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Google Shape;261;p23"/>
          <p:cNvSpPr txBox="1"/>
          <p:nvPr/>
        </p:nvSpPr>
        <p:spPr>
          <a:xfrm>
            <a:off x="4972050" y="4073723"/>
            <a:ext cx="22479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b="1">
                <a:solidFill>
                  <a:srgbClr val="334155"/>
                </a:solidFill>
                <a:latin typeface="Open Sans"/>
                <a:ea typeface="Open Sans"/>
                <a:cs typeface="Open Sans"/>
                <a:sym typeface="Open Sans"/>
              </a:defRPr>
            </a:lvl1pPr>
          </a:lstStyle>
          <a:p>
            <a:r>
              <a:t>Mousheng Xu, PhD</a:t>
            </a:r>
          </a:p>
        </p:txBody>
      </p:sp>
      <p:sp>
        <p:nvSpPr>
          <p:cNvPr id="329" name="Google Shape;262;p23"/>
          <p:cNvSpPr txBox="1"/>
          <p:nvPr/>
        </p:nvSpPr>
        <p:spPr>
          <a:xfrm>
            <a:off x="4972050" y="4521398"/>
            <a:ext cx="22479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r>
              <a:t>moushengxu@gmail.com</a:t>
            </a:r>
          </a:p>
        </p:txBody>
      </p:sp>
      <p:sp>
        <p:nvSpPr>
          <p:cNvPr id="330" name="Text"/>
          <p:cNvSpPr txBox="1"/>
          <p:nvPr/>
        </p:nvSpPr>
        <p:spPr>
          <a:xfrm>
            <a:off x="6159500" y="3469111"/>
            <a:ext cx="127000"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457200">
              <a:defRPr sz="1200">
                <a:latin typeface="Times Roman"/>
                <a:ea typeface="Times Roman"/>
                <a:cs typeface="Times Roman"/>
                <a:sym typeface="Times Roman"/>
              </a:defRPr>
            </a:lvl1pPr>
          </a:lstStyle>
          <a:p>
            <a:r>
              <a:t> </a:t>
            </a:r>
          </a:p>
        </p:txBody>
      </p:sp>
      <p:pic>
        <p:nvPicPr>
          <p:cNvPr id="331" name="Image" descr="Image"/>
          <p:cNvPicPr>
            <a:picLocks noChangeAspect="1"/>
          </p:cNvPicPr>
          <p:nvPr/>
        </p:nvPicPr>
        <p:blipFill>
          <a:blip r:embed="rId3"/>
          <a:stretch>
            <a:fillRect/>
          </a:stretch>
        </p:blipFill>
        <p:spPr>
          <a:xfrm>
            <a:off x="-2" y="-2"/>
            <a:ext cx="12192002" cy="6858002"/>
          </a:xfrm>
          <a:prstGeom prst="rect">
            <a:avLst/>
          </a:prstGeom>
          <a:ln w="12700">
            <a:miter lim="400000"/>
          </a:ln>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5" name="Google Shape;219;p21" descr="Google Shape;219;p21"/>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336" name="Google Shape;236;p21"/>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Family</a:t>
            </a:r>
          </a:p>
        </p:txBody>
      </p:sp>
      <p:sp>
        <p:nvSpPr>
          <p:cNvPr id="337" name="Google Shape;237;p21"/>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pic>
        <p:nvPicPr>
          <p:cNvPr id="338" name="pasted-movie.png" descr="pasted-movie.png"/>
          <p:cNvPicPr>
            <a:picLocks noChangeAspect="1"/>
          </p:cNvPicPr>
          <p:nvPr/>
        </p:nvPicPr>
        <p:blipFill>
          <a:blip r:embed="rId3"/>
          <a:stretch>
            <a:fillRect/>
          </a:stretch>
        </p:blipFill>
        <p:spPr>
          <a:xfrm>
            <a:off x="2336611" y="1412875"/>
            <a:ext cx="7049703" cy="5285211"/>
          </a:xfrm>
          <a:prstGeom prst="rect">
            <a:avLst/>
          </a:prstGeom>
          <a:ln w="12700">
            <a:miter lim="400000"/>
          </a:ln>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Google Shape;259;p23"/>
          <p:cNvSpPr txBox="1"/>
          <p:nvPr/>
        </p:nvSpPr>
        <p:spPr>
          <a:xfrm>
            <a:off x="4081462" y="1888775"/>
            <a:ext cx="4230528" cy="914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6000" b="1">
                <a:solidFill>
                  <a:srgbClr val="1E3A8A"/>
                </a:solidFill>
                <a:latin typeface="Roboto Slab"/>
                <a:ea typeface="Roboto Slab"/>
                <a:cs typeface="Roboto Slab"/>
                <a:sym typeface="Roboto Slab"/>
              </a:defRPr>
            </a:lvl1pPr>
          </a:lstStyle>
          <a:p>
            <a:r>
              <a:t>Thank You</a:t>
            </a:r>
          </a:p>
        </p:txBody>
      </p:sp>
      <p:sp>
        <p:nvSpPr>
          <p:cNvPr id="341" name="Google Shape;260;p23"/>
          <p:cNvSpPr txBox="1"/>
          <p:nvPr/>
        </p:nvSpPr>
        <p:spPr>
          <a:xfrm>
            <a:off x="4252655" y="3244850"/>
            <a:ext cx="4230530" cy="368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ct val="159944"/>
              </a:lnSpc>
              <a:defRPr sz="2400" b="1">
                <a:solidFill>
                  <a:srgbClr val="64748B"/>
                </a:solidFill>
                <a:latin typeface="Open Sans"/>
                <a:ea typeface="Open Sans"/>
                <a:cs typeface="Open Sans"/>
                <a:sym typeface="Open Sans"/>
              </a:defRPr>
            </a:lvl1pPr>
          </a:lstStyle>
          <a:p>
            <a:r>
              <a:t>Questions &amp; Discussion</a:t>
            </a:r>
          </a:p>
        </p:txBody>
      </p:sp>
      <p:sp>
        <p:nvSpPr>
          <p:cNvPr id="342" name="Google Shape;261;p23"/>
          <p:cNvSpPr txBox="1"/>
          <p:nvPr/>
        </p:nvSpPr>
        <p:spPr>
          <a:xfrm>
            <a:off x="4972050" y="4073723"/>
            <a:ext cx="22479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b="1">
                <a:solidFill>
                  <a:srgbClr val="334155"/>
                </a:solidFill>
                <a:latin typeface="Open Sans"/>
                <a:ea typeface="Open Sans"/>
                <a:cs typeface="Open Sans"/>
                <a:sym typeface="Open Sans"/>
              </a:defRPr>
            </a:lvl1pPr>
          </a:lstStyle>
          <a:p>
            <a:r>
              <a:t>Mousheng Xu, PhD</a:t>
            </a:r>
          </a:p>
        </p:txBody>
      </p:sp>
      <p:sp>
        <p:nvSpPr>
          <p:cNvPr id="343" name="Google Shape;262;p23"/>
          <p:cNvSpPr txBox="1"/>
          <p:nvPr/>
        </p:nvSpPr>
        <p:spPr>
          <a:xfrm>
            <a:off x="4972050" y="4521398"/>
            <a:ext cx="2247900" cy="228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r>
              <a:t>moushengxu@gmail.com</a:t>
            </a:r>
          </a:p>
        </p:txBody>
      </p:sp>
      <p:pic>
        <p:nvPicPr>
          <p:cNvPr id="344" name="Image" descr="Image"/>
          <p:cNvPicPr>
            <a:picLocks noChangeAspect="1"/>
          </p:cNvPicPr>
          <p:nvPr/>
        </p:nvPicPr>
        <p:blipFill>
          <a:blip r:embed="rId3"/>
          <a:stretch>
            <a:fillRect/>
          </a:stretch>
        </p:blipFill>
        <p:spPr>
          <a:xfrm>
            <a:off x="-2" y="0"/>
            <a:ext cx="12192002" cy="6858001"/>
          </a:xfrm>
          <a:prstGeom prst="rect">
            <a:avLst/>
          </a:prstGeom>
          <a:ln w="12700">
            <a:miter lim="400000"/>
          </a:ln>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Google Shape;259;p23"/>
          <p:cNvSpPr txBox="1"/>
          <p:nvPr/>
        </p:nvSpPr>
        <p:spPr>
          <a:xfrm>
            <a:off x="3138287" y="2971800"/>
            <a:ext cx="5635737" cy="914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6000" b="1">
                <a:solidFill>
                  <a:srgbClr val="1E3A8A"/>
                </a:solidFill>
                <a:latin typeface="Roboto Slab"/>
                <a:ea typeface="Roboto Slab"/>
                <a:cs typeface="Roboto Slab"/>
                <a:sym typeface="Roboto Slab"/>
              </a:defRPr>
            </a:lvl1pPr>
          </a:lstStyle>
          <a:p>
            <a:r>
              <a:t>Backup Slides</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0"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351" name="Image" descr="Image"/>
          <p:cNvPicPr>
            <a:picLocks noChangeAspect="1"/>
          </p:cNvPicPr>
          <p:nvPr/>
        </p:nvPicPr>
        <p:blipFill>
          <a:blip r:embed="rId4"/>
          <a:stretch>
            <a:fillRect/>
          </a:stretch>
        </p:blipFill>
        <p:spPr>
          <a:xfrm>
            <a:off x="43192" y="0"/>
            <a:ext cx="7983444" cy="6858000"/>
          </a:xfrm>
          <a:prstGeom prst="rect">
            <a:avLst/>
          </a:prstGeom>
          <a:ln w="12700">
            <a:miter lim="400000"/>
          </a:ln>
        </p:spPr>
      </p:pic>
      <p:pic>
        <p:nvPicPr>
          <p:cNvPr id="352" name="pasted-movie.png" descr="pasted-movie.png"/>
          <p:cNvPicPr>
            <a:picLocks noChangeAspect="1"/>
          </p:cNvPicPr>
          <p:nvPr/>
        </p:nvPicPr>
        <p:blipFill>
          <a:blip r:embed="rId5"/>
          <a:stretch>
            <a:fillRect/>
          </a:stretch>
        </p:blipFill>
        <p:spPr>
          <a:xfrm>
            <a:off x="8237992" y="4831639"/>
            <a:ext cx="2044701" cy="901701"/>
          </a:xfrm>
          <a:prstGeom prst="rect">
            <a:avLst/>
          </a:prstGeom>
          <a:ln w="12700">
            <a:miter lim="400000"/>
          </a:ln>
        </p:spPr>
      </p:pic>
      <p:pic>
        <p:nvPicPr>
          <p:cNvPr id="353" name="Image" descr="Image"/>
          <p:cNvPicPr>
            <a:picLocks noChangeAspect="1"/>
          </p:cNvPicPr>
          <p:nvPr/>
        </p:nvPicPr>
        <p:blipFill>
          <a:blip r:embed="rId6"/>
          <a:stretch>
            <a:fillRect/>
          </a:stretch>
        </p:blipFill>
        <p:spPr>
          <a:xfrm>
            <a:off x="8069828" y="320565"/>
            <a:ext cx="3965039" cy="3244123"/>
          </a:xfrm>
          <a:prstGeom prst="rect">
            <a:avLst/>
          </a:prstGeom>
          <a:ln w="12700">
            <a:miter lim="400000"/>
          </a:ln>
        </p:spPr>
      </p:pic>
      <p:sp>
        <p:nvSpPr>
          <p:cNvPr id="2" name="Rectangle 1">
            <a:extLst>
              <a:ext uri="{FF2B5EF4-FFF2-40B4-BE49-F238E27FC236}">
                <a16:creationId xmlns:a16="http://schemas.microsoft.com/office/drawing/2014/main" id="{07239B5E-4430-F9C7-BCEF-337378A1AD51}"/>
              </a:ext>
            </a:extLst>
          </p:cNvPr>
          <p:cNvSpPr>
            <a:spLocks noChangeArrowheads="1"/>
          </p:cNvSpPr>
          <p:nvPr/>
        </p:nvSpPr>
        <p:spPr bwMode="auto">
          <a:xfrm>
            <a:off x="8237992" y="3859716"/>
            <a:ext cx="4097597"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02124"/>
                </a:solidFill>
                <a:effectLst/>
                <a:latin typeface="Arial" panose="020B0604020202020204" pitchFamily="34" charset="0"/>
              </a:rPr>
              <a:t>Receiver-operating characteristic curve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02124"/>
                </a:solidFill>
                <a:effectLst/>
                <a:latin typeface="Arial" panose="020B0604020202020204" pitchFamily="34" charset="0"/>
              </a:rPr>
              <a:t>(ROC)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5" name="Google Shape;84;p13" descr="Google Shape;84;p13"/>
          <p:cNvPicPr>
            <a:picLocks noChangeAspect="1"/>
          </p:cNvPicPr>
          <p:nvPr/>
        </p:nvPicPr>
        <p:blipFill>
          <a:blip r:embed="rId2"/>
          <a:stretch>
            <a:fillRect/>
          </a:stretch>
        </p:blipFill>
        <p:spPr>
          <a:xfrm>
            <a:off x="0" y="0"/>
            <a:ext cx="12192000" cy="6858000"/>
          </a:xfrm>
          <a:prstGeom prst="rect">
            <a:avLst/>
          </a:prstGeom>
          <a:ln w="12700">
            <a:miter lim="400000"/>
          </a:ln>
        </p:spPr>
      </p:pic>
      <p:pic>
        <p:nvPicPr>
          <p:cNvPr id="356" name="pasted-movie.png" descr="pasted-movie.png"/>
          <p:cNvPicPr>
            <a:picLocks noChangeAspect="1"/>
          </p:cNvPicPr>
          <p:nvPr/>
        </p:nvPicPr>
        <p:blipFill>
          <a:blip r:embed="rId3"/>
          <a:stretch>
            <a:fillRect/>
          </a:stretch>
        </p:blipFill>
        <p:spPr>
          <a:xfrm>
            <a:off x="763065" y="685711"/>
            <a:ext cx="9198589" cy="6227363"/>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236</TotalTime>
  <Words>1999</Words>
  <Application>Microsoft Macintosh PowerPoint</Application>
  <PresentationFormat>Widescreen</PresentationFormat>
  <Paragraphs>172</Paragraphs>
  <Slides>22</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Mousheng Xu</cp:lastModifiedBy>
  <cp:revision>8</cp:revision>
  <dcterms:modified xsi:type="dcterms:W3CDTF">2025-12-03T15:59:36Z</dcterms:modified>
</cp:coreProperties>
</file>