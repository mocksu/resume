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Helvetica"/>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3168"/>
  </p:normalViewPr>
  <p:slideViewPr>
    <p:cSldViewPr snapToGrid="0">
      <p:cViewPr varScale="1">
        <p:scale>
          <a:sx n="87" d="100"/>
          <a:sy n="87" d="100"/>
        </p:scale>
        <p:origin x="2080"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9" name="Shape 119"/>
          <p:cNvSpPr>
            <a:spLocks noGrp="1" noRot="1" noChangeAspect="1"/>
          </p:cNvSpPr>
          <p:nvPr>
            <p:ph type="sldImg"/>
          </p:nvPr>
        </p:nvSpPr>
        <p:spPr>
          <a:xfrm>
            <a:off x="1143000" y="685800"/>
            <a:ext cx="4572000" cy="3429000"/>
          </a:xfrm>
          <a:prstGeom prst="rect">
            <a:avLst/>
          </a:prstGeom>
        </p:spPr>
        <p:txBody>
          <a:bodyPr/>
          <a:lstStyle/>
          <a:p>
            <a:endParaRPr/>
          </a:p>
        </p:txBody>
      </p:sp>
      <p:sp>
        <p:nvSpPr>
          <p:cNvPr id="120" name="Shape 12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b="0" i="0" u="none" strike="noStrike" dirty="0">
                <a:effectLst/>
                <a:latin typeface="+mj-lt"/>
                <a:ea typeface="+mj-ea"/>
                <a:cs typeface="+mj-cs"/>
                <a:sym typeface="Arial"/>
              </a:rPr>
              <a:t>Good morning/afternoon, everyone. I’m Mousheng Xu.</a:t>
            </a:r>
          </a:p>
          <a:p>
            <a:r>
              <a:rPr lang="en-US" altLang="zh-CN" sz="1400" b="0" i="0" u="none" strike="noStrike" dirty="0">
                <a:effectLst/>
                <a:latin typeface="+mj-lt"/>
                <a:ea typeface="+mj-ea"/>
                <a:cs typeface="+mj-cs"/>
                <a:sym typeface="Arial"/>
              </a:rPr>
              <a:t>First,</a:t>
            </a:r>
            <a:r>
              <a:rPr lang="zh-CN" altLang="en-US" sz="1400" b="0" i="0" u="none" strike="noStrike" dirty="0">
                <a:effectLst/>
                <a:latin typeface="+mj-lt"/>
                <a:ea typeface="+mj-ea"/>
                <a:cs typeface="+mj-cs"/>
                <a:sym typeface="Arial"/>
              </a:rPr>
              <a:t> </a:t>
            </a:r>
            <a:r>
              <a:rPr lang="en-US" altLang="zh-CN" sz="1400" b="0" i="0" u="none" strike="noStrike" dirty="0">
                <a:effectLst/>
                <a:latin typeface="+mj-lt"/>
                <a:ea typeface="+mj-ea"/>
                <a:cs typeface="+mj-cs"/>
                <a:sym typeface="Arial"/>
              </a:rPr>
              <a:t>I</a:t>
            </a:r>
            <a:r>
              <a:rPr lang="zh-CN" altLang="en-US" sz="1400" b="0" i="0" u="none" strike="noStrike" dirty="0">
                <a:effectLst/>
                <a:latin typeface="+mj-lt"/>
                <a:ea typeface="+mj-ea"/>
                <a:cs typeface="+mj-cs"/>
                <a:sym typeface="Arial"/>
              </a:rPr>
              <a:t> </a:t>
            </a:r>
            <a:r>
              <a:rPr lang="en-US" altLang="zh-CN" sz="1400" b="0" i="0" u="none" strike="noStrike" dirty="0">
                <a:effectLst/>
                <a:latin typeface="+mj-lt"/>
                <a:ea typeface="+mj-ea"/>
                <a:cs typeface="+mj-cs"/>
                <a:sym typeface="Arial"/>
              </a:rPr>
              <a:t>would</a:t>
            </a:r>
            <a:r>
              <a:rPr lang="zh-CN" altLang="en-US" sz="1400" b="0" i="0" u="none" strike="noStrike" dirty="0">
                <a:effectLst/>
                <a:latin typeface="+mj-lt"/>
                <a:ea typeface="+mj-ea"/>
                <a:cs typeface="+mj-cs"/>
                <a:sym typeface="Arial"/>
              </a:rPr>
              <a:t> </a:t>
            </a:r>
            <a:r>
              <a:rPr lang="en-US" altLang="zh-CN" sz="1400" b="0" i="0" u="none" strike="noStrike" dirty="0">
                <a:effectLst/>
                <a:latin typeface="+mj-lt"/>
                <a:ea typeface="+mj-ea"/>
                <a:cs typeface="+mj-cs"/>
                <a:sym typeface="Arial"/>
              </a:rPr>
              <a:t>like</a:t>
            </a:r>
            <a:r>
              <a:rPr lang="zh-CN" altLang="en-US" sz="1400" b="0" i="0" u="none" strike="noStrike" dirty="0">
                <a:effectLst/>
                <a:latin typeface="+mj-lt"/>
                <a:ea typeface="+mj-ea"/>
                <a:cs typeface="+mj-cs"/>
                <a:sym typeface="Arial"/>
              </a:rPr>
              <a:t> </a:t>
            </a:r>
            <a:r>
              <a:rPr lang="en-US" altLang="zh-CN" sz="1400" b="0" i="0" u="none" strike="noStrike" dirty="0">
                <a:effectLst/>
                <a:latin typeface="+mj-lt"/>
                <a:ea typeface="+mj-ea"/>
                <a:cs typeface="+mj-cs"/>
                <a:sym typeface="Arial"/>
              </a:rPr>
              <a:t>to</a:t>
            </a:r>
            <a:r>
              <a:rPr lang="zh-CN" altLang="en-US" sz="1400" b="0" i="0" u="none" strike="noStrike" dirty="0">
                <a:effectLst/>
                <a:latin typeface="+mj-lt"/>
                <a:ea typeface="+mj-ea"/>
                <a:cs typeface="+mj-cs"/>
                <a:sym typeface="Arial"/>
              </a:rPr>
              <a:t> </a:t>
            </a:r>
            <a:r>
              <a:rPr lang="en-US" altLang="zh-CN" sz="1400" b="0" i="0" u="none" strike="noStrike" dirty="0">
                <a:effectLst/>
                <a:latin typeface="+mj-lt"/>
                <a:ea typeface="+mj-ea"/>
                <a:cs typeface="+mj-cs"/>
                <a:sym typeface="Arial"/>
              </a:rPr>
              <a:t>thank</a:t>
            </a:r>
            <a:r>
              <a:rPr lang="zh-CN" altLang="en-US" sz="1400" b="0" i="0" u="none" strike="noStrike" dirty="0">
                <a:effectLst/>
                <a:latin typeface="+mj-lt"/>
                <a:ea typeface="+mj-ea"/>
                <a:cs typeface="+mj-cs"/>
                <a:sym typeface="Arial"/>
              </a:rPr>
              <a:t> </a:t>
            </a:r>
            <a:r>
              <a:rPr lang="en-US" altLang="zh-CN" sz="1400" b="0" i="0" u="none" strike="noStrike" dirty="0">
                <a:effectLst/>
                <a:latin typeface="+mj-lt"/>
                <a:ea typeface="+mj-ea"/>
                <a:cs typeface="+mj-cs"/>
                <a:sym typeface="Arial"/>
              </a:rPr>
              <a:t>Dr.</a:t>
            </a:r>
            <a:r>
              <a:rPr lang="zh-CN" altLang="en-US" sz="1400" b="0" i="0" u="none" strike="noStrike" dirty="0">
                <a:effectLst/>
                <a:latin typeface="+mj-lt"/>
                <a:ea typeface="+mj-ea"/>
                <a:cs typeface="+mj-cs"/>
                <a:sym typeface="Arial"/>
              </a:rPr>
              <a:t> </a:t>
            </a:r>
            <a:r>
              <a:rPr lang="en-US" altLang="zh-CN" sz="1400" b="0" i="0" u="none" strike="noStrike" dirty="0" err="1">
                <a:effectLst/>
                <a:latin typeface="+mj-lt"/>
                <a:ea typeface="+mj-ea"/>
                <a:cs typeface="+mj-cs"/>
                <a:sym typeface="Arial"/>
              </a:rPr>
              <a:t>Dganit</a:t>
            </a:r>
            <a:r>
              <a:rPr lang="zh-CN" altLang="en-US" sz="1400" b="0" i="0" u="none" strike="noStrike" dirty="0">
                <a:effectLst/>
                <a:latin typeface="+mj-lt"/>
                <a:ea typeface="+mj-ea"/>
                <a:cs typeface="+mj-cs"/>
                <a:sym typeface="Arial"/>
              </a:rPr>
              <a:t> </a:t>
            </a:r>
            <a:r>
              <a:rPr lang="en-US" altLang="zh-CN" sz="1400" b="0" i="0" u="none" strike="noStrike" dirty="0">
                <a:effectLst/>
                <a:latin typeface="+mj-lt"/>
                <a:ea typeface="+mj-ea"/>
                <a:cs typeface="+mj-cs"/>
                <a:sym typeface="Arial"/>
              </a:rPr>
              <a:t>to</a:t>
            </a:r>
            <a:r>
              <a:rPr lang="zh-CN" altLang="en-US" sz="1400" b="0" i="0" u="none" strike="noStrike" dirty="0">
                <a:effectLst/>
                <a:latin typeface="+mj-lt"/>
                <a:ea typeface="+mj-ea"/>
                <a:cs typeface="+mj-cs"/>
                <a:sym typeface="Arial"/>
              </a:rPr>
              <a:t> </a:t>
            </a:r>
            <a:r>
              <a:rPr lang="en-US" altLang="zh-CN" sz="1400" b="0" i="0" u="none" strike="noStrike" dirty="0">
                <a:effectLst/>
                <a:latin typeface="+mj-lt"/>
                <a:ea typeface="+mj-ea"/>
                <a:cs typeface="+mj-cs"/>
                <a:sym typeface="Arial"/>
              </a:rPr>
              <a:t>invite</a:t>
            </a:r>
            <a:r>
              <a:rPr lang="zh-CN" altLang="en-US" sz="1400" b="0" i="0" u="none" strike="noStrike" dirty="0">
                <a:effectLst/>
                <a:latin typeface="+mj-lt"/>
                <a:ea typeface="+mj-ea"/>
                <a:cs typeface="+mj-cs"/>
                <a:sym typeface="Arial"/>
              </a:rPr>
              <a:t> </a:t>
            </a:r>
            <a:r>
              <a:rPr lang="en-US" altLang="zh-CN" sz="1400" b="0" i="0" u="none" strike="noStrike" dirty="0">
                <a:effectLst/>
                <a:latin typeface="+mj-lt"/>
                <a:ea typeface="+mj-ea"/>
                <a:cs typeface="+mj-cs"/>
                <a:sym typeface="Arial"/>
              </a:rPr>
              <a:t>me</a:t>
            </a:r>
            <a:r>
              <a:rPr lang="zh-CN" altLang="en-US" sz="1400" b="0" i="0" u="none" strike="noStrike" dirty="0">
                <a:effectLst/>
                <a:latin typeface="+mj-lt"/>
                <a:ea typeface="+mj-ea"/>
                <a:cs typeface="+mj-cs"/>
                <a:sym typeface="Arial"/>
              </a:rPr>
              <a:t> </a:t>
            </a:r>
            <a:r>
              <a:rPr lang="en-US" altLang="zh-CN" sz="1400" b="0" i="0" u="none" strike="noStrike" dirty="0">
                <a:effectLst/>
                <a:latin typeface="+mj-lt"/>
                <a:ea typeface="+mj-ea"/>
                <a:cs typeface="+mj-cs"/>
                <a:sym typeface="Arial"/>
              </a:rPr>
              <a:t>to</a:t>
            </a:r>
            <a:r>
              <a:rPr lang="zh-CN" altLang="en-US" sz="1400" b="0" i="0" u="none" strike="noStrike" dirty="0">
                <a:effectLst/>
                <a:latin typeface="+mj-lt"/>
                <a:ea typeface="+mj-ea"/>
                <a:cs typeface="+mj-cs"/>
                <a:sym typeface="Arial"/>
              </a:rPr>
              <a:t> </a:t>
            </a:r>
            <a:r>
              <a:rPr lang="en-US" altLang="zh-CN" sz="1400" b="0" i="0" u="none" strike="noStrike" dirty="0">
                <a:effectLst/>
                <a:latin typeface="+mj-lt"/>
                <a:ea typeface="+mj-ea"/>
                <a:cs typeface="+mj-cs"/>
                <a:sym typeface="Arial"/>
              </a:rPr>
              <a:t>the</a:t>
            </a:r>
            <a:r>
              <a:rPr lang="zh-CN" altLang="en-US" sz="1400" b="0" i="0" u="none" strike="noStrike" dirty="0">
                <a:effectLst/>
                <a:latin typeface="+mj-lt"/>
                <a:ea typeface="+mj-ea"/>
                <a:cs typeface="+mj-cs"/>
                <a:sym typeface="Arial"/>
              </a:rPr>
              <a:t> </a:t>
            </a:r>
            <a:r>
              <a:rPr lang="en-US" altLang="zh-CN" sz="1400" b="0" i="0" u="none" strike="noStrike" dirty="0">
                <a:effectLst/>
                <a:latin typeface="+mj-lt"/>
                <a:ea typeface="+mj-ea"/>
                <a:cs typeface="+mj-cs"/>
                <a:sym typeface="Arial"/>
              </a:rPr>
              <a:t>symposium</a:t>
            </a:r>
            <a:r>
              <a:rPr lang="zh-CN" altLang="en-US" sz="1400" b="0" i="0" u="none" strike="noStrike" dirty="0">
                <a:effectLst/>
                <a:latin typeface="+mj-lt"/>
                <a:ea typeface="+mj-ea"/>
                <a:cs typeface="+mj-cs"/>
                <a:sym typeface="Arial"/>
              </a:rPr>
              <a:t> </a:t>
            </a:r>
            <a:r>
              <a:rPr lang="en-US" altLang="zh-CN" sz="1400" b="0" i="0" u="none" strike="noStrike" dirty="0">
                <a:effectLst/>
                <a:latin typeface="+mj-lt"/>
                <a:ea typeface="+mj-ea"/>
                <a:cs typeface="+mj-cs"/>
                <a:sym typeface="Arial"/>
              </a:rPr>
              <a:t>and</a:t>
            </a:r>
            <a:r>
              <a:rPr lang="zh-CN" altLang="en-US" sz="1400" b="0" i="0" u="none" strike="noStrike" dirty="0">
                <a:effectLst/>
                <a:latin typeface="+mj-lt"/>
                <a:ea typeface="+mj-ea"/>
                <a:cs typeface="+mj-cs"/>
                <a:sym typeface="Arial"/>
              </a:rPr>
              <a:t> </a:t>
            </a:r>
            <a:r>
              <a:rPr lang="en-US" altLang="zh-CN" sz="1400" b="0" i="0" u="none" strike="noStrike" dirty="0">
                <a:effectLst/>
                <a:latin typeface="+mj-lt"/>
                <a:ea typeface="+mj-ea"/>
                <a:cs typeface="+mj-cs"/>
                <a:sym typeface="Arial"/>
              </a:rPr>
              <a:t>give</a:t>
            </a:r>
            <a:r>
              <a:rPr lang="zh-CN" altLang="en-US" sz="1400" b="0" i="0" u="none" strike="noStrike" dirty="0">
                <a:effectLst/>
                <a:latin typeface="+mj-lt"/>
                <a:ea typeface="+mj-ea"/>
                <a:cs typeface="+mj-cs"/>
                <a:sym typeface="Arial"/>
              </a:rPr>
              <a:t> </a:t>
            </a:r>
            <a:r>
              <a:rPr lang="en-US" altLang="zh-CN" sz="1400" b="0" i="0" u="none" strike="noStrike" dirty="0">
                <a:effectLst/>
                <a:latin typeface="+mj-lt"/>
                <a:ea typeface="+mj-ea"/>
                <a:cs typeface="+mj-cs"/>
                <a:sym typeface="Arial"/>
              </a:rPr>
              <a:t>me</a:t>
            </a:r>
            <a:r>
              <a:rPr lang="zh-CN" altLang="en-US" sz="1400" b="0" i="0" u="none" strike="noStrike" dirty="0">
                <a:effectLst/>
                <a:latin typeface="+mj-lt"/>
                <a:ea typeface="+mj-ea"/>
                <a:cs typeface="+mj-cs"/>
                <a:sym typeface="Arial"/>
              </a:rPr>
              <a:t> </a:t>
            </a:r>
            <a:r>
              <a:rPr lang="en-US" altLang="zh-CN" sz="1400" b="0" i="0" u="none" strike="noStrike" dirty="0">
                <a:effectLst/>
                <a:latin typeface="+mj-lt"/>
                <a:ea typeface="+mj-ea"/>
                <a:cs typeface="+mj-cs"/>
                <a:sym typeface="Arial"/>
              </a:rPr>
              <a:t>the</a:t>
            </a:r>
            <a:r>
              <a:rPr lang="zh-CN" altLang="en-US" sz="1400" b="0" i="0" u="none" strike="noStrike" dirty="0">
                <a:effectLst/>
                <a:latin typeface="+mj-lt"/>
                <a:ea typeface="+mj-ea"/>
                <a:cs typeface="+mj-cs"/>
                <a:sym typeface="Arial"/>
              </a:rPr>
              <a:t> </a:t>
            </a:r>
            <a:r>
              <a:rPr lang="en-US" altLang="zh-CN" sz="1400" b="0" i="0" u="none" strike="noStrike" dirty="0">
                <a:effectLst/>
                <a:latin typeface="+mj-lt"/>
                <a:ea typeface="+mj-ea"/>
                <a:cs typeface="+mj-cs"/>
                <a:sym typeface="Arial"/>
              </a:rPr>
              <a:t>chance</a:t>
            </a:r>
            <a:r>
              <a:rPr lang="zh-CN" altLang="en-US" sz="1400" b="0" i="0" u="none" strike="noStrike" dirty="0">
                <a:effectLst/>
                <a:latin typeface="+mj-lt"/>
                <a:ea typeface="+mj-ea"/>
                <a:cs typeface="+mj-cs"/>
                <a:sym typeface="Arial"/>
              </a:rPr>
              <a:t> </a:t>
            </a:r>
            <a:r>
              <a:rPr lang="en-US" altLang="zh-CN" sz="1400" b="0" i="0" u="none" strike="noStrike" dirty="0">
                <a:effectLst/>
                <a:latin typeface="+mj-lt"/>
                <a:ea typeface="+mj-ea"/>
                <a:cs typeface="+mj-cs"/>
                <a:sym typeface="Arial"/>
              </a:rPr>
              <a:t>to</a:t>
            </a:r>
            <a:r>
              <a:rPr lang="zh-CN" altLang="en-US" sz="1400" b="0" i="0" u="none" strike="noStrike" dirty="0">
                <a:effectLst/>
                <a:latin typeface="+mj-lt"/>
                <a:ea typeface="+mj-ea"/>
                <a:cs typeface="+mj-cs"/>
                <a:sym typeface="Arial"/>
              </a:rPr>
              <a:t> </a:t>
            </a:r>
            <a:r>
              <a:rPr lang="en-US" altLang="zh-CN" sz="1400" b="0" i="0" u="none" strike="noStrike" dirty="0">
                <a:effectLst/>
                <a:latin typeface="+mj-lt"/>
                <a:ea typeface="+mj-ea"/>
                <a:cs typeface="+mj-cs"/>
                <a:sym typeface="Arial"/>
              </a:rPr>
              <a:t>speak.</a:t>
            </a:r>
          </a:p>
          <a:p>
            <a:endParaRPr lang="en-US" sz="1400" b="0" i="0" u="none" strike="noStrike" dirty="0">
              <a:effectLst/>
              <a:latin typeface="+mj-lt"/>
              <a:ea typeface="+mj-ea"/>
              <a:cs typeface="+mj-cs"/>
              <a:sym typeface="Arial"/>
            </a:endParaRPr>
          </a:p>
          <a:p>
            <a:r>
              <a:rPr lang="en-US" sz="1400" b="0" i="0" u="none" strike="noStrike" dirty="0">
                <a:effectLst/>
                <a:latin typeface="+mj-lt"/>
                <a:ea typeface="+mj-ea"/>
                <a:cs typeface="+mj-cs"/>
                <a:sym typeface="Arial"/>
              </a:rPr>
              <a:t>Today, I’ll be presenting our work on predicting severe asthma attacks using Random Forest classifiers—a study that sits at the intersection of genetics and machine learning. This research addresses a critical need in personalized medicine: identifying high-risk patients before an event occurs.</a:t>
            </a:r>
          </a:p>
          <a:p>
            <a:endParaRPr lang="en-US" dirty="0"/>
          </a:p>
        </p:txBody>
      </p:sp>
    </p:spTree>
    <p:extLst>
      <p:ext uri="{BB962C8B-B14F-4D97-AF65-F5344CB8AC3E}">
        <p14:creationId xmlns:p14="http://schemas.microsoft.com/office/powerpoint/2010/main" val="12662885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b="0" i="0" u="none" strike="noStrike" dirty="0">
                <a:effectLst/>
                <a:latin typeface="+mj-lt"/>
                <a:ea typeface="+mj-ea"/>
                <a:cs typeface="+mj-cs"/>
                <a:sym typeface="Arial"/>
              </a:rPr>
              <a:t>My 20+ year career has been defined by bridging computational biology, statistical genetics, and machine learning.</a:t>
            </a:r>
          </a:p>
          <a:p>
            <a:r>
              <a:rPr lang="en-US" sz="1400" b="0" i="0" u="none" strike="noStrike" dirty="0">
                <a:effectLst/>
                <a:latin typeface="+mj-lt"/>
                <a:ea typeface="+mj-ea"/>
                <a:cs typeface="+mj-cs"/>
                <a:sym typeface="Arial"/>
              </a:rPr>
              <a:t>I have a strong academic foundation from Harvard and Boston University, but my career has focused on application. Whether leading large-scale GWAS pipelines at Harvard or founding a genetic testing company, my goal has always been to translate complex "Big Data" into actionable clinical and commercial insights.</a:t>
            </a:r>
          </a:p>
          <a:p>
            <a:endParaRPr lang="en-US" dirty="0"/>
          </a:p>
        </p:txBody>
      </p:sp>
    </p:spTree>
    <p:extLst>
      <p:ext uri="{BB962C8B-B14F-4D97-AF65-F5344CB8AC3E}">
        <p14:creationId xmlns:p14="http://schemas.microsoft.com/office/powerpoint/2010/main" val="2476477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b="0" i="0" u="none" strike="noStrike" dirty="0">
                <a:effectLst/>
                <a:latin typeface="+mj-lt"/>
                <a:ea typeface="+mj-ea"/>
                <a:cs typeface="+mj-cs"/>
                <a:sym typeface="Arial"/>
              </a:rPr>
              <a:t>The core clinical problem we addressed is prediction.</a:t>
            </a:r>
          </a:p>
          <a:p>
            <a:r>
              <a:rPr lang="en-US" sz="1400" b="0" i="0" u="none" strike="noStrike" dirty="0">
                <a:effectLst/>
                <a:latin typeface="+mj-lt"/>
                <a:ea typeface="+mj-ea"/>
                <a:cs typeface="+mj-cs"/>
                <a:sym typeface="Arial"/>
              </a:rPr>
              <a:t>Severe asthma exacerbations—defined as events requiring emergency room visits or hospitalization—are dangerous, costly, and difficult to foresee. The ability to predict this risk early using genetic markers would have direct prognostic significance, forming the basis for earlier and more effective therapeutic interventions.</a:t>
            </a:r>
          </a:p>
          <a:p>
            <a:endParaRPr lang="en-US" dirty="0"/>
          </a:p>
        </p:txBody>
      </p:sp>
    </p:spTree>
    <p:extLst>
      <p:ext uri="{BB962C8B-B14F-4D97-AF65-F5344CB8AC3E}">
        <p14:creationId xmlns:p14="http://schemas.microsoft.com/office/powerpoint/2010/main" val="31002835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b="0" i="0" u="none" strike="noStrike" dirty="0">
                <a:effectLst/>
                <a:latin typeface="+mj-lt"/>
                <a:ea typeface="+mj-ea"/>
                <a:cs typeface="+mj-cs"/>
                <a:sym typeface="Arial"/>
              </a:rPr>
              <a:t>Our analysis faced a classic but severe statistical hurdle: "Small N, Large P."</a:t>
            </a:r>
          </a:p>
          <a:p>
            <a:r>
              <a:rPr lang="en-US" sz="1400" b="0" i="0" u="none" strike="noStrike" dirty="0">
                <a:effectLst/>
                <a:latin typeface="+mj-lt"/>
                <a:ea typeface="+mj-ea"/>
                <a:cs typeface="+mj-cs"/>
                <a:sym typeface="Arial"/>
              </a:rPr>
              <a:t>We had a high-quality dataset of 417 subjects (Small N), but we had to screen over 550,000 genetic and clinical predictors (Large P).</a:t>
            </a:r>
          </a:p>
          <a:p>
            <a:r>
              <a:rPr lang="en-US" sz="1400" b="0" i="0" u="none" strike="noStrike" dirty="0">
                <a:effectLst/>
                <a:latin typeface="+mj-lt"/>
                <a:ea typeface="+mj-ea"/>
                <a:cs typeface="+mj-cs"/>
                <a:sym typeface="Arial"/>
              </a:rPr>
              <a:t>Standard methods like Logistic Regression fail in this scenario because they cannot handle such high dimensionality without overfitting. We needed a machine learning tool specifically designed for this scale.</a:t>
            </a:r>
          </a:p>
          <a:p>
            <a:endParaRPr lang="en-US" dirty="0"/>
          </a:p>
        </p:txBody>
      </p:sp>
    </p:spTree>
    <p:extLst>
      <p:ext uri="{BB962C8B-B14F-4D97-AF65-F5344CB8AC3E}">
        <p14:creationId xmlns:p14="http://schemas.microsoft.com/office/powerpoint/2010/main" val="39669937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b="0" i="0" u="none" strike="noStrike" dirty="0">
                <a:effectLst/>
                <a:latin typeface="+mj-lt"/>
                <a:ea typeface="+mj-ea"/>
                <a:cs typeface="+mj-cs"/>
                <a:sym typeface="Arial"/>
              </a:rPr>
              <a:t>Our solution was the Random Forest classifier.</a:t>
            </a:r>
          </a:p>
          <a:p>
            <a:r>
              <a:rPr lang="en-US" sz="1400" b="0" i="0" u="none" strike="noStrike" dirty="0">
                <a:effectLst/>
                <a:latin typeface="+mj-lt"/>
                <a:ea typeface="+mj-ea"/>
                <a:cs typeface="+mj-cs"/>
                <a:sym typeface="Arial"/>
              </a:rPr>
              <a:t>As the diagram on the left shows, a single Decision Tree can be unstable. However, the Random Forest (on the right) uses an ensemble of hundreds of trees.</a:t>
            </a:r>
          </a:p>
          <a:p>
            <a:r>
              <a:rPr lang="en-US" sz="1400" b="0" i="0" u="none" strike="noStrike" dirty="0">
                <a:effectLst/>
                <a:latin typeface="+mj-lt"/>
                <a:ea typeface="+mj-ea"/>
                <a:cs typeface="+mj-cs"/>
                <a:sym typeface="Arial"/>
              </a:rPr>
              <a:t>Each tree is trained on a random subset of data and votes on the outcome. We then use a "Majority Vote" mechanism to determine the final prediction. This "wisdom of the crowds" approach drastically increases stability and accuracy compared to any single model.</a:t>
            </a:r>
          </a:p>
          <a:p>
            <a:endParaRPr lang="en-US" dirty="0"/>
          </a:p>
        </p:txBody>
      </p:sp>
    </p:spTree>
    <p:extLst>
      <p:ext uri="{BB962C8B-B14F-4D97-AF65-F5344CB8AC3E}">
        <p14:creationId xmlns:p14="http://schemas.microsoft.com/office/powerpoint/2010/main" val="3880066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b="0" i="0" u="none" strike="noStrike" dirty="0">
                <a:effectLst/>
                <a:latin typeface="+mj-lt"/>
                <a:ea typeface="+mj-ea"/>
                <a:cs typeface="+mj-cs"/>
                <a:sym typeface="Arial"/>
              </a:rPr>
              <a:t>Briefly, here are the key terms for this analysis:</a:t>
            </a:r>
          </a:p>
          <a:p>
            <a:r>
              <a:rPr lang="en-US" sz="1400" b="0" i="0" u="none" strike="noStrike" dirty="0">
                <a:effectLst/>
                <a:latin typeface="+mj-lt"/>
                <a:ea typeface="+mj-ea"/>
                <a:cs typeface="+mj-cs"/>
                <a:sym typeface="Arial"/>
              </a:rPr>
              <a:t>SNP (Single Nucleotide Polymorphism): The single-letter genetic variations we used as predictors.</a:t>
            </a:r>
          </a:p>
          <a:p>
            <a:r>
              <a:rPr lang="en-US" sz="1400" b="0" i="0" u="none" strike="noStrike" dirty="0">
                <a:effectLst/>
                <a:latin typeface="+mj-lt"/>
                <a:ea typeface="+mj-ea"/>
                <a:cs typeface="+mj-cs"/>
                <a:sym typeface="Arial"/>
              </a:rPr>
              <a:t>Importance Score: The metric Random Forest uses to rank predictors by their predictive power.</a:t>
            </a:r>
          </a:p>
          <a:p>
            <a:r>
              <a:rPr lang="en-US" sz="1400" b="0" i="0" u="none" strike="noStrike" dirty="0">
                <a:effectLst/>
                <a:latin typeface="+mj-lt"/>
                <a:ea typeface="+mj-ea"/>
                <a:cs typeface="+mj-cs"/>
                <a:sym typeface="Arial"/>
              </a:rPr>
              <a:t>AUC (Area Under the Curve): Our measure of success. 0.5 is a random guess; 1.0 is perfect prediction. We aim to maximize this.</a:t>
            </a:r>
          </a:p>
          <a:p>
            <a:endParaRPr lang="en-US" dirty="0"/>
          </a:p>
        </p:txBody>
      </p:sp>
    </p:spTree>
    <p:extLst>
      <p:ext uri="{BB962C8B-B14F-4D97-AF65-F5344CB8AC3E}">
        <p14:creationId xmlns:p14="http://schemas.microsoft.com/office/powerpoint/2010/main" val="2761745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b="0" i="0" u="none" strike="noStrike" dirty="0">
                <a:effectLst/>
                <a:latin typeface="+mj-lt"/>
                <a:ea typeface="+mj-ea"/>
                <a:cs typeface="+mj-cs"/>
                <a:sym typeface="Arial"/>
              </a:rPr>
              <a:t>We developed a three-step filtering pipeline to find the true genetic signal among the noise:</a:t>
            </a:r>
          </a:p>
          <a:p>
            <a:r>
              <a:rPr lang="en-US" sz="1400" b="0" i="0" u="none" strike="noStrike" dirty="0">
                <a:effectLst/>
                <a:latin typeface="+mj-lt"/>
                <a:ea typeface="+mj-ea"/>
                <a:cs typeface="+mj-cs"/>
                <a:sym typeface="Arial"/>
              </a:rPr>
              <a:t>Initial Screen: We scored all 550,000 SNPs using the Random Forest Importance metric.</a:t>
            </a:r>
          </a:p>
          <a:p>
            <a:r>
              <a:rPr lang="en-US" sz="1400" b="0" i="0" u="none" strike="noStrike" dirty="0">
                <a:effectLst/>
                <a:latin typeface="+mj-lt"/>
                <a:ea typeface="+mj-ea"/>
                <a:cs typeface="+mj-cs"/>
                <a:sym typeface="Arial"/>
              </a:rPr>
              <a:t>Ranking: We isolated the top 4,000 signals and re-ran the model to stabilize the rankings.</a:t>
            </a:r>
          </a:p>
          <a:p>
            <a:r>
              <a:rPr lang="en-US" sz="1400" b="0" i="0" u="none" strike="noStrike" dirty="0">
                <a:effectLst/>
                <a:latin typeface="+mj-lt"/>
                <a:ea typeface="+mj-ea"/>
                <a:cs typeface="+mj-cs"/>
                <a:sym typeface="Arial"/>
              </a:rPr>
              <a:t>Prediction: Finally, we built models using increasing subsets of these top SNPs (Top 10, 40, 160, etc.) combined with clinical traits to find the peak performance.</a:t>
            </a:r>
          </a:p>
          <a:p>
            <a:endParaRPr lang="en-US" dirty="0"/>
          </a:p>
        </p:txBody>
      </p:sp>
    </p:spTree>
    <p:extLst>
      <p:ext uri="{BB962C8B-B14F-4D97-AF65-F5344CB8AC3E}">
        <p14:creationId xmlns:p14="http://schemas.microsoft.com/office/powerpoint/2010/main" val="1523122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b="0" i="0" u="none" strike="noStrike" dirty="0">
                <a:effectLst/>
                <a:latin typeface="+mj-lt"/>
                <a:ea typeface="+mj-ea"/>
                <a:cs typeface="+mj-cs"/>
                <a:sym typeface="Arial"/>
              </a:rPr>
              <a:t>This is the result of that initial screening.</a:t>
            </a:r>
          </a:p>
          <a:p>
            <a:r>
              <a:rPr lang="en-US" sz="1400" b="0" i="0" u="none" strike="noStrike" dirty="0">
                <a:effectLst/>
                <a:latin typeface="+mj-lt"/>
                <a:ea typeface="+mj-ea"/>
                <a:cs typeface="+mj-cs"/>
                <a:sym typeface="Arial"/>
              </a:rPr>
              <a:t>This plot visualizes the Random Forest Importance Score across the entire genome. Unlike traditional p-value plots, the distinct "peaks" you see here represent the specific genetic locations that the algorithm identified as most critical for classifying a patient as an "Exacerbator."</a:t>
            </a:r>
          </a:p>
          <a:p>
            <a:r>
              <a:rPr lang="en-US" sz="1400" b="0" i="0" u="none" strike="noStrike" dirty="0">
                <a:effectLst/>
                <a:latin typeface="+mj-lt"/>
                <a:ea typeface="+mj-ea"/>
                <a:cs typeface="+mj-cs"/>
                <a:sym typeface="Arial"/>
              </a:rPr>
              <a:t>We successfully identified a clear signal distinguishing predictive markers from the genomic background noise.</a:t>
            </a:r>
          </a:p>
          <a:p>
            <a:endParaRPr lang="en-US" dirty="0"/>
          </a:p>
        </p:txBody>
      </p:sp>
    </p:spTree>
    <p:extLst>
      <p:ext uri="{BB962C8B-B14F-4D97-AF65-F5344CB8AC3E}">
        <p14:creationId xmlns:p14="http://schemas.microsoft.com/office/powerpoint/2010/main" val="33572959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b="0" i="0" u="none" strike="noStrike" dirty="0">
                <a:effectLst/>
                <a:latin typeface="+mj-lt"/>
                <a:ea typeface="+mj-ea"/>
                <a:cs typeface="+mj-cs"/>
                <a:sym typeface="Arial"/>
              </a:rPr>
              <a:t>Here is the key result.</a:t>
            </a:r>
          </a:p>
          <a:p>
            <a:r>
              <a:rPr lang="en-US" sz="1400" b="0" i="0" u="none" strike="noStrike" dirty="0">
                <a:effectLst/>
                <a:latin typeface="+mj-lt"/>
                <a:ea typeface="+mj-ea"/>
                <a:cs typeface="+mj-cs"/>
                <a:sym typeface="Arial"/>
              </a:rPr>
              <a:t>The gray bar shows the model using only clinical traits—it achieved an AUC of 0.54, which is barely better than random.</a:t>
            </a:r>
          </a:p>
          <a:p>
            <a:r>
              <a:rPr lang="en-US" sz="1400" b="0" i="0" u="none" strike="noStrike" dirty="0">
                <a:effectLst/>
                <a:latin typeface="+mj-lt"/>
                <a:ea typeface="+mj-ea"/>
                <a:cs typeface="+mj-cs"/>
                <a:sym typeface="Arial"/>
              </a:rPr>
              <a:t>However, as we added the top genetic markers (the blue and green bars), the accuracy climbed significantly. We reached a peak AUC of 0.66 using the Top 160 SNPs. This proves that the genetic signature provides predictive value that clinical history alone cannot capture.</a:t>
            </a:r>
          </a:p>
          <a:p>
            <a:endParaRPr lang="en-US" dirty="0"/>
          </a:p>
        </p:txBody>
      </p:sp>
    </p:spTree>
    <p:extLst>
      <p:ext uri="{BB962C8B-B14F-4D97-AF65-F5344CB8AC3E}">
        <p14:creationId xmlns:p14="http://schemas.microsoft.com/office/powerpoint/2010/main" val="4068444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b="0" i="0" u="none" strike="noStrike" dirty="0">
                <a:effectLst/>
                <a:latin typeface="+mj-lt"/>
                <a:ea typeface="+mj-ea"/>
                <a:cs typeface="+mj-cs"/>
                <a:sym typeface="Arial"/>
              </a:rPr>
              <a:t>In machine learning, validation is everything. We ensured our results were robust through:</a:t>
            </a:r>
          </a:p>
          <a:p>
            <a:r>
              <a:rPr lang="en-US" sz="1400" b="0" i="0" u="none" strike="noStrike" dirty="0">
                <a:effectLst/>
                <a:latin typeface="+mj-lt"/>
                <a:ea typeface="+mj-ea"/>
                <a:cs typeface="+mj-cs"/>
                <a:sym typeface="Arial"/>
              </a:rPr>
              <a:t>Permutation Testing: Proving our results were not due to chance.</a:t>
            </a:r>
          </a:p>
          <a:p>
            <a:r>
              <a:rPr lang="en-US" sz="1400" b="0" i="0" u="none" strike="noStrike" dirty="0">
                <a:effectLst/>
                <a:latin typeface="+mj-lt"/>
                <a:ea typeface="+mj-ea"/>
                <a:cs typeface="+mj-cs"/>
                <a:sym typeface="Arial"/>
              </a:rPr>
              <a:t>Independent Replication: Most importantly, we tested the model on a completely separate cohort of 164 subjects, and the AUC held steady at 0.66.</a:t>
            </a:r>
          </a:p>
          <a:p>
            <a:r>
              <a:rPr lang="en-US" sz="1400" b="0" i="0" u="none" strike="noStrike" dirty="0">
                <a:effectLst/>
                <a:latin typeface="+mj-lt"/>
                <a:ea typeface="+mj-ea"/>
                <a:cs typeface="+mj-cs"/>
                <a:sym typeface="Arial"/>
              </a:rPr>
              <a:t>This rigorous validation is why the work was recognized as a "Scientific Breakthrough of the Year" by the American Thoracic Society (ATS).</a:t>
            </a:r>
          </a:p>
          <a:p>
            <a:endParaRPr lang="en-US" dirty="0"/>
          </a:p>
        </p:txBody>
      </p:sp>
    </p:spTree>
    <p:extLst>
      <p:ext uri="{BB962C8B-B14F-4D97-AF65-F5344CB8AC3E}">
        <p14:creationId xmlns:p14="http://schemas.microsoft.com/office/powerpoint/2010/main" val="1867731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b="0" i="0" u="none" strike="noStrike" dirty="0">
                <a:effectLst/>
                <a:latin typeface="+mj-lt"/>
                <a:ea typeface="+mj-ea"/>
                <a:cs typeface="+mj-cs"/>
                <a:sym typeface="Arial"/>
              </a:rPr>
              <a:t>My research impact extends well beyond this study.</a:t>
            </a:r>
          </a:p>
          <a:p>
            <a:r>
              <a:rPr lang="en-US" sz="1400" b="0" i="0" u="none" strike="noStrike" dirty="0">
                <a:effectLst/>
                <a:latin typeface="+mj-lt"/>
                <a:ea typeface="+mj-ea"/>
                <a:cs typeface="+mj-cs"/>
                <a:sym typeface="Arial"/>
              </a:rPr>
              <a:t>I have published extensively in both Genome-Wide Association Studies (GWAS) and Next-Generation Sequencing (NGS). My work includes high-impact papers in journals like Science and Nature Cell Biology, covering topics ranging from Melanoma risk and Pancreatic cancer survival to the fundamental mechanisms of transcription.</a:t>
            </a:r>
          </a:p>
          <a:p>
            <a:endParaRPr lang="en-US" dirty="0"/>
          </a:p>
        </p:txBody>
      </p:sp>
    </p:spTree>
    <p:extLst>
      <p:ext uri="{BB962C8B-B14F-4D97-AF65-F5344CB8AC3E}">
        <p14:creationId xmlns:p14="http://schemas.microsoft.com/office/powerpoint/2010/main" val="22611183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b="0" i="0" u="none" strike="noStrike" dirty="0">
                <a:effectLst/>
                <a:latin typeface="+mj-lt"/>
                <a:ea typeface="+mj-ea"/>
                <a:cs typeface="+mj-cs"/>
                <a:sym typeface="Arial"/>
              </a:rPr>
              <a:t>I also bring strong industry and technical depth.</a:t>
            </a:r>
          </a:p>
          <a:p>
            <a:r>
              <a:rPr lang="en-US" sz="1400" b="0" i="0" u="none" strike="noStrike" dirty="0">
                <a:effectLst/>
                <a:latin typeface="+mj-lt"/>
                <a:ea typeface="+mj-ea"/>
                <a:cs typeface="+mj-cs"/>
                <a:sym typeface="Arial"/>
              </a:rPr>
              <a:t>Beyond Random Forests, I have deployed Natural Language Processing (NLP) models for NIH datasets and LSTM deep learning models for time-series prediction.</a:t>
            </a:r>
          </a:p>
          <a:p>
            <a:r>
              <a:rPr lang="en-US" sz="1400" b="0" i="0" u="none" strike="noStrike" dirty="0">
                <a:effectLst/>
                <a:latin typeface="+mj-lt"/>
                <a:ea typeface="+mj-ea"/>
                <a:cs typeface="+mj-cs"/>
                <a:sym typeface="Arial"/>
              </a:rPr>
              <a:t>As a founder of Vidagen and a lead at D2M and Booz Allen, I have a proven track record of translating these theoretical models into functional, large-scale genomic pipelines in the private sector.</a:t>
            </a:r>
          </a:p>
          <a:p>
            <a:endParaRPr lang="en-US" dirty="0"/>
          </a:p>
        </p:txBody>
      </p:sp>
    </p:spTree>
    <p:extLst>
      <p:ext uri="{BB962C8B-B14F-4D97-AF65-F5344CB8AC3E}">
        <p14:creationId xmlns:p14="http://schemas.microsoft.com/office/powerpoint/2010/main" val="773269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b="0" i="0" u="none" strike="noStrike" dirty="0">
                <a:effectLst/>
                <a:latin typeface="+mj-lt"/>
                <a:ea typeface="+mj-ea"/>
                <a:cs typeface="+mj-cs"/>
                <a:sym typeface="Arial"/>
              </a:rPr>
              <a:t>Moving forward, my vision for the BFE department is to establish a lab that bridges biology and data science.</a:t>
            </a:r>
          </a:p>
          <a:p>
            <a:r>
              <a:rPr lang="en-US" sz="1400" b="0" i="0" u="none" strike="noStrike" dirty="0">
                <a:effectLst/>
                <a:latin typeface="+mj-lt"/>
                <a:ea typeface="+mj-ea"/>
                <a:cs typeface="+mj-cs"/>
                <a:sym typeface="Arial"/>
              </a:rPr>
              <a:t>Curriculum: I will fill the skills gap by teaching practical Machine Learning and Bioinformatics to students.</a:t>
            </a:r>
          </a:p>
          <a:p>
            <a:r>
              <a:rPr lang="en-US" sz="1400" b="0" i="0" u="none" strike="noStrike" dirty="0">
                <a:effectLst/>
                <a:latin typeface="+mj-lt"/>
                <a:ea typeface="+mj-ea"/>
                <a:cs typeface="+mj-cs"/>
                <a:sym typeface="Arial"/>
              </a:rPr>
              <a:t>Research: We will apply explainable AI to complex food and biological data.</a:t>
            </a:r>
          </a:p>
          <a:p>
            <a:r>
              <a:rPr lang="en-US" sz="1400" b="0" i="0" u="none" strike="noStrike" dirty="0">
                <a:effectLst/>
                <a:latin typeface="+mj-lt"/>
                <a:ea typeface="+mj-ea"/>
                <a:cs typeface="+mj-cs"/>
                <a:sym typeface="Arial"/>
              </a:rPr>
              <a:t>Innovation: We will translate large-scale omics data into actionable engineering insights for industrial applications.</a:t>
            </a:r>
          </a:p>
          <a:p>
            <a:endParaRPr lang="en-US" dirty="0"/>
          </a:p>
        </p:txBody>
      </p:sp>
    </p:spTree>
    <p:extLst>
      <p:ext uri="{BB962C8B-B14F-4D97-AF65-F5344CB8AC3E}">
        <p14:creationId xmlns:p14="http://schemas.microsoft.com/office/powerpoint/2010/main" val="30428318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b="0" i="0" u="none" strike="noStrike" dirty="0">
                <a:effectLst/>
                <a:latin typeface="+mj-lt"/>
                <a:ea typeface="+mj-ea"/>
                <a:cs typeface="+mj-cs"/>
                <a:sym typeface="Arial"/>
              </a:rPr>
              <a:t>Thank you very much for your time.</a:t>
            </a:r>
          </a:p>
          <a:p>
            <a:r>
              <a:rPr lang="en-US" sz="1400" b="0" i="0" u="none" strike="noStrike" dirty="0">
                <a:effectLst/>
                <a:latin typeface="+mj-lt"/>
                <a:ea typeface="+mj-ea"/>
                <a:cs typeface="+mj-cs"/>
                <a:sym typeface="Arial"/>
              </a:rPr>
              <a:t>I would be delighted to discuss how my expertise can contribute to the future of the BFE Department. </a:t>
            </a:r>
            <a:r>
              <a:rPr lang="en-US" sz="1400" b="0" i="0" u="none" strike="noStrike">
                <a:effectLst/>
                <a:latin typeface="+mj-lt"/>
                <a:ea typeface="+mj-ea"/>
                <a:cs typeface="+mj-cs"/>
                <a:sym typeface="Arial"/>
              </a:rPr>
              <a:t>I welcome your questions.</a:t>
            </a:r>
          </a:p>
          <a:p>
            <a:endParaRPr lang="en-US"/>
          </a:p>
        </p:txBody>
      </p:sp>
    </p:spTree>
    <p:extLst>
      <p:ext uri="{BB962C8B-B14F-4D97-AF65-F5344CB8AC3E}">
        <p14:creationId xmlns:p14="http://schemas.microsoft.com/office/powerpoint/2010/main" val="2200561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xfrm>
            <a:off x="8428219" y="6414781"/>
            <a:ext cx="258582" cy="248263"/>
          </a:xfrm>
          <a:prstGeom prst="rect">
            <a:avLst/>
          </a:prstGeom>
        </p:spPr>
        <p:txBody>
          <a:bodyPr lIns="45699" tIns="45699" rIns="45699" bIns="45699"/>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p:spTree>
      <p:nvGrpSpPr>
        <p:cNvPr id="1" name=""/>
        <p:cNvGrpSpPr/>
        <p:nvPr/>
      </p:nvGrpSpPr>
      <p:grpSpPr>
        <a:xfrm>
          <a:off x="0" y="0"/>
          <a:ext cx="0" cy="0"/>
          <a:chOff x="0" y="0"/>
          <a:chExt cx="0" cy="0"/>
        </a:xfrm>
      </p:grpSpPr>
      <p:sp>
        <p:nvSpPr>
          <p:cNvPr id="18" name="Title Text"/>
          <p:cNvSpPr txBox="1">
            <a:spLocks noGrp="1"/>
          </p:cNvSpPr>
          <p:nvPr>
            <p:ph type="title"/>
          </p:nvPr>
        </p:nvSpPr>
        <p:spPr>
          <a:xfrm>
            <a:off x="685800" y="2130425"/>
            <a:ext cx="7772400" cy="1470025"/>
          </a:xfrm>
          <a:prstGeom prst="rect">
            <a:avLst/>
          </a:prstGeom>
        </p:spPr>
        <p:txBody>
          <a:bodyPr/>
          <a:lstStyle/>
          <a:p>
            <a:r>
              <a:t>Title Text</a:t>
            </a:r>
          </a:p>
        </p:txBody>
      </p:sp>
      <p:sp>
        <p:nvSpPr>
          <p:cNvPr id="19" name="Body Level One…"/>
          <p:cNvSpPr txBox="1">
            <a:spLocks noGrp="1"/>
          </p:cNvSpPr>
          <p:nvPr>
            <p:ph type="body" sz="quarter" idx="1"/>
          </p:nvPr>
        </p:nvSpPr>
        <p:spPr>
          <a:xfrm>
            <a:off x="1371600" y="3886200"/>
            <a:ext cx="6400800" cy="1752600"/>
          </a:xfrm>
          <a:prstGeom prst="rect">
            <a:avLst/>
          </a:prstGeom>
        </p:spPr>
        <p:txBody>
          <a:bodyPr/>
          <a:lstStyle>
            <a:lvl1pPr marL="406400" indent="-381000" algn="ctr">
              <a:buClrTx/>
              <a:buSzTx/>
              <a:buFontTx/>
              <a:buNone/>
              <a:defRPr>
                <a:solidFill>
                  <a:srgbClr val="888888"/>
                </a:solidFill>
              </a:defRPr>
            </a:lvl1pPr>
            <a:lvl2pPr marL="406400" indent="25400" algn="ctr">
              <a:buClrTx/>
              <a:buSzTx/>
              <a:buFontTx/>
              <a:buNone/>
              <a:defRPr>
                <a:solidFill>
                  <a:srgbClr val="888888"/>
                </a:solidFill>
              </a:defRPr>
            </a:lvl2pPr>
            <a:lvl3pPr marL="406400" indent="25400" algn="ctr">
              <a:buClrTx/>
              <a:buSzTx/>
              <a:buFontTx/>
              <a:buNone/>
              <a:defRPr>
                <a:solidFill>
                  <a:srgbClr val="888888"/>
                </a:solidFill>
              </a:defRPr>
            </a:lvl3pPr>
            <a:lvl4pPr marL="406400" indent="25400" algn="ctr">
              <a:buClrTx/>
              <a:buSzTx/>
              <a:buFontTx/>
              <a:buNone/>
              <a:defRPr>
                <a:solidFill>
                  <a:srgbClr val="888888"/>
                </a:solidFill>
              </a:defRPr>
            </a:lvl4pPr>
            <a:lvl5pPr marL="406400" indent="25400" algn="ctr">
              <a:buClrTx/>
              <a:buSzTx/>
              <a:buFontTx/>
              <a:buNone/>
              <a:defRPr>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20" name="Slide Number"/>
          <p:cNvSpPr txBox="1">
            <a:spLocks noGrp="1"/>
          </p:cNvSpPr>
          <p:nvPr>
            <p:ph type="sldNum" sz="quarter" idx="2"/>
          </p:nvPr>
        </p:nvSpPr>
        <p:spPr>
          <a:xfrm>
            <a:off x="8428219" y="6414781"/>
            <a:ext cx="258582" cy="248263"/>
          </a:xfrm>
          <a:prstGeom prst="rect">
            <a:avLst/>
          </a:prstGeom>
        </p:spPr>
        <p:txBody>
          <a:bodyPr lIns="45699" tIns="45699" rIns="45699" bIns="45699"/>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27"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28" name="Body Level One…"/>
          <p:cNvSpPr txBox="1">
            <a:spLocks noGrp="1"/>
          </p:cNvSpPr>
          <p:nvPr>
            <p:ph type="body" idx="1"/>
          </p:nvPr>
        </p:nvSpPr>
        <p:spPr>
          <a:xfrm>
            <a:off x="457200" y="1600200"/>
            <a:ext cx="8229600" cy="4525963"/>
          </a:xfrm>
          <a:prstGeom prst="rect">
            <a:avLst/>
          </a:prstGeom>
        </p:spPr>
        <p:txBody>
          <a:bodyPr/>
          <a:lstStyle>
            <a:lvl1pPr indent="-342900">
              <a:spcBef>
                <a:spcPts val="300"/>
              </a:spcBef>
            </a:lvl1pPr>
            <a:lvl2pPr marL="963384" indent="-391884">
              <a:spcBef>
                <a:spcPts val="300"/>
              </a:spcBef>
            </a:lvl2pPr>
            <a:lvl3pPr marL="1485900" indent="-457200">
              <a:spcBef>
                <a:spcPts val="300"/>
              </a:spcBef>
            </a:lvl3pPr>
            <a:lvl4pPr marL="2034538" indent="-548638">
              <a:spcBef>
                <a:spcPts val="300"/>
              </a:spcBef>
            </a:lvl4pPr>
            <a:lvl5pPr marL="2491738" indent="-548638">
              <a:spcBef>
                <a:spcPts val="300"/>
              </a:spcBef>
            </a:lvl5pPr>
          </a:lstStyle>
          <a:p>
            <a:r>
              <a:t>Body Level One</a:t>
            </a:r>
          </a:p>
          <a:p>
            <a:pPr lvl="1"/>
            <a:r>
              <a:t>Body Level Two</a:t>
            </a:r>
          </a:p>
          <a:p>
            <a:pPr lvl="2"/>
            <a:r>
              <a:t>Body Level Three</a:t>
            </a:r>
          </a:p>
          <a:p>
            <a:pPr lvl="3"/>
            <a:r>
              <a:t>Body Level Four</a:t>
            </a:r>
          </a:p>
          <a:p>
            <a:pPr lvl="4"/>
            <a:r>
              <a:t>Body Level Five</a:t>
            </a:r>
          </a:p>
        </p:txBody>
      </p:sp>
      <p:sp>
        <p:nvSpPr>
          <p:cNvPr id="29" name="Slide Number"/>
          <p:cNvSpPr txBox="1">
            <a:spLocks noGrp="1"/>
          </p:cNvSpPr>
          <p:nvPr>
            <p:ph type="sldNum" sz="quarter" idx="2"/>
          </p:nvPr>
        </p:nvSpPr>
        <p:spPr>
          <a:xfrm>
            <a:off x="8428219" y="6414781"/>
            <a:ext cx="258582" cy="248263"/>
          </a:xfrm>
          <a:prstGeom prst="rect">
            <a:avLst/>
          </a:prstGeom>
        </p:spPr>
        <p:txBody>
          <a:bodyPr lIns="45699" tIns="45699" rIns="45699" bIns="45699"/>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36" name="Title Text"/>
          <p:cNvSpPr txBox="1">
            <a:spLocks noGrp="1"/>
          </p:cNvSpPr>
          <p:nvPr>
            <p:ph type="title"/>
          </p:nvPr>
        </p:nvSpPr>
        <p:spPr>
          <a:xfrm>
            <a:off x="722312" y="4406900"/>
            <a:ext cx="7772401" cy="1362075"/>
          </a:xfrm>
          <a:prstGeom prst="rect">
            <a:avLst/>
          </a:prstGeom>
        </p:spPr>
        <p:txBody>
          <a:bodyPr anchor="t"/>
          <a:lstStyle>
            <a:lvl1pPr algn="l">
              <a:defRPr sz="4000" b="1"/>
            </a:lvl1pPr>
          </a:lstStyle>
          <a:p>
            <a:r>
              <a:t>Title Text</a:t>
            </a:r>
          </a:p>
        </p:txBody>
      </p:sp>
      <p:sp>
        <p:nvSpPr>
          <p:cNvPr id="37" name="Body Level One…"/>
          <p:cNvSpPr txBox="1">
            <a:spLocks noGrp="1"/>
          </p:cNvSpPr>
          <p:nvPr>
            <p:ph type="body" sz="quarter" idx="1"/>
          </p:nvPr>
        </p:nvSpPr>
        <p:spPr>
          <a:xfrm>
            <a:off x="722312" y="2906713"/>
            <a:ext cx="7772401" cy="1500189"/>
          </a:xfrm>
          <a:prstGeom prst="rect">
            <a:avLst/>
          </a:prstGeom>
        </p:spPr>
        <p:txBody>
          <a:bodyPr anchor="b"/>
          <a:lstStyle>
            <a:lvl1pPr marL="0" indent="228600">
              <a:spcBef>
                <a:spcPts val="400"/>
              </a:spcBef>
              <a:buClrTx/>
              <a:buSzTx/>
              <a:buFontTx/>
              <a:buNone/>
              <a:defRPr sz="2000">
                <a:solidFill>
                  <a:srgbClr val="888888"/>
                </a:solidFill>
              </a:defRPr>
            </a:lvl1pPr>
            <a:lvl2pPr marL="0" indent="228600">
              <a:spcBef>
                <a:spcPts val="400"/>
              </a:spcBef>
              <a:buClrTx/>
              <a:buSzTx/>
              <a:buFontTx/>
              <a:buNone/>
              <a:defRPr sz="2000">
                <a:solidFill>
                  <a:srgbClr val="888888"/>
                </a:solidFill>
              </a:defRPr>
            </a:lvl2pPr>
            <a:lvl3pPr marL="0" indent="228600">
              <a:spcBef>
                <a:spcPts val="400"/>
              </a:spcBef>
              <a:buClrTx/>
              <a:buSzTx/>
              <a:buFontTx/>
              <a:buNone/>
              <a:defRPr sz="2000">
                <a:solidFill>
                  <a:srgbClr val="888888"/>
                </a:solidFill>
              </a:defRPr>
            </a:lvl3pPr>
            <a:lvl4pPr marL="0" indent="228600">
              <a:spcBef>
                <a:spcPts val="400"/>
              </a:spcBef>
              <a:buClrTx/>
              <a:buSzTx/>
              <a:buFontTx/>
              <a:buNone/>
              <a:defRPr sz="2000">
                <a:solidFill>
                  <a:srgbClr val="888888"/>
                </a:solidFill>
              </a:defRPr>
            </a:lvl4pPr>
            <a:lvl5pPr marL="0" indent="228600">
              <a:spcBef>
                <a:spcPts val="400"/>
              </a:spcBef>
              <a:buClrTx/>
              <a:buSzTx/>
              <a:buFontTx/>
              <a:buNone/>
              <a:defRPr sz="20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8" name="Slide Number"/>
          <p:cNvSpPr txBox="1">
            <a:spLocks noGrp="1"/>
          </p:cNvSpPr>
          <p:nvPr>
            <p:ph type="sldNum" sz="quarter" idx="2"/>
          </p:nvPr>
        </p:nvSpPr>
        <p:spPr>
          <a:xfrm>
            <a:off x="8428219" y="6414781"/>
            <a:ext cx="258582" cy="248263"/>
          </a:xfrm>
          <a:prstGeom prst="rect">
            <a:avLst/>
          </a:prstGeom>
        </p:spPr>
        <p:txBody>
          <a:bodyPr lIns="45699" tIns="45699" rIns="45699" bIns="45699"/>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WO_OBJECTS">
    <p:spTree>
      <p:nvGrpSpPr>
        <p:cNvPr id="1" name=""/>
        <p:cNvGrpSpPr/>
        <p:nvPr/>
      </p:nvGrpSpPr>
      <p:grpSpPr>
        <a:xfrm>
          <a:off x="0" y="0"/>
          <a:ext cx="0" cy="0"/>
          <a:chOff x="0" y="0"/>
          <a:chExt cx="0" cy="0"/>
        </a:xfrm>
      </p:grpSpPr>
      <p:sp>
        <p:nvSpPr>
          <p:cNvPr id="4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46" name="Body Level One…"/>
          <p:cNvSpPr txBox="1">
            <a:spLocks noGrp="1"/>
          </p:cNvSpPr>
          <p:nvPr>
            <p:ph type="body" sz="half" idx="1"/>
          </p:nvPr>
        </p:nvSpPr>
        <p:spPr>
          <a:xfrm>
            <a:off x="457200" y="1600200"/>
            <a:ext cx="4038600" cy="4525963"/>
          </a:xfrm>
          <a:prstGeom prst="rect">
            <a:avLst/>
          </a:prstGeom>
        </p:spPr>
        <p:txBody>
          <a:bodyPr/>
          <a:lstStyle>
            <a:lvl1pPr indent="-406400">
              <a:spcBef>
                <a:spcPts val="500"/>
              </a:spcBef>
              <a:buSzPts val="2800"/>
              <a:defRPr sz="2800"/>
            </a:lvl1pPr>
            <a:lvl2pPr marL="977900" indent="-444500">
              <a:spcBef>
                <a:spcPts val="500"/>
              </a:spcBef>
              <a:buSzPts val="2800"/>
              <a:defRPr sz="2800"/>
            </a:lvl2pPr>
            <a:lvl3pPr marL="1513838" indent="-497838">
              <a:spcBef>
                <a:spcPts val="500"/>
              </a:spcBef>
              <a:buSzPts val="2800"/>
              <a:defRPr sz="2800"/>
            </a:lvl3pPr>
            <a:lvl4pPr marL="2019300" indent="-533400">
              <a:spcBef>
                <a:spcPts val="500"/>
              </a:spcBef>
              <a:buSzPts val="2800"/>
              <a:defRPr sz="2800"/>
            </a:lvl4pPr>
            <a:lvl5pPr marL="2476500" indent="-533400">
              <a:spcBef>
                <a:spcPts val="500"/>
              </a:spcBef>
              <a:buSzPts val="2800"/>
              <a:defRPr sz="2800"/>
            </a:lvl5pPr>
          </a:lstStyle>
          <a:p>
            <a:r>
              <a:t>Body Level One</a:t>
            </a:r>
          </a:p>
          <a:p>
            <a:pPr lvl="1"/>
            <a:r>
              <a:t>Body Level Two</a:t>
            </a:r>
          </a:p>
          <a:p>
            <a:pPr lvl="2"/>
            <a:r>
              <a:t>Body Level Three</a:t>
            </a:r>
          </a:p>
          <a:p>
            <a:pPr lvl="3"/>
            <a:r>
              <a:t>Body Level Four</a:t>
            </a:r>
          </a:p>
          <a:p>
            <a:pPr lvl="4"/>
            <a:r>
              <a:t>Body Level Five</a:t>
            </a:r>
          </a:p>
        </p:txBody>
      </p:sp>
      <p:sp>
        <p:nvSpPr>
          <p:cNvPr id="47" name="Google Shape;36;p6"/>
          <p:cNvSpPr txBox="1">
            <a:spLocks noGrp="1"/>
          </p:cNvSpPr>
          <p:nvPr>
            <p:ph type="body" sz="half" idx="21"/>
          </p:nvPr>
        </p:nvSpPr>
        <p:spPr>
          <a:xfrm>
            <a:off x="4648200" y="1600200"/>
            <a:ext cx="4038600" cy="4525963"/>
          </a:xfrm>
          <a:prstGeom prst="rect">
            <a:avLst/>
          </a:prstGeom>
        </p:spPr>
        <p:txBody>
          <a:bodyPr/>
          <a:lstStyle/>
          <a:p>
            <a:endParaRPr/>
          </a:p>
        </p:txBody>
      </p:sp>
      <p:sp>
        <p:nvSpPr>
          <p:cNvPr id="48" name="Slide Number"/>
          <p:cNvSpPr txBox="1">
            <a:spLocks noGrp="1"/>
          </p:cNvSpPr>
          <p:nvPr>
            <p:ph type="sldNum" sz="quarter" idx="2"/>
          </p:nvPr>
        </p:nvSpPr>
        <p:spPr>
          <a:xfrm>
            <a:off x="8428219" y="6414781"/>
            <a:ext cx="258582" cy="248263"/>
          </a:xfrm>
          <a:prstGeom prst="rect">
            <a:avLst/>
          </a:prstGeom>
        </p:spPr>
        <p:txBody>
          <a:bodyPr lIns="45699" tIns="45699" rIns="45699" bIns="45699"/>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WO_OBJECTS_WITH_TEXT">
    <p:spTree>
      <p:nvGrpSpPr>
        <p:cNvPr id="1" name=""/>
        <p:cNvGrpSpPr/>
        <p:nvPr/>
      </p:nvGrpSpPr>
      <p:grpSpPr>
        <a:xfrm>
          <a:off x="0" y="0"/>
          <a:ext cx="0" cy="0"/>
          <a:chOff x="0" y="0"/>
          <a:chExt cx="0" cy="0"/>
        </a:xfrm>
      </p:grpSpPr>
      <p:sp>
        <p:nvSpPr>
          <p:cNvPr id="5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56" name="Body Level One…"/>
          <p:cNvSpPr txBox="1">
            <a:spLocks noGrp="1"/>
          </p:cNvSpPr>
          <p:nvPr>
            <p:ph type="body" sz="quarter" idx="1"/>
          </p:nvPr>
        </p:nvSpPr>
        <p:spPr>
          <a:xfrm>
            <a:off x="457200" y="1535112"/>
            <a:ext cx="4040188" cy="639763"/>
          </a:xfrm>
          <a:prstGeom prst="rect">
            <a:avLst/>
          </a:prstGeom>
        </p:spPr>
        <p:txBody>
          <a:bodyPr anchor="b"/>
          <a:lstStyle>
            <a:lvl1pPr marL="0" indent="228600">
              <a:spcBef>
                <a:spcPts val="400"/>
              </a:spcBef>
              <a:buClrTx/>
              <a:buSzTx/>
              <a:buFontTx/>
              <a:buNone/>
              <a:defRPr sz="2400" b="1"/>
            </a:lvl1pPr>
            <a:lvl2pPr marL="0" indent="228600">
              <a:spcBef>
                <a:spcPts val="400"/>
              </a:spcBef>
              <a:buClrTx/>
              <a:buSzTx/>
              <a:buFontTx/>
              <a:buNone/>
              <a:defRPr sz="2400" b="1"/>
            </a:lvl2pPr>
            <a:lvl3pPr marL="0" indent="228600">
              <a:spcBef>
                <a:spcPts val="400"/>
              </a:spcBef>
              <a:buClrTx/>
              <a:buSzTx/>
              <a:buFontTx/>
              <a:buNone/>
              <a:defRPr sz="2400" b="1"/>
            </a:lvl3pPr>
            <a:lvl4pPr marL="0" indent="228600">
              <a:spcBef>
                <a:spcPts val="400"/>
              </a:spcBef>
              <a:buClrTx/>
              <a:buSzTx/>
              <a:buFontTx/>
              <a:buNone/>
              <a:defRPr sz="2400" b="1"/>
            </a:lvl4pPr>
            <a:lvl5pPr marL="0" indent="228600">
              <a:spcBef>
                <a:spcPts val="400"/>
              </a:spcBef>
              <a:buClrTx/>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7" name="Google Shape;43;p7"/>
          <p:cNvSpPr txBox="1">
            <a:spLocks noGrp="1"/>
          </p:cNvSpPr>
          <p:nvPr>
            <p:ph type="body" sz="quarter" idx="21"/>
          </p:nvPr>
        </p:nvSpPr>
        <p:spPr>
          <a:xfrm>
            <a:off x="457200" y="2174875"/>
            <a:ext cx="4040188" cy="3951288"/>
          </a:xfrm>
          <a:prstGeom prst="rect">
            <a:avLst/>
          </a:prstGeom>
        </p:spPr>
        <p:txBody>
          <a:bodyPr/>
          <a:lstStyle/>
          <a:p>
            <a:endParaRPr/>
          </a:p>
        </p:txBody>
      </p:sp>
      <p:sp>
        <p:nvSpPr>
          <p:cNvPr id="58" name="Google Shape;44;p7"/>
          <p:cNvSpPr txBox="1">
            <a:spLocks noGrp="1"/>
          </p:cNvSpPr>
          <p:nvPr>
            <p:ph type="body" sz="quarter" idx="22"/>
          </p:nvPr>
        </p:nvSpPr>
        <p:spPr>
          <a:xfrm>
            <a:off x="4645025" y="1535112"/>
            <a:ext cx="4041775" cy="639764"/>
          </a:xfrm>
          <a:prstGeom prst="rect">
            <a:avLst/>
          </a:prstGeom>
        </p:spPr>
        <p:txBody>
          <a:bodyPr anchor="b"/>
          <a:lstStyle/>
          <a:p>
            <a:endParaRPr/>
          </a:p>
        </p:txBody>
      </p:sp>
      <p:sp>
        <p:nvSpPr>
          <p:cNvPr id="59" name="Google Shape;45;p7"/>
          <p:cNvSpPr txBox="1">
            <a:spLocks noGrp="1"/>
          </p:cNvSpPr>
          <p:nvPr>
            <p:ph type="body" sz="quarter" idx="23"/>
          </p:nvPr>
        </p:nvSpPr>
        <p:spPr>
          <a:xfrm>
            <a:off x="4645025" y="2174875"/>
            <a:ext cx="4041775" cy="3951288"/>
          </a:xfrm>
          <a:prstGeom prst="rect">
            <a:avLst/>
          </a:prstGeom>
        </p:spPr>
        <p:txBody>
          <a:bodyPr/>
          <a:lstStyle/>
          <a:p>
            <a:endParaRPr/>
          </a:p>
        </p:txBody>
      </p:sp>
      <p:sp>
        <p:nvSpPr>
          <p:cNvPr id="60" name="Slide Number"/>
          <p:cNvSpPr txBox="1">
            <a:spLocks noGrp="1"/>
          </p:cNvSpPr>
          <p:nvPr>
            <p:ph type="sldNum" sz="quarter" idx="2"/>
          </p:nvPr>
        </p:nvSpPr>
        <p:spPr>
          <a:xfrm>
            <a:off x="8428219" y="6414781"/>
            <a:ext cx="258582" cy="248263"/>
          </a:xfrm>
          <a:prstGeom prst="rect">
            <a:avLst/>
          </a:prstGeom>
        </p:spPr>
        <p:txBody>
          <a:bodyPr lIns="45699" tIns="45699" rIns="45699" bIns="45699"/>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67"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68" name="Slide Number"/>
          <p:cNvSpPr txBox="1">
            <a:spLocks noGrp="1"/>
          </p:cNvSpPr>
          <p:nvPr>
            <p:ph type="sldNum" sz="quarter" idx="2"/>
          </p:nvPr>
        </p:nvSpPr>
        <p:spPr>
          <a:xfrm>
            <a:off x="8428219" y="6414781"/>
            <a:ext cx="258582" cy="248263"/>
          </a:xfrm>
          <a:prstGeom prst="rect">
            <a:avLst/>
          </a:prstGeom>
        </p:spPr>
        <p:txBody>
          <a:bodyPr lIns="45699" tIns="45699" rIns="45699" bIns="45699"/>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OBJECT_WITH_CAPTION_TEXT">
    <p:spTree>
      <p:nvGrpSpPr>
        <p:cNvPr id="1" name=""/>
        <p:cNvGrpSpPr/>
        <p:nvPr/>
      </p:nvGrpSpPr>
      <p:grpSpPr>
        <a:xfrm>
          <a:off x="0" y="0"/>
          <a:ext cx="0" cy="0"/>
          <a:chOff x="0" y="0"/>
          <a:chExt cx="0" cy="0"/>
        </a:xfrm>
      </p:grpSpPr>
      <p:sp>
        <p:nvSpPr>
          <p:cNvPr id="75" name="Title Text"/>
          <p:cNvSpPr txBox="1">
            <a:spLocks noGrp="1"/>
          </p:cNvSpPr>
          <p:nvPr>
            <p:ph type="title"/>
          </p:nvPr>
        </p:nvSpPr>
        <p:spPr>
          <a:xfrm>
            <a:off x="457200" y="273050"/>
            <a:ext cx="3008315" cy="1162050"/>
          </a:xfrm>
          <a:prstGeom prst="rect">
            <a:avLst/>
          </a:prstGeom>
        </p:spPr>
        <p:txBody>
          <a:bodyPr anchor="b"/>
          <a:lstStyle>
            <a:lvl1pPr algn="l">
              <a:defRPr sz="2000" b="1"/>
            </a:lvl1pPr>
          </a:lstStyle>
          <a:p>
            <a:r>
              <a:t>Title Text</a:t>
            </a:r>
          </a:p>
        </p:txBody>
      </p:sp>
      <p:sp>
        <p:nvSpPr>
          <p:cNvPr id="76" name="Body Level One…"/>
          <p:cNvSpPr txBox="1">
            <a:spLocks noGrp="1"/>
          </p:cNvSpPr>
          <p:nvPr>
            <p:ph type="body" sz="half" idx="1"/>
          </p:nvPr>
        </p:nvSpPr>
        <p:spPr>
          <a:xfrm>
            <a:off x="3575050" y="273050"/>
            <a:ext cx="5111750" cy="585311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7" name="Google Shape;57;p9"/>
          <p:cNvSpPr txBox="1">
            <a:spLocks noGrp="1"/>
          </p:cNvSpPr>
          <p:nvPr>
            <p:ph type="body" sz="quarter" idx="21"/>
          </p:nvPr>
        </p:nvSpPr>
        <p:spPr>
          <a:xfrm>
            <a:off x="457198" y="1435100"/>
            <a:ext cx="3008317" cy="4691063"/>
          </a:xfrm>
          <a:prstGeom prst="rect">
            <a:avLst/>
          </a:prstGeom>
        </p:spPr>
        <p:txBody>
          <a:bodyPr/>
          <a:lstStyle/>
          <a:p>
            <a:endParaRPr/>
          </a:p>
        </p:txBody>
      </p:sp>
      <p:sp>
        <p:nvSpPr>
          <p:cNvPr id="78" name="Slide Number"/>
          <p:cNvSpPr txBox="1">
            <a:spLocks noGrp="1"/>
          </p:cNvSpPr>
          <p:nvPr>
            <p:ph type="sldNum" sz="quarter" idx="2"/>
          </p:nvPr>
        </p:nvSpPr>
        <p:spPr>
          <a:xfrm>
            <a:off x="8428219" y="6414781"/>
            <a:ext cx="258582" cy="248263"/>
          </a:xfrm>
          <a:prstGeom prst="rect">
            <a:avLst/>
          </a:prstGeom>
        </p:spPr>
        <p:txBody>
          <a:bodyPr lIns="45699" tIns="45699" rIns="45699" bIns="45699"/>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_WITH_CAPTION_TEXT">
    <p:spTree>
      <p:nvGrpSpPr>
        <p:cNvPr id="1" name=""/>
        <p:cNvGrpSpPr/>
        <p:nvPr/>
      </p:nvGrpSpPr>
      <p:grpSpPr>
        <a:xfrm>
          <a:off x="0" y="0"/>
          <a:ext cx="0" cy="0"/>
          <a:chOff x="0" y="0"/>
          <a:chExt cx="0" cy="0"/>
        </a:xfrm>
      </p:grpSpPr>
      <p:sp>
        <p:nvSpPr>
          <p:cNvPr id="85" name="Title Text"/>
          <p:cNvSpPr txBox="1">
            <a:spLocks noGrp="1"/>
          </p:cNvSpPr>
          <p:nvPr>
            <p:ph type="title"/>
          </p:nvPr>
        </p:nvSpPr>
        <p:spPr>
          <a:xfrm>
            <a:off x="1792288" y="4800600"/>
            <a:ext cx="5486402" cy="566738"/>
          </a:xfrm>
          <a:prstGeom prst="rect">
            <a:avLst/>
          </a:prstGeom>
        </p:spPr>
        <p:txBody>
          <a:bodyPr anchor="b"/>
          <a:lstStyle>
            <a:lvl1pPr algn="l">
              <a:defRPr sz="2000" b="1"/>
            </a:lvl1pPr>
          </a:lstStyle>
          <a:p>
            <a:r>
              <a:t>Title Text</a:t>
            </a:r>
          </a:p>
        </p:txBody>
      </p:sp>
      <p:sp>
        <p:nvSpPr>
          <p:cNvPr id="86" name="Google Shape;63;p10"/>
          <p:cNvSpPr>
            <a:spLocks noGrp="1"/>
          </p:cNvSpPr>
          <p:nvPr>
            <p:ph type="pic" sz="half" idx="21"/>
          </p:nvPr>
        </p:nvSpPr>
        <p:spPr>
          <a:xfrm>
            <a:off x="1792288" y="612775"/>
            <a:ext cx="5486402" cy="4114800"/>
          </a:xfrm>
          <a:prstGeom prst="rect">
            <a:avLst/>
          </a:prstGeom>
        </p:spPr>
        <p:txBody>
          <a:bodyPr lIns="91439" tIns="45719" rIns="91439" bIns="45719">
            <a:noAutofit/>
          </a:bodyPr>
          <a:lstStyle/>
          <a:p>
            <a:endParaRPr/>
          </a:p>
        </p:txBody>
      </p:sp>
      <p:sp>
        <p:nvSpPr>
          <p:cNvPr id="87" name="Body Level One…"/>
          <p:cNvSpPr txBox="1">
            <a:spLocks noGrp="1"/>
          </p:cNvSpPr>
          <p:nvPr>
            <p:ph type="body" sz="quarter" idx="1"/>
          </p:nvPr>
        </p:nvSpPr>
        <p:spPr>
          <a:xfrm>
            <a:off x="1792288" y="5367337"/>
            <a:ext cx="5486402" cy="804864"/>
          </a:xfrm>
          <a:prstGeom prst="rect">
            <a:avLst/>
          </a:prstGeom>
        </p:spPr>
        <p:txBody>
          <a:bodyPr/>
          <a:lstStyle>
            <a:lvl1pPr marL="0" indent="228600">
              <a:spcBef>
                <a:spcPts val="200"/>
              </a:spcBef>
              <a:buClrTx/>
              <a:buSzTx/>
              <a:buFontTx/>
              <a:buNone/>
              <a:defRPr sz="1400"/>
            </a:lvl1pPr>
            <a:lvl2pPr marL="0" indent="228600">
              <a:spcBef>
                <a:spcPts val="200"/>
              </a:spcBef>
              <a:buClrTx/>
              <a:buSzTx/>
              <a:buFontTx/>
              <a:buNone/>
              <a:defRPr sz="1400"/>
            </a:lvl2pPr>
            <a:lvl3pPr marL="0" indent="228600">
              <a:spcBef>
                <a:spcPts val="200"/>
              </a:spcBef>
              <a:buClrTx/>
              <a:buSzTx/>
              <a:buFontTx/>
              <a:buNone/>
              <a:defRPr sz="1400"/>
            </a:lvl3pPr>
            <a:lvl4pPr marL="0" indent="228600">
              <a:spcBef>
                <a:spcPts val="200"/>
              </a:spcBef>
              <a:buClrTx/>
              <a:buSzTx/>
              <a:buFontTx/>
              <a:buNone/>
              <a:defRPr sz="1400"/>
            </a:lvl4pPr>
            <a:lvl5pPr marL="0" indent="228600">
              <a:spcBef>
                <a:spcPts val="200"/>
              </a:spcBef>
              <a:buClrTx/>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88" name="Slide Number"/>
          <p:cNvSpPr txBox="1">
            <a:spLocks noGrp="1"/>
          </p:cNvSpPr>
          <p:nvPr>
            <p:ph type="sldNum" sz="quarter" idx="2"/>
          </p:nvPr>
        </p:nvSpPr>
        <p:spPr>
          <a:xfrm>
            <a:off x="8428219" y="6414781"/>
            <a:ext cx="258582" cy="248263"/>
          </a:xfrm>
          <a:prstGeom prst="rect">
            <a:avLst/>
          </a:prstGeom>
        </p:spPr>
        <p:txBody>
          <a:bodyPr lIns="45699" tIns="45699" rIns="45699" bIns="45699"/>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VERTICAL_TEXT">
    <p:spTree>
      <p:nvGrpSpPr>
        <p:cNvPr id="1" name=""/>
        <p:cNvGrpSpPr/>
        <p:nvPr/>
      </p:nvGrpSpPr>
      <p:grpSpPr>
        <a:xfrm>
          <a:off x="0" y="0"/>
          <a:ext cx="0" cy="0"/>
          <a:chOff x="0" y="0"/>
          <a:chExt cx="0" cy="0"/>
        </a:xfrm>
      </p:grpSpPr>
      <p:sp>
        <p:nvSpPr>
          <p:cNvPr id="9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96" name="Body Level One…"/>
          <p:cNvSpPr txBox="1">
            <a:spLocks noGrp="1"/>
          </p:cNvSpPr>
          <p:nvPr>
            <p:ph type="body" idx="1"/>
          </p:nvPr>
        </p:nvSpPr>
        <p:spPr>
          <a:xfrm rot="5400000">
            <a:off x="2309017" y="-251618"/>
            <a:ext cx="4525966" cy="8229601"/>
          </a:xfrm>
          <a:prstGeom prst="rect">
            <a:avLst/>
          </a:prstGeom>
        </p:spPr>
        <p:txBody>
          <a:bodyPr/>
          <a:lstStyle>
            <a:lvl1pPr indent="-342900">
              <a:spcBef>
                <a:spcPts val="300"/>
              </a:spcBef>
            </a:lvl1pPr>
            <a:lvl2pPr marL="963384" indent="-391884">
              <a:spcBef>
                <a:spcPts val="300"/>
              </a:spcBef>
            </a:lvl2pPr>
            <a:lvl3pPr marL="1485900" indent="-457200">
              <a:spcBef>
                <a:spcPts val="300"/>
              </a:spcBef>
            </a:lvl3pPr>
            <a:lvl4pPr marL="2034538" indent="-548638">
              <a:spcBef>
                <a:spcPts val="300"/>
              </a:spcBef>
            </a:lvl4pPr>
            <a:lvl5pPr marL="2491738" indent="-548638">
              <a:spcBef>
                <a:spcPts val="300"/>
              </a:spcBef>
            </a:lvl5pPr>
          </a:lstStyle>
          <a:p>
            <a:r>
              <a:t>Body Level One</a:t>
            </a:r>
          </a:p>
          <a:p>
            <a:pPr lvl="1"/>
            <a:r>
              <a:t>Body Level Two</a:t>
            </a:r>
          </a:p>
          <a:p>
            <a:pPr lvl="2"/>
            <a:r>
              <a:t>Body Level Three</a:t>
            </a:r>
          </a:p>
          <a:p>
            <a:pPr lvl="3"/>
            <a:r>
              <a:t>Body Level Four</a:t>
            </a:r>
          </a:p>
          <a:p>
            <a:pPr lvl="4"/>
            <a:r>
              <a:t>Body Level Five</a:t>
            </a:r>
          </a:p>
        </p:txBody>
      </p:sp>
      <p:sp>
        <p:nvSpPr>
          <p:cNvPr id="97" name="Slide Number"/>
          <p:cNvSpPr txBox="1">
            <a:spLocks noGrp="1"/>
          </p:cNvSpPr>
          <p:nvPr>
            <p:ph type="sldNum" sz="quarter" idx="2"/>
          </p:nvPr>
        </p:nvSpPr>
        <p:spPr>
          <a:xfrm>
            <a:off x="8428219" y="6414781"/>
            <a:ext cx="258582" cy="248263"/>
          </a:xfrm>
          <a:prstGeom prst="rect">
            <a:avLst/>
          </a:prstGeom>
        </p:spPr>
        <p:txBody>
          <a:bodyPr lIns="45699" tIns="45699" rIns="45699" bIns="45699"/>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VERTICAL_TITLE_AND_VERTICAL_TEXT">
    <p:spTree>
      <p:nvGrpSpPr>
        <p:cNvPr id="1" name=""/>
        <p:cNvGrpSpPr/>
        <p:nvPr/>
      </p:nvGrpSpPr>
      <p:grpSpPr>
        <a:xfrm>
          <a:off x="0" y="0"/>
          <a:ext cx="0" cy="0"/>
          <a:chOff x="0" y="0"/>
          <a:chExt cx="0" cy="0"/>
        </a:xfrm>
      </p:grpSpPr>
      <p:sp>
        <p:nvSpPr>
          <p:cNvPr id="104" name="Title Text"/>
          <p:cNvSpPr txBox="1">
            <a:spLocks noGrp="1"/>
          </p:cNvSpPr>
          <p:nvPr>
            <p:ph type="title"/>
          </p:nvPr>
        </p:nvSpPr>
        <p:spPr>
          <a:xfrm rot="5400000">
            <a:off x="4732337" y="2171700"/>
            <a:ext cx="5851527" cy="2057401"/>
          </a:xfrm>
          <a:prstGeom prst="rect">
            <a:avLst/>
          </a:prstGeom>
        </p:spPr>
        <p:txBody>
          <a:bodyPr/>
          <a:lstStyle/>
          <a:p>
            <a:r>
              <a:t>Title Text</a:t>
            </a:r>
          </a:p>
        </p:txBody>
      </p:sp>
      <p:sp>
        <p:nvSpPr>
          <p:cNvPr id="105" name="Body Level One…"/>
          <p:cNvSpPr txBox="1">
            <a:spLocks noGrp="1"/>
          </p:cNvSpPr>
          <p:nvPr>
            <p:ph type="body" idx="1"/>
          </p:nvPr>
        </p:nvSpPr>
        <p:spPr>
          <a:xfrm rot="5400000">
            <a:off x="541337" y="190500"/>
            <a:ext cx="5851527" cy="6019800"/>
          </a:xfrm>
          <a:prstGeom prst="rect">
            <a:avLst/>
          </a:prstGeom>
        </p:spPr>
        <p:txBody>
          <a:bodyPr/>
          <a:lstStyle>
            <a:lvl1pPr indent="-342900">
              <a:spcBef>
                <a:spcPts val="300"/>
              </a:spcBef>
            </a:lvl1pPr>
            <a:lvl2pPr marL="963384" indent="-391884">
              <a:spcBef>
                <a:spcPts val="300"/>
              </a:spcBef>
            </a:lvl2pPr>
            <a:lvl3pPr marL="1485900" indent="-457200">
              <a:spcBef>
                <a:spcPts val="300"/>
              </a:spcBef>
            </a:lvl3pPr>
            <a:lvl4pPr marL="2034538" indent="-548638">
              <a:spcBef>
                <a:spcPts val="300"/>
              </a:spcBef>
            </a:lvl4pPr>
            <a:lvl5pPr marL="2491738" indent="-548638">
              <a:spcBef>
                <a:spcPts val="300"/>
              </a:spcBef>
            </a:lvl5pPr>
          </a:lstStyle>
          <a:p>
            <a:r>
              <a:t>Body Level One</a:t>
            </a:r>
          </a:p>
          <a:p>
            <a:pPr lvl="1"/>
            <a:r>
              <a:t>Body Level Two</a:t>
            </a:r>
          </a:p>
          <a:p>
            <a:pPr lvl="2"/>
            <a:r>
              <a:t>Body Level Three</a:t>
            </a:r>
          </a:p>
          <a:p>
            <a:pPr lvl="3"/>
            <a:r>
              <a:t>Body Level Four</a:t>
            </a:r>
          </a:p>
          <a:p>
            <a:pPr lvl="4"/>
            <a:r>
              <a:t>Body Level Five</a:t>
            </a:r>
          </a:p>
        </p:txBody>
      </p:sp>
      <p:sp>
        <p:nvSpPr>
          <p:cNvPr id="106" name="Slide Number"/>
          <p:cNvSpPr txBox="1">
            <a:spLocks noGrp="1"/>
          </p:cNvSpPr>
          <p:nvPr>
            <p:ph type="sldNum" sz="quarter" idx="2"/>
          </p:nvPr>
        </p:nvSpPr>
        <p:spPr>
          <a:xfrm>
            <a:off x="8428219" y="6414781"/>
            <a:ext cx="258582" cy="248263"/>
          </a:xfrm>
          <a:prstGeom prst="rect">
            <a:avLst/>
          </a:prstGeom>
        </p:spPr>
        <p:txBody>
          <a:bodyPr lIns="45699" tIns="45699" rIns="45699" bIns="45699"/>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1_Blank">
    <p:spTree>
      <p:nvGrpSpPr>
        <p:cNvPr id="1" name=""/>
        <p:cNvGrpSpPr/>
        <p:nvPr/>
      </p:nvGrpSpPr>
      <p:grpSpPr>
        <a:xfrm>
          <a:off x="0" y="0"/>
          <a:ext cx="0" cy="0"/>
          <a:chOff x="0" y="0"/>
          <a:chExt cx="0" cy="0"/>
        </a:xfrm>
      </p:grpSpPr>
      <p:sp>
        <p:nvSpPr>
          <p:cNvPr id="1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rmAutofit/>
          </a:bodyPr>
          <a:lstStyle/>
          <a:p>
            <a:r>
              <a:t>Title Text</a:t>
            </a:r>
          </a:p>
        </p:txBody>
      </p:sp>
      <p:sp>
        <p:nvSpPr>
          <p:cNvPr id="3"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428216" y="6414780"/>
            <a:ext cx="258585" cy="248265"/>
          </a:xfrm>
          <a:prstGeom prst="rect">
            <a:avLst/>
          </a:prstGeom>
          <a:ln w="12700">
            <a:miter lim="400000"/>
          </a:ln>
        </p:spPr>
        <p:txBody>
          <a:bodyPr wrap="none" lIns="45699" tIns="45699" rIns="45699" bIns="45699" anchor="ctr">
            <a:spAutoFit/>
          </a:bodyPr>
          <a:lstStyle>
            <a:lvl1pPr algn="r">
              <a:defRPr sz="1200">
                <a:solidFill>
                  <a:srgbClr val="888888"/>
                </a:solidFill>
                <a:latin typeface="Calibri"/>
                <a:ea typeface="Calibri"/>
                <a:cs typeface="Calibri"/>
                <a:sym typeface="Calibri"/>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9pPr>
    </p:titleStyle>
    <p:bodyStyle>
      <a:lvl1pPr marL="457200" marR="0" indent="-431800"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1pPr>
      <a:lvl2pPr marL="972457" marR="0" indent="-464457"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2pPr>
      <a:lvl3pPr marL="1498600" marR="0" indent="-508000"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3pPr>
      <a:lvl4pPr marL="2042160" marR="0" indent="-568960"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4pPr>
      <a:lvl5pPr marL="2499360" marR="0" indent="-568960"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5pPr>
      <a:lvl6pPr marL="2956560" marR="0" indent="-568960"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6pPr>
      <a:lvl7pPr marL="3413759" marR="0" indent="-568959"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7pPr>
      <a:lvl8pPr marL="3870959" marR="0" indent="-568959"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8pPr>
      <a:lvl9pPr marL="4328159" marR="0" indent="-568959"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 name="Google Shape;84;p13" descr="Google Shape;84;p13"/>
          <p:cNvPicPr>
            <a:picLocks noChangeAspect="1"/>
          </p:cNvPicPr>
          <p:nvPr/>
        </p:nvPicPr>
        <p:blipFill>
          <a:blip r:embed="rId3"/>
          <a:stretch>
            <a:fillRect/>
          </a:stretch>
        </p:blipFill>
        <p:spPr>
          <a:xfrm>
            <a:off x="0" y="0"/>
            <a:ext cx="12192000" cy="6858000"/>
          </a:xfrm>
          <a:prstGeom prst="rect">
            <a:avLst/>
          </a:prstGeom>
          <a:ln w="12700">
            <a:miter lim="400000"/>
          </a:ln>
        </p:spPr>
      </p:pic>
      <p:pic>
        <p:nvPicPr>
          <p:cNvPr id="123" name="Google Shape;85;p13" descr="Google Shape;85;p13"/>
          <p:cNvPicPr>
            <a:picLocks noChangeAspect="1"/>
          </p:cNvPicPr>
          <p:nvPr/>
        </p:nvPicPr>
        <p:blipFill>
          <a:blip r:embed="rId4"/>
          <a:stretch>
            <a:fillRect/>
          </a:stretch>
        </p:blipFill>
        <p:spPr>
          <a:xfrm>
            <a:off x="1809750" y="4589114"/>
            <a:ext cx="8572500" cy="921992"/>
          </a:xfrm>
          <a:prstGeom prst="rect">
            <a:avLst/>
          </a:prstGeom>
          <a:ln w="12700">
            <a:miter lim="400000"/>
          </a:ln>
        </p:spPr>
      </p:pic>
      <p:sp>
        <p:nvSpPr>
          <p:cNvPr id="124" name="Google Shape;86;p13"/>
          <p:cNvSpPr txBox="1"/>
          <p:nvPr/>
        </p:nvSpPr>
        <p:spPr>
          <a:xfrm>
            <a:off x="1595437" y="2051742"/>
            <a:ext cx="9001126" cy="147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4800" b="1">
                <a:solidFill>
                  <a:srgbClr val="1E3A8A"/>
                </a:solidFill>
                <a:latin typeface="Roboto Slab"/>
                <a:ea typeface="Roboto Slab"/>
                <a:cs typeface="Roboto Slab"/>
                <a:sym typeface="Roboto Slab"/>
              </a:defRPr>
            </a:lvl1pPr>
          </a:lstStyle>
          <a:p>
            <a:r>
              <a:t>Predicting Severe Asthma Exacerbations</a:t>
            </a:r>
          </a:p>
        </p:txBody>
      </p:sp>
      <p:sp>
        <p:nvSpPr>
          <p:cNvPr id="125" name="Google Shape;87;p13"/>
          <p:cNvSpPr txBox="1"/>
          <p:nvPr/>
        </p:nvSpPr>
        <p:spPr>
          <a:xfrm>
            <a:off x="1809750" y="3842444"/>
            <a:ext cx="8572500"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ctr">
              <a:lnSpc>
                <a:spcPct val="159944"/>
              </a:lnSpc>
              <a:defRPr sz="1800">
                <a:solidFill>
                  <a:srgbClr val="64748B"/>
                </a:solidFill>
                <a:latin typeface="Open Sans"/>
                <a:ea typeface="Open Sans"/>
                <a:cs typeface="Open Sans"/>
                <a:sym typeface="Open Sans"/>
              </a:defRPr>
            </a:pPr>
            <a:r>
              <a:t>A Genome-Wide Association Study using </a:t>
            </a:r>
            <a:r>
              <a:rPr b="1"/>
              <a:t>Random Forests</a:t>
            </a:r>
            <a:r>
              <a:t> Classifiers</a:t>
            </a:r>
          </a:p>
        </p:txBody>
      </p:sp>
      <p:pic>
        <p:nvPicPr>
          <p:cNvPr id="126" name="Google Shape;88;p13" descr="Google Shape;88;p13"/>
          <p:cNvPicPr>
            <a:picLocks noChangeAspect="1"/>
          </p:cNvPicPr>
          <p:nvPr/>
        </p:nvPicPr>
        <p:blipFill>
          <a:blip r:embed="rId5"/>
          <a:stretch>
            <a:fillRect/>
          </a:stretch>
        </p:blipFill>
        <p:spPr>
          <a:xfrm>
            <a:off x="5843587" y="1223069"/>
            <a:ext cx="504827" cy="571502"/>
          </a:xfrm>
          <a:prstGeom prst="rect">
            <a:avLst/>
          </a:prstGeom>
          <a:ln w="12700">
            <a:miter lim="400000"/>
          </a:ln>
        </p:spPr>
      </p:pic>
      <p:sp>
        <p:nvSpPr>
          <p:cNvPr id="127" name="Google Shape;89;p13"/>
          <p:cNvSpPr txBox="1"/>
          <p:nvPr/>
        </p:nvSpPr>
        <p:spPr>
          <a:xfrm>
            <a:off x="1809750" y="4789139"/>
            <a:ext cx="85725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b="1">
                <a:solidFill>
                  <a:srgbClr val="1E3A8A"/>
                </a:solidFill>
                <a:latin typeface="Open Sans"/>
                <a:ea typeface="Open Sans"/>
                <a:cs typeface="Open Sans"/>
                <a:sym typeface="Open Sans"/>
              </a:defRPr>
            </a:lvl1pPr>
          </a:lstStyle>
          <a:p>
            <a:r>
              <a:t>Mousheng Xu, PhD</a:t>
            </a:r>
          </a:p>
        </p:txBody>
      </p:sp>
      <p:sp>
        <p:nvSpPr>
          <p:cNvPr id="128" name="Google Shape;90;p13"/>
          <p:cNvSpPr txBox="1"/>
          <p:nvPr/>
        </p:nvSpPr>
        <p:spPr>
          <a:xfrm>
            <a:off x="1809750" y="5236814"/>
            <a:ext cx="8572500"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300">
                <a:solidFill>
                  <a:srgbClr val="334155"/>
                </a:solidFill>
                <a:latin typeface="Open Sans"/>
                <a:ea typeface="Open Sans"/>
                <a:cs typeface="Open Sans"/>
                <a:sym typeface="Open Sans"/>
              </a:defRPr>
            </a:lvl1pPr>
          </a:lstStyle>
          <a:p>
            <a:r>
              <a:t>Dec 2025 | GTIIT’s 3rd International Symposium Presentation</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 name="Google Shape;95;p14" descr="Google Shape;95;p14"/>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131" name="Google Shape;96;p14"/>
          <p:cNvSpPr txBox="1"/>
          <p:nvPr/>
        </p:nvSpPr>
        <p:spPr>
          <a:xfrm>
            <a:off x="571498" y="1477961"/>
            <a:ext cx="5500690"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100" b="1">
                <a:solidFill>
                  <a:srgbClr val="0F766E"/>
                </a:solidFill>
                <a:latin typeface="Roboto Slab"/>
                <a:ea typeface="Roboto Slab"/>
                <a:cs typeface="Roboto Slab"/>
                <a:sym typeface="Roboto Slab"/>
              </a:defRPr>
            </a:lvl1pPr>
          </a:lstStyle>
          <a:p>
            <a:r>
              <a:t>Mousheng Xu, PhD</a:t>
            </a:r>
          </a:p>
        </p:txBody>
      </p:sp>
      <p:sp>
        <p:nvSpPr>
          <p:cNvPr id="132" name="Google Shape;99;p14"/>
          <p:cNvSpPr txBox="1"/>
          <p:nvPr/>
        </p:nvSpPr>
        <p:spPr>
          <a:xfrm>
            <a:off x="685800" y="2468560"/>
            <a:ext cx="762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t>•</a:t>
            </a:r>
          </a:p>
        </p:txBody>
      </p:sp>
      <p:sp>
        <p:nvSpPr>
          <p:cNvPr id="133" name="Google Shape;100;p14"/>
          <p:cNvSpPr txBox="1"/>
          <p:nvPr/>
        </p:nvSpPr>
        <p:spPr>
          <a:xfrm>
            <a:off x="838200" y="2468560"/>
            <a:ext cx="9971762"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500" b="1">
                <a:solidFill>
                  <a:srgbClr val="334155"/>
                </a:solidFill>
                <a:latin typeface="Open Sans"/>
                <a:ea typeface="Open Sans"/>
                <a:cs typeface="Open Sans"/>
                <a:sym typeface="Open Sans"/>
              </a:defRPr>
            </a:pPr>
            <a:r>
              <a:t>20+ Years Experience:</a:t>
            </a:r>
            <a:r>
              <a:rPr b="0"/>
              <a:t> Bridging computational biology, statistical genetics, and machine learning.</a:t>
            </a:r>
          </a:p>
        </p:txBody>
      </p:sp>
      <p:sp>
        <p:nvSpPr>
          <p:cNvPr id="134" name="Google Shape;101;p14"/>
          <p:cNvSpPr txBox="1"/>
          <p:nvPr/>
        </p:nvSpPr>
        <p:spPr>
          <a:xfrm>
            <a:off x="685800" y="2874961"/>
            <a:ext cx="762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t>•</a:t>
            </a:r>
          </a:p>
        </p:txBody>
      </p:sp>
      <p:sp>
        <p:nvSpPr>
          <p:cNvPr id="135" name="Google Shape;102;p14"/>
          <p:cNvSpPr txBox="1"/>
          <p:nvPr/>
        </p:nvSpPr>
        <p:spPr>
          <a:xfrm>
            <a:off x="838200" y="2887661"/>
            <a:ext cx="8237054" cy="16916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500" b="1">
                <a:solidFill>
                  <a:srgbClr val="334155"/>
                </a:solidFill>
                <a:latin typeface="Open Sans"/>
                <a:ea typeface="Open Sans"/>
                <a:cs typeface="Open Sans"/>
                <a:sym typeface="Open Sans"/>
              </a:defRPr>
            </a:pPr>
            <a:r>
              <a:t>Academic Foundation:</a:t>
            </a:r>
            <a:r>
              <a:rPr b="0"/>
              <a:t> </a:t>
            </a:r>
          </a:p>
          <a:p>
            <a:pPr marL="150394" indent="-150394">
              <a:lnSpc>
                <a:spcPct val="160000"/>
              </a:lnSpc>
              <a:buSzPct val="100000"/>
              <a:buChar char="○"/>
              <a:defRPr sz="1500">
                <a:solidFill>
                  <a:srgbClr val="334155"/>
                </a:solidFill>
                <a:latin typeface="Open Sans"/>
                <a:ea typeface="Open Sans"/>
                <a:cs typeface="Open Sans"/>
                <a:sym typeface="Open Sans"/>
              </a:defRPr>
            </a:pPr>
            <a:r>
              <a:t>  B.S. in Genetics (Wuhan University)</a:t>
            </a:r>
            <a:endParaRPr b="1"/>
          </a:p>
          <a:p>
            <a:pPr marL="150394" indent="-150394">
              <a:lnSpc>
                <a:spcPct val="160000"/>
              </a:lnSpc>
              <a:buSzPct val="100000"/>
              <a:buChar char="○"/>
              <a:defRPr sz="1500">
                <a:solidFill>
                  <a:srgbClr val="334155"/>
                </a:solidFill>
                <a:latin typeface="Open Sans"/>
                <a:ea typeface="Open Sans"/>
                <a:cs typeface="Open Sans"/>
                <a:sym typeface="Open Sans"/>
              </a:defRPr>
            </a:pPr>
            <a:r>
              <a:t>  M.S. in Biochemistry &amp; Molecular Biology, M.S. in Computer Science (University of Kansas)</a:t>
            </a:r>
            <a:endParaRPr b="1"/>
          </a:p>
          <a:p>
            <a:pPr marL="150394" indent="-150394">
              <a:lnSpc>
                <a:spcPct val="160000"/>
              </a:lnSpc>
              <a:buSzPct val="100000"/>
              <a:buChar char="○"/>
              <a:defRPr sz="1500">
                <a:solidFill>
                  <a:srgbClr val="334155"/>
                </a:solidFill>
                <a:latin typeface="Open Sans"/>
                <a:ea typeface="Open Sans"/>
                <a:cs typeface="Open Sans"/>
                <a:sym typeface="Open Sans"/>
              </a:defRPr>
            </a:pPr>
            <a:r>
              <a:t>  PhD in Bioinformatics (Boston University; Harvard Medical School)</a:t>
            </a:r>
            <a:endParaRPr b="1"/>
          </a:p>
          <a:p>
            <a:pPr marL="150394" indent="-150394">
              <a:lnSpc>
                <a:spcPct val="160000"/>
              </a:lnSpc>
              <a:buSzPct val="100000"/>
              <a:buChar char="○"/>
              <a:defRPr sz="1500">
                <a:solidFill>
                  <a:srgbClr val="334155"/>
                </a:solidFill>
                <a:latin typeface="Open Sans"/>
                <a:ea typeface="Open Sans"/>
                <a:cs typeface="Open Sans"/>
                <a:sym typeface="Open Sans"/>
              </a:defRPr>
            </a:pPr>
            <a:r>
              <a:t>  Postdoc in Cancer Genetic Epidemiology (Harvard T.H. Chan School of Public Health).</a:t>
            </a:r>
          </a:p>
        </p:txBody>
      </p:sp>
      <p:sp>
        <p:nvSpPr>
          <p:cNvPr id="136" name="Google Shape;103;p14"/>
          <p:cNvSpPr txBox="1"/>
          <p:nvPr/>
        </p:nvSpPr>
        <p:spPr>
          <a:xfrm>
            <a:off x="685800" y="5148262"/>
            <a:ext cx="762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t>•</a:t>
            </a:r>
          </a:p>
        </p:txBody>
      </p:sp>
      <p:sp>
        <p:nvSpPr>
          <p:cNvPr id="137" name="Google Shape;104;p14"/>
          <p:cNvSpPr txBox="1"/>
          <p:nvPr/>
        </p:nvSpPr>
        <p:spPr>
          <a:xfrm>
            <a:off x="838200" y="4830762"/>
            <a:ext cx="497205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60000"/>
              </a:lnSpc>
              <a:defRPr sz="1500" b="1">
                <a:solidFill>
                  <a:srgbClr val="334155"/>
                </a:solidFill>
                <a:latin typeface="Open Sans"/>
                <a:ea typeface="Open Sans"/>
                <a:cs typeface="Open Sans"/>
                <a:sym typeface="Open Sans"/>
              </a:defRPr>
            </a:lvl1pPr>
          </a:lstStyle>
          <a:p>
            <a:r>
              <a:t>Key Achievements:</a:t>
            </a:r>
          </a:p>
        </p:txBody>
      </p:sp>
      <p:sp>
        <p:nvSpPr>
          <p:cNvPr id="138" name="Google Shape;106;p14"/>
          <p:cNvSpPr txBox="1"/>
          <p:nvPr/>
        </p:nvSpPr>
        <p:spPr>
          <a:xfrm>
            <a:off x="838200" y="5173662"/>
            <a:ext cx="1143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t>○</a:t>
            </a:r>
          </a:p>
        </p:txBody>
      </p:sp>
      <p:sp>
        <p:nvSpPr>
          <p:cNvPr id="139" name="Google Shape;107;p14"/>
          <p:cNvSpPr txBox="1"/>
          <p:nvPr/>
        </p:nvSpPr>
        <p:spPr>
          <a:xfrm>
            <a:off x="1066800" y="5160962"/>
            <a:ext cx="474345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60000"/>
              </a:lnSpc>
              <a:defRPr sz="1500">
                <a:solidFill>
                  <a:srgbClr val="334155"/>
                </a:solidFill>
                <a:latin typeface="Open Sans"/>
                <a:ea typeface="Open Sans"/>
                <a:cs typeface="Open Sans"/>
                <a:sym typeface="Open Sans"/>
              </a:defRPr>
            </a:lvl1pPr>
          </a:lstStyle>
          <a:p>
            <a:r>
              <a:t>Led large-scale GWAS &amp; NGS pipelines.</a:t>
            </a:r>
          </a:p>
        </p:txBody>
      </p:sp>
      <p:sp>
        <p:nvSpPr>
          <p:cNvPr id="140" name="Google Shape;108;p14"/>
          <p:cNvSpPr txBox="1"/>
          <p:nvPr/>
        </p:nvSpPr>
        <p:spPr>
          <a:xfrm>
            <a:off x="838200" y="5592762"/>
            <a:ext cx="1143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t>○</a:t>
            </a:r>
          </a:p>
        </p:txBody>
      </p:sp>
      <p:sp>
        <p:nvSpPr>
          <p:cNvPr id="141" name="Google Shape;109;p14"/>
          <p:cNvSpPr txBox="1"/>
          <p:nvPr/>
        </p:nvSpPr>
        <p:spPr>
          <a:xfrm>
            <a:off x="1066800" y="5580062"/>
            <a:ext cx="474345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60000"/>
              </a:lnSpc>
              <a:defRPr sz="1500">
                <a:solidFill>
                  <a:srgbClr val="334155"/>
                </a:solidFill>
                <a:latin typeface="Open Sans"/>
                <a:ea typeface="Open Sans"/>
                <a:cs typeface="Open Sans"/>
                <a:sym typeface="Open Sans"/>
              </a:defRPr>
            </a:lvl1pPr>
          </a:lstStyle>
          <a:p>
            <a:r>
              <a:t>Founded Hubei Vidagen (Genetic Testing).</a:t>
            </a:r>
          </a:p>
        </p:txBody>
      </p:sp>
      <p:sp>
        <p:nvSpPr>
          <p:cNvPr id="142" name="Google Shape;110;p14"/>
          <p:cNvSpPr txBox="1"/>
          <p:nvPr/>
        </p:nvSpPr>
        <p:spPr>
          <a:xfrm>
            <a:off x="838200" y="6011862"/>
            <a:ext cx="1143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t>○</a:t>
            </a:r>
          </a:p>
        </p:txBody>
      </p:sp>
      <p:sp>
        <p:nvSpPr>
          <p:cNvPr id="143" name="Google Shape;111;p14"/>
          <p:cNvSpPr txBox="1"/>
          <p:nvPr/>
        </p:nvSpPr>
        <p:spPr>
          <a:xfrm>
            <a:off x="1066800" y="5999162"/>
            <a:ext cx="474345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60000"/>
              </a:lnSpc>
              <a:defRPr sz="1500">
                <a:solidFill>
                  <a:srgbClr val="334155"/>
                </a:solidFill>
                <a:latin typeface="Open Sans"/>
                <a:ea typeface="Open Sans"/>
                <a:cs typeface="Open Sans"/>
                <a:sym typeface="Open Sans"/>
              </a:defRPr>
            </a:lvl1pPr>
          </a:lstStyle>
          <a:p>
            <a:r>
              <a:t>Scientific Breakthrough Award (ATS 2009).</a:t>
            </a:r>
          </a:p>
        </p:txBody>
      </p:sp>
      <p:sp>
        <p:nvSpPr>
          <p:cNvPr id="144" name="Google Shape;112;p14"/>
          <p:cNvSpPr txBox="1"/>
          <p:nvPr/>
        </p:nvSpPr>
        <p:spPr>
          <a:xfrm>
            <a:off x="571500" y="571500"/>
            <a:ext cx="11601450"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Self Introduction</a:t>
            </a:r>
          </a:p>
        </p:txBody>
      </p:sp>
      <p:sp>
        <p:nvSpPr>
          <p:cNvPr id="145" name="Google Shape;113;p14"/>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sp>
        <p:nvSpPr>
          <p:cNvPr id="146" name="Google Shape;97;p14"/>
          <p:cNvSpPr txBox="1"/>
          <p:nvPr/>
        </p:nvSpPr>
        <p:spPr>
          <a:xfrm>
            <a:off x="571500" y="1973260"/>
            <a:ext cx="523875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60000"/>
              </a:lnSpc>
              <a:defRPr sz="1500" b="1">
                <a:solidFill>
                  <a:srgbClr val="334155"/>
                </a:solidFill>
                <a:latin typeface="Open Sans"/>
                <a:ea typeface="Open Sans"/>
                <a:cs typeface="Open Sans"/>
                <a:sym typeface="Open Sans"/>
              </a:defRPr>
            </a:lvl1pPr>
          </a:lstStyle>
          <a:p>
            <a:r>
              <a:t>Head of Biosciences, A Private Company In Singapore</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 name="Google Shape;118;p15" descr="Google Shape;118;p15"/>
          <p:cNvPicPr>
            <a:picLocks noChangeAspect="1"/>
          </p:cNvPicPr>
          <p:nvPr/>
        </p:nvPicPr>
        <p:blipFill>
          <a:blip r:embed="rId3"/>
          <a:stretch>
            <a:fillRect/>
          </a:stretch>
        </p:blipFill>
        <p:spPr>
          <a:xfrm>
            <a:off x="0" y="-321860"/>
            <a:ext cx="12192001" cy="6858002"/>
          </a:xfrm>
          <a:prstGeom prst="rect">
            <a:avLst/>
          </a:prstGeom>
          <a:ln w="12700">
            <a:miter lim="400000"/>
          </a:ln>
        </p:spPr>
      </p:pic>
      <p:pic>
        <p:nvPicPr>
          <p:cNvPr id="149" name="Google Shape;119;p15" descr="Google Shape;119;p15"/>
          <p:cNvPicPr>
            <a:picLocks noChangeAspect="1"/>
          </p:cNvPicPr>
          <p:nvPr/>
        </p:nvPicPr>
        <p:blipFill>
          <a:blip r:embed="rId4"/>
          <a:stretch>
            <a:fillRect/>
          </a:stretch>
        </p:blipFill>
        <p:spPr>
          <a:xfrm>
            <a:off x="571500" y="2062160"/>
            <a:ext cx="5238750" cy="3810003"/>
          </a:xfrm>
          <a:prstGeom prst="rect">
            <a:avLst/>
          </a:prstGeom>
          <a:ln w="12700">
            <a:miter lim="400000"/>
          </a:ln>
        </p:spPr>
      </p:pic>
      <p:sp>
        <p:nvSpPr>
          <p:cNvPr id="150" name="Google Shape;129;p15"/>
          <p:cNvSpPr txBox="1"/>
          <p:nvPr/>
        </p:nvSpPr>
        <p:spPr>
          <a:xfrm>
            <a:off x="571500" y="571500"/>
            <a:ext cx="11601450" cy="558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3100" b="1">
                <a:solidFill>
                  <a:srgbClr val="1E3A8A"/>
                </a:solidFill>
                <a:latin typeface="Roboto Slab"/>
                <a:ea typeface="Roboto Slab"/>
                <a:cs typeface="Roboto Slab"/>
                <a:sym typeface="Roboto Slab"/>
              </a:defRPr>
            </a:pPr>
            <a:r>
              <a:t>The Clinical Challenge：Severe Asthma Exacerbations</a:t>
            </a:r>
          </a:p>
        </p:txBody>
      </p:sp>
      <p:sp>
        <p:nvSpPr>
          <p:cNvPr id="151" name="Google Shape;130;p15"/>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pic>
        <p:nvPicPr>
          <p:cNvPr id="152" name="Image" descr="Image"/>
          <p:cNvPicPr>
            <a:picLocks noChangeAspect="1"/>
          </p:cNvPicPr>
          <p:nvPr/>
        </p:nvPicPr>
        <p:blipFill>
          <a:blip r:embed="rId5"/>
          <a:stretch>
            <a:fillRect/>
          </a:stretch>
        </p:blipFill>
        <p:spPr>
          <a:xfrm>
            <a:off x="429379" y="1463675"/>
            <a:ext cx="5238752" cy="5238750"/>
          </a:xfrm>
          <a:prstGeom prst="rect">
            <a:avLst/>
          </a:prstGeom>
          <a:ln w="12700">
            <a:miter lim="400000"/>
          </a:ln>
        </p:spPr>
      </p:pic>
      <p:pic>
        <p:nvPicPr>
          <p:cNvPr id="153" name="Google Shape;86;p13" descr="Google Shape;86;p13"/>
          <p:cNvPicPr>
            <a:picLocks noChangeAspect="1"/>
          </p:cNvPicPr>
          <p:nvPr/>
        </p:nvPicPr>
        <p:blipFill>
          <a:blip r:embed="rId6"/>
          <a:stretch>
            <a:fillRect/>
          </a:stretch>
        </p:blipFill>
        <p:spPr>
          <a:xfrm>
            <a:off x="6322595" y="2256158"/>
            <a:ext cx="4364252" cy="1198186"/>
          </a:xfrm>
          <a:prstGeom prst="rect">
            <a:avLst/>
          </a:prstGeom>
          <a:ln w="12700">
            <a:miter lim="400000"/>
          </a:ln>
        </p:spPr>
      </p:pic>
      <p:pic>
        <p:nvPicPr>
          <p:cNvPr id="154" name="Google Shape;87;p13" descr="Google Shape;87;p13"/>
          <p:cNvPicPr>
            <a:picLocks noChangeAspect="1"/>
          </p:cNvPicPr>
          <p:nvPr/>
        </p:nvPicPr>
        <p:blipFill>
          <a:blip r:embed="rId7"/>
          <a:stretch>
            <a:fillRect/>
          </a:stretch>
        </p:blipFill>
        <p:spPr>
          <a:xfrm>
            <a:off x="6353192" y="4126245"/>
            <a:ext cx="5086358" cy="1692372"/>
          </a:xfrm>
          <a:prstGeom prst="rect">
            <a:avLst/>
          </a:prstGeom>
          <a:ln w="12700">
            <a:miter lim="400000"/>
          </a:ln>
        </p:spPr>
      </p:pic>
      <p:sp>
        <p:nvSpPr>
          <p:cNvPr id="155" name="Google Shape;88;p13"/>
          <p:cNvSpPr txBox="1"/>
          <p:nvPr/>
        </p:nvSpPr>
        <p:spPr>
          <a:xfrm>
            <a:off x="6381750" y="1844774"/>
            <a:ext cx="5500688" cy="292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900" b="1">
                <a:solidFill>
                  <a:srgbClr val="0F766E"/>
                </a:solidFill>
                <a:latin typeface="Roboto Slab"/>
                <a:ea typeface="Roboto Slab"/>
                <a:cs typeface="Roboto Slab"/>
                <a:sym typeface="Roboto Slab"/>
              </a:defRPr>
            </a:lvl1pPr>
          </a:lstStyle>
          <a:p>
            <a:r>
              <a:t>Definition</a:t>
            </a:r>
          </a:p>
        </p:txBody>
      </p:sp>
      <p:sp>
        <p:nvSpPr>
          <p:cNvPr id="156" name="Google Shape;89;p13"/>
          <p:cNvSpPr txBox="1"/>
          <p:nvPr/>
        </p:nvSpPr>
        <p:spPr>
          <a:xfrm>
            <a:off x="6381750" y="3729452"/>
            <a:ext cx="5500688" cy="292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900" b="1">
                <a:solidFill>
                  <a:srgbClr val="0F766E"/>
                </a:solidFill>
                <a:latin typeface="Roboto Slab"/>
                <a:ea typeface="Roboto Slab"/>
                <a:cs typeface="Roboto Slab"/>
                <a:sym typeface="Roboto Slab"/>
              </a:defRPr>
            </a:lvl1pPr>
          </a:lstStyle>
          <a:p>
            <a:r>
              <a:t>Prognostic Significance</a:t>
            </a:r>
          </a:p>
        </p:txBody>
      </p:sp>
      <p:sp>
        <p:nvSpPr>
          <p:cNvPr id="157" name="Google Shape;92;p13"/>
          <p:cNvSpPr txBox="1"/>
          <p:nvPr/>
        </p:nvSpPr>
        <p:spPr>
          <a:xfrm>
            <a:off x="6619875" y="2501999"/>
            <a:ext cx="4810125" cy="5943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500">
                <a:solidFill>
                  <a:srgbClr val="334155"/>
                </a:solidFill>
                <a:latin typeface="Open Sans"/>
                <a:ea typeface="Open Sans"/>
                <a:cs typeface="Open Sans"/>
                <a:sym typeface="Open Sans"/>
              </a:defRPr>
            </a:pPr>
            <a:r>
              <a:t>Severe Asthma Exacerbations: </a:t>
            </a:r>
            <a:r>
              <a:rPr b="1">
                <a:solidFill>
                  <a:srgbClr val="1E3A8A"/>
                </a:solidFill>
              </a:rPr>
              <a:t>emergency room visit or a hospitalization</a:t>
            </a:r>
            <a:r>
              <a:t> for asthma symptoms.</a:t>
            </a:r>
          </a:p>
        </p:txBody>
      </p:sp>
      <p:sp>
        <p:nvSpPr>
          <p:cNvPr id="158" name="Google Shape;93;p13"/>
          <p:cNvSpPr txBox="1"/>
          <p:nvPr/>
        </p:nvSpPr>
        <p:spPr>
          <a:xfrm>
            <a:off x="6596061" y="4309490"/>
            <a:ext cx="4810127" cy="13258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500">
                <a:solidFill>
                  <a:srgbClr val="334155"/>
                </a:solidFill>
                <a:latin typeface="Open Sans"/>
                <a:ea typeface="Open Sans"/>
                <a:cs typeface="Open Sans"/>
                <a:sym typeface="Open Sans"/>
              </a:defRPr>
            </a:pPr>
            <a:r>
              <a:t>The ability to predict severe asthma exacerbations would therefore have </a:t>
            </a:r>
            <a:r>
              <a:rPr b="1">
                <a:solidFill>
                  <a:srgbClr val="1E3A8A"/>
                </a:solidFill>
              </a:rPr>
              <a:t>direct prognostic significance</a:t>
            </a:r>
            <a:r>
              <a:t> and might form the basis for the development of </a:t>
            </a:r>
            <a:r>
              <a:rPr b="1">
                <a:solidFill>
                  <a:srgbClr val="1E3A8A"/>
                </a:solidFill>
              </a:rPr>
              <a:t>earlier therapeutic interventions</a:t>
            </a:r>
            <a:r>
              <a:t>.</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 name="Google Shape;135;p16" descr="Google Shape;135;p16"/>
          <p:cNvPicPr>
            <a:picLocks noChangeAspect="1"/>
          </p:cNvPicPr>
          <p:nvPr/>
        </p:nvPicPr>
        <p:blipFill>
          <a:blip r:embed="rId3"/>
          <a:stretch>
            <a:fillRect/>
          </a:stretch>
        </p:blipFill>
        <p:spPr>
          <a:xfrm>
            <a:off x="0" y="0"/>
            <a:ext cx="12192000" cy="6858000"/>
          </a:xfrm>
          <a:prstGeom prst="rect">
            <a:avLst/>
          </a:prstGeom>
          <a:ln w="12700">
            <a:miter lim="400000"/>
          </a:ln>
        </p:spPr>
      </p:pic>
      <p:pic>
        <p:nvPicPr>
          <p:cNvPr id="161" name="Google Shape;136;p16" descr="Google Shape;136;p16"/>
          <p:cNvPicPr>
            <a:picLocks noChangeAspect="1"/>
          </p:cNvPicPr>
          <p:nvPr/>
        </p:nvPicPr>
        <p:blipFill>
          <a:blip r:embed="rId4"/>
          <a:stretch>
            <a:fillRect/>
          </a:stretch>
        </p:blipFill>
        <p:spPr>
          <a:xfrm>
            <a:off x="571500" y="2077341"/>
            <a:ext cx="3492549" cy="3779492"/>
          </a:xfrm>
          <a:prstGeom prst="rect">
            <a:avLst/>
          </a:prstGeom>
          <a:ln w="12700">
            <a:miter lim="400000"/>
          </a:ln>
        </p:spPr>
      </p:pic>
      <p:pic>
        <p:nvPicPr>
          <p:cNvPr id="162" name="Google Shape;137;p16" descr="Google Shape;137;p16"/>
          <p:cNvPicPr>
            <a:picLocks noChangeAspect="1"/>
          </p:cNvPicPr>
          <p:nvPr/>
        </p:nvPicPr>
        <p:blipFill>
          <a:blip r:embed="rId5"/>
          <a:stretch>
            <a:fillRect/>
          </a:stretch>
        </p:blipFill>
        <p:spPr>
          <a:xfrm>
            <a:off x="4349798" y="2077341"/>
            <a:ext cx="3492551" cy="3779492"/>
          </a:xfrm>
          <a:prstGeom prst="rect">
            <a:avLst/>
          </a:prstGeom>
          <a:ln w="12700">
            <a:miter lim="400000"/>
          </a:ln>
        </p:spPr>
      </p:pic>
      <p:pic>
        <p:nvPicPr>
          <p:cNvPr id="163" name="Google Shape;138;p16" descr="Google Shape;138;p16"/>
          <p:cNvPicPr>
            <a:picLocks noChangeAspect="1"/>
          </p:cNvPicPr>
          <p:nvPr/>
        </p:nvPicPr>
        <p:blipFill>
          <a:blip r:embed="rId6"/>
          <a:stretch>
            <a:fillRect/>
          </a:stretch>
        </p:blipFill>
        <p:spPr>
          <a:xfrm>
            <a:off x="8128099" y="2077341"/>
            <a:ext cx="3492551" cy="3779492"/>
          </a:xfrm>
          <a:prstGeom prst="rect">
            <a:avLst/>
          </a:prstGeom>
          <a:ln w="12700">
            <a:miter lim="400000"/>
          </a:ln>
        </p:spPr>
      </p:pic>
      <p:sp>
        <p:nvSpPr>
          <p:cNvPr id="164" name="Google Shape;139;p16"/>
          <p:cNvSpPr txBox="1"/>
          <p:nvPr/>
        </p:nvSpPr>
        <p:spPr>
          <a:xfrm>
            <a:off x="1262567" y="3086991"/>
            <a:ext cx="2110266"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2100" b="1">
                <a:solidFill>
                  <a:srgbClr val="0F766E"/>
                </a:solidFill>
                <a:latin typeface="Roboto Slab"/>
                <a:ea typeface="Roboto Slab"/>
                <a:cs typeface="Roboto Slab"/>
                <a:sym typeface="Roboto Slab"/>
              </a:defRPr>
            </a:lvl1pPr>
          </a:lstStyle>
          <a:p>
            <a:r>
              <a:t>Sample Size (N)</a:t>
            </a:r>
          </a:p>
        </p:txBody>
      </p:sp>
      <p:sp>
        <p:nvSpPr>
          <p:cNvPr id="165" name="Google Shape;140;p16"/>
          <p:cNvSpPr txBox="1"/>
          <p:nvPr/>
        </p:nvSpPr>
        <p:spPr>
          <a:xfrm>
            <a:off x="1026463" y="3694036"/>
            <a:ext cx="3032786" cy="21866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59972"/>
              </a:lnSpc>
              <a:defRPr sz="3400" b="1">
                <a:solidFill>
                  <a:srgbClr val="1E3A8A"/>
                </a:solidFill>
                <a:latin typeface="Open Sans"/>
                <a:ea typeface="Open Sans"/>
                <a:cs typeface="Open Sans"/>
                <a:sym typeface="Open Sans"/>
              </a:defRPr>
            </a:pPr>
            <a:r>
              <a:t>127 cases</a:t>
            </a:r>
          </a:p>
          <a:p>
            <a:pPr>
              <a:lnSpc>
                <a:spcPct val="159972"/>
              </a:lnSpc>
              <a:defRPr sz="3400" b="1">
                <a:solidFill>
                  <a:srgbClr val="1E3A8A"/>
                </a:solidFill>
                <a:latin typeface="Open Sans"/>
                <a:ea typeface="Open Sans"/>
                <a:cs typeface="Open Sans"/>
                <a:sym typeface="Open Sans"/>
              </a:defRPr>
            </a:pPr>
            <a:r>
              <a:t>290 controls</a:t>
            </a:r>
          </a:p>
          <a:p>
            <a:pPr>
              <a:lnSpc>
                <a:spcPct val="159972"/>
              </a:lnSpc>
              <a:defRPr sz="3400" b="1">
                <a:solidFill>
                  <a:srgbClr val="1E3A8A"/>
                </a:solidFill>
                <a:latin typeface="Open Sans"/>
                <a:ea typeface="Open Sans"/>
                <a:cs typeface="Open Sans"/>
                <a:sym typeface="Open Sans"/>
              </a:defRPr>
            </a:pPr>
            <a:r>
              <a:t>417 total</a:t>
            </a:r>
          </a:p>
        </p:txBody>
      </p:sp>
      <p:sp>
        <p:nvSpPr>
          <p:cNvPr id="166" name="Google Shape;142;p16"/>
          <p:cNvSpPr txBox="1"/>
          <p:nvPr/>
        </p:nvSpPr>
        <p:spPr>
          <a:xfrm>
            <a:off x="4925852" y="3086991"/>
            <a:ext cx="2340294"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2100" b="1">
                <a:solidFill>
                  <a:srgbClr val="0F766E"/>
                </a:solidFill>
                <a:latin typeface="Roboto Slab"/>
                <a:ea typeface="Roboto Slab"/>
                <a:cs typeface="Roboto Slab"/>
                <a:sym typeface="Roboto Slab"/>
              </a:defRPr>
            </a:lvl1pPr>
          </a:lstStyle>
          <a:p>
            <a:r>
              <a:t>Standard Method</a:t>
            </a:r>
          </a:p>
        </p:txBody>
      </p:sp>
      <p:sp>
        <p:nvSpPr>
          <p:cNvPr id="167" name="Google Shape;143;p16"/>
          <p:cNvSpPr txBox="1"/>
          <p:nvPr/>
        </p:nvSpPr>
        <p:spPr>
          <a:xfrm>
            <a:off x="5200650" y="3642617"/>
            <a:ext cx="1790700" cy="5943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b="1">
                <a:solidFill>
                  <a:srgbClr val="334155"/>
                </a:solidFill>
                <a:latin typeface="Open Sans"/>
                <a:ea typeface="Open Sans"/>
                <a:cs typeface="Open Sans"/>
                <a:sym typeface="Open Sans"/>
              </a:defRPr>
            </a:lvl1pPr>
          </a:lstStyle>
          <a:p>
            <a:r>
              <a:t>Logistic Regression</a:t>
            </a:r>
          </a:p>
        </p:txBody>
      </p:sp>
      <p:sp>
        <p:nvSpPr>
          <p:cNvPr id="168" name="Google Shape;144;p16"/>
          <p:cNvSpPr txBox="1"/>
          <p:nvPr/>
        </p:nvSpPr>
        <p:spPr>
          <a:xfrm>
            <a:off x="4644999" y="4400141"/>
            <a:ext cx="2902001" cy="13258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a:solidFill>
                  <a:srgbClr val="334155"/>
                </a:solidFill>
                <a:latin typeface="Open Sans"/>
                <a:ea typeface="Open Sans"/>
                <a:cs typeface="Open Sans"/>
                <a:sym typeface="Open Sans"/>
              </a:defRPr>
            </a:lvl1pPr>
          </a:lstStyle>
          <a:p>
            <a:r>
              <a:t>Struggles when predictors (P) vastly outnumber samples (N). Cannot easily model complex interactions.</a:t>
            </a:r>
          </a:p>
        </p:txBody>
      </p:sp>
      <p:sp>
        <p:nvSpPr>
          <p:cNvPr id="169" name="Google Shape;145;p16"/>
          <p:cNvSpPr txBox="1"/>
          <p:nvPr/>
        </p:nvSpPr>
        <p:spPr>
          <a:xfrm>
            <a:off x="8964183" y="3086991"/>
            <a:ext cx="1820229"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2100" b="1">
                <a:solidFill>
                  <a:srgbClr val="0F766E"/>
                </a:solidFill>
                <a:latin typeface="Roboto Slab"/>
                <a:ea typeface="Roboto Slab"/>
                <a:cs typeface="Roboto Slab"/>
                <a:sym typeface="Roboto Slab"/>
              </a:defRPr>
            </a:lvl1pPr>
          </a:lstStyle>
          <a:p>
            <a:r>
              <a:t>Predictors (P)</a:t>
            </a:r>
          </a:p>
        </p:txBody>
      </p:sp>
      <p:sp>
        <p:nvSpPr>
          <p:cNvPr id="170" name="Google Shape;146;p16"/>
          <p:cNvSpPr txBox="1"/>
          <p:nvPr/>
        </p:nvSpPr>
        <p:spPr>
          <a:xfrm>
            <a:off x="8907512" y="3677542"/>
            <a:ext cx="2417862" cy="546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59972"/>
              </a:lnSpc>
              <a:defRPr sz="3600" b="1">
                <a:solidFill>
                  <a:srgbClr val="1E3A8A"/>
                </a:solidFill>
                <a:latin typeface="Open Sans"/>
                <a:ea typeface="Open Sans"/>
                <a:cs typeface="Open Sans"/>
                <a:sym typeface="Open Sans"/>
              </a:defRPr>
            </a:lvl1pPr>
          </a:lstStyle>
          <a:p>
            <a:r>
              <a:t>&gt; 550,000</a:t>
            </a:r>
          </a:p>
        </p:txBody>
      </p:sp>
      <p:sp>
        <p:nvSpPr>
          <p:cNvPr id="171" name="Google Shape;147;p16"/>
          <p:cNvSpPr txBox="1"/>
          <p:nvPr/>
        </p:nvSpPr>
        <p:spPr>
          <a:xfrm>
            <a:off x="8423374" y="4504282"/>
            <a:ext cx="2902001" cy="5943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a:solidFill>
                  <a:srgbClr val="334155"/>
                </a:solidFill>
                <a:latin typeface="Open Sans"/>
                <a:ea typeface="Open Sans"/>
                <a:cs typeface="Open Sans"/>
                <a:sym typeface="Open Sans"/>
              </a:defRPr>
            </a:lvl1pPr>
          </a:lstStyle>
          <a:p>
            <a:r>
              <a:t>Single Nucleotide Polymorphisms (SNPs) + Clinical Traits</a:t>
            </a:r>
          </a:p>
        </p:txBody>
      </p:sp>
      <p:pic>
        <p:nvPicPr>
          <p:cNvPr id="172" name="Google Shape;148;p16" descr="Google Shape;148;p16"/>
          <p:cNvPicPr>
            <a:picLocks noChangeAspect="1"/>
          </p:cNvPicPr>
          <p:nvPr/>
        </p:nvPicPr>
        <p:blipFill>
          <a:blip r:embed="rId7"/>
          <a:stretch>
            <a:fillRect/>
          </a:stretch>
        </p:blipFill>
        <p:spPr>
          <a:xfrm>
            <a:off x="2031950" y="2391666"/>
            <a:ext cx="571502" cy="457202"/>
          </a:xfrm>
          <a:prstGeom prst="rect">
            <a:avLst/>
          </a:prstGeom>
          <a:ln w="12700">
            <a:miter lim="400000"/>
          </a:ln>
        </p:spPr>
      </p:pic>
      <p:pic>
        <p:nvPicPr>
          <p:cNvPr id="173" name="Google Shape;149;p16" descr="Google Shape;149;p16"/>
          <p:cNvPicPr>
            <a:picLocks noChangeAspect="1"/>
          </p:cNvPicPr>
          <p:nvPr/>
        </p:nvPicPr>
        <p:blipFill>
          <a:blip r:embed="rId8"/>
          <a:stretch>
            <a:fillRect/>
          </a:stretch>
        </p:blipFill>
        <p:spPr>
          <a:xfrm>
            <a:off x="5924550" y="2391666"/>
            <a:ext cx="342900" cy="457202"/>
          </a:xfrm>
          <a:prstGeom prst="rect">
            <a:avLst/>
          </a:prstGeom>
          <a:ln w="12700">
            <a:miter lim="400000"/>
          </a:ln>
        </p:spPr>
      </p:pic>
      <p:pic>
        <p:nvPicPr>
          <p:cNvPr id="174" name="Google Shape;150;p16" descr="Google Shape;150;p16"/>
          <p:cNvPicPr>
            <a:picLocks noChangeAspect="1"/>
          </p:cNvPicPr>
          <p:nvPr/>
        </p:nvPicPr>
        <p:blipFill>
          <a:blip r:embed="rId9"/>
          <a:stretch>
            <a:fillRect/>
          </a:stretch>
        </p:blipFill>
        <p:spPr>
          <a:xfrm>
            <a:off x="9645698" y="2391666"/>
            <a:ext cx="457202" cy="457202"/>
          </a:xfrm>
          <a:prstGeom prst="rect">
            <a:avLst/>
          </a:prstGeom>
          <a:ln w="12700">
            <a:miter lim="400000"/>
          </a:ln>
        </p:spPr>
      </p:pic>
      <p:sp>
        <p:nvSpPr>
          <p:cNvPr id="175" name="Google Shape;151;p16"/>
          <p:cNvSpPr txBox="1"/>
          <p:nvPr/>
        </p:nvSpPr>
        <p:spPr>
          <a:xfrm>
            <a:off x="571500" y="571500"/>
            <a:ext cx="11601450"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The "Small N, Large P" Problem</a:t>
            </a:r>
          </a:p>
        </p:txBody>
      </p:sp>
      <p:sp>
        <p:nvSpPr>
          <p:cNvPr id="176" name="Google Shape;152;p16"/>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8" name="Google Shape;84;p13" descr="Google Shape;84;p13"/>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179" name="Google Shape;85;p13"/>
          <p:cNvSpPr txBox="1"/>
          <p:nvPr/>
        </p:nvSpPr>
        <p:spPr>
          <a:xfrm>
            <a:off x="571500" y="381000"/>
            <a:ext cx="11601450"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0F172A"/>
                </a:solidFill>
                <a:latin typeface="Outfit"/>
                <a:ea typeface="Outfit"/>
                <a:cs typeface="Outfit"/>
                <a:sym typeface="Outfit"/>
              </a:defRPr>
            </a:lvl1pPr>
          </a:lstStyle>
          <a:p>
            <a:r>
              <a:t>Machine Learning With Random Forests</a:t>
            </a:r>
          </a:p>
        </p:txBody>
      </p:sp>
      <p:sp>
        <p:nvSpPr>
          <p:cNvPr id="180" name="Google Shape;86;p13"/>
          <p:cNvSpPr txBox="1"/>
          <p:nvPr/>
        </p:nvSpPr>
        <p:spPr>
          <a:xfrm>
            <a:off x="571500" y="995661"/>
            <a:ext cx="110490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60000"/>
              </a:lnSpc>
              <a:defRPr sz="1500">
                <a:solidFill>
                  <a:srgbClr val="64748B"/>
                </a:solidFill>
                <a:latin typeface="DM Sans"/>
                <a:ea typeface="DM Sans"/>
                <a:cs typeface="DM Sans"/>
                <a:sym typeface="DM Sans"/>
              </a:defRPr>
            </a:lvl1pPr>
          </a:lstStyle>
          <a:p>
            <a:r>
              <a:t>Leveraging ensemble power for robust predictive modeling.</a:t>
            </a:r>
          </a:p>
        </p:txBody>
      </p:sp>
      <p:pic>
        <p:nvPicPr>
          <p:cNvPr id="181" name="Google Shape;88;p13" descr="Google Shape;88;p13"/>
          <p:cNvPicPr>
            <a:picLocks noChangeAspect="1"/>
          </p:cNvPicPr>
          <p:nvPr/>
        </p:nvPicPr>
        <p:blipFill>
          <a:blip r:embed="rId4"/>
          <a:stretch>
            <a:fillRect/>
          </a:stretch>
        </p:blipFill>
        <p:spPr>
          <a:xfrm>
            <a:off x="285750" y="4002285"/>
            <a:ext cx="5238751" cy="2400301"/>
          </a:xfrm>
          <a:prstGeom prst="rect">
            <a:avLst/>
          </a:prstGeom>
          <a:ln w="12700">
            <a:miter lim="400000"/>
          </a:ln>
        </p:spPr>
      </p:pic>
      <p:sp>
        <p:nvSpPr>
          <p:cNvPr id="182" name="Google Shape;89;p13"/>
          <p:cNvSpPr txBox="1"/>
          <p:nvPr/>
        </p:nvSpPr>
        <p:spPr>
          <a:xfrm>
            <a:off x="6209269" y="1641947"/>
            <a:ext cx="5500688"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100" b="1">
                <a:solidFill>
                  <a:srgbClr val="0F172A"/>
                </a:solidFill>
                <a:latin typeface="Outfit"/>
                <a:ea typeface="Outfit"/>
                <a:cs typeface="Outfit"/>
                <a:sym typeface="Outfit"/>
              </a:defRPr>
            </a:lvl1pPr>
          </a:lstStyle>
          <a:p>
            <a:r>
              <a:t>Key Concepts of Random Forests</a:t>
            </a:r>
          </a:p>
        </p:txBody>
      </p:sp>
      <p:sp>
        <p:nvSpPr>
          <p:cNvPr id="183" name="Google Shape;94;p13"/>
          <p:cNvSpPr txBox="1"/>
          <p:nvPr/>
        </p:nvSpPr>
        <p:spPr>
          <a:xfrm>
            <a:off x="6495019" y="2118197"/>
            <a:ext cx="4953001" cy="5283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t>A </a:t>
            </a:r>
            <a:r>
              <a:rPr b="1">
                <a:solidFill>
                  <a:srgbClr val="0EA5E9"/>
                </a:solidFill>
              </a:rPr>
              <a:t>decision tree</a:t>
            </a:r>
            <a:r>
              <a:t> predicts outcomes by splitting data based on feature values.</a:t>
            </a:r>
          </a:p>
        </p:txBody>
      </p:sp>
      <p:sp>
        <p:nvSpPr>
          <p:cNvPr id="184" name="Google Shape;95;p13"/>
          <p:cNvSpPr txBox="1"/>
          <p:nvPr/>
        </p:nvSpPr>
        <p:spPr>
          <a:xfrm>
            <a:off x="6495019" y="2809651"/>
            <a:ext cx="4953001"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t>An </a:t>
            </a:r>
            <a:r>
              <a:rPr b="1">
                <a:solidFill>
                  <a:srgbClr val="0EA5E9"/>
                </a:solidFill>
              </a:rPr>
              <a:t>ensemble of many decision trees</a:t>
            </a:r>
            <a:r>
              <a:t> forms a "forest".</a:t>
            </a:r>
          </a:p>
        </p:txBody>
      </p:sp>
      <p:sp>
        <p:nvSpPr>
          <p:cNvPr id="185" name="Google Shape;96;p13"/>
          <p:cNvSpPr txBox="1"/>
          <p:nvPr/>
        </p:nvSpPr>
        <p:spPr>
          <a:xfrm>
            <a:off x="6495019" y="3226817"/>
            <a:ext cx="4953001" cy="5283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t>Each tree uses </a:t>
            </a:r>
            <a:r>
              <a:rPr b="1">
                <a:solidFill>
                  <a:srgbClr val="0EA5E9"/>
                </a:solidFill>
              </a:rPr>
              <a:t>random samples</a:t>
            </a:r>
            <a:r>
              <a:t> of the data and considers only </a:t>
            </a:r>
            <a:r>
              <a:rPr b="1">
                <a:solidFill>
                  <a:srgbClr val="0EA5E9"/>
                </a:solidFill>
              </a:rPr>
              <a:t>random features</a:t>
            </a:r>
            <a:r>
              <a:t> at each split, enhancing diversity.</a:t>
            </a:r>
          </a:p>
        </p:txBody>
      </p:sp>
      <p:sp>
        <p:nvSpPr>
          <p:cNvPr id="186" name="Google Shape;97;p13"/>
          <p:cNvSpPr txBox="1"/>
          <p:nvPr/>
        </p:nvSpPr>
        <p:spPr>
          <a:xfrm>
            <a:off x="6495019" y="3918272"/>
            <a:ext cx="4953001" cy="8406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b="1">
                <a:latin typeface="+mj-lt"/>
                <a:ea typeface="+mj-ea"/>
                <a:cs typeface="+mj-cs"/>
                <a:sym typeface="Arial"/>
              </a:defRPr>
            </a:pPr>
            <a:r>
              <a:t>Voting Mechanism:</a:t>
            </a:r>
            <a:r>
              <a:rPr b="0"/>
              <a:t> The model aggregates predictions by taking the </a:t>
            </a:r>
            <a:r>
              <a:t>votes from each decision tree</a:t>
            </a:r>
            <a:r>
              <a:rPr b="0"/>
              <a:t> to determine the final outcome.</a:t>
            </a:r>
          </a:p>
        </p:txBody>
      </p:sp>
      <p:sp>
        <p:nvSpPr>
          <p:cNvPr id="187" name="Google Shape;98;p13"/>
          <p:cNvSpPr txBox="1"/>
          <p:nvPr/>
        </p:nvSpPr>
        <p:spPr>
          <a:xfrm>
            <a:off x="6495019" y="5037239"/>
            <a:ext cx="4953001" cy="5283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t>Handles </a:t>
            </a:r>
            <a:r>
              <a:rPr b="1">
                <a:solidFill>
                  <a:srgbClr val="0EA5E9"/>
                </a:solidFill>
              </a:rPr>
              <a:t>nonlinear, high-dimensional data</a:t>
            </a:r>
            <a:r>
              <a:t> effectively, crucial for complex datasets.</a:t>
            </a:r>
          </a:p>
        </p:txBody>
      </p:sp>
      <p:sp>
        <p:nvSpPr>
          <p:cNvPr id="188" name="Google Shape;99;p13"/>
          <p:cNvSpPr txBox="1"/>
          <p:nvPr/>
        </p:nvSpPr>
        <p:spPr>
          <a:xfrm>
            <a:off x="6495019" y="5728694"/>
            <a:ext cx="4953001" cy="5283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t>Provides valuable </a:t>
            </a:r>
            <a:r>
              <a:rPr b="1">
                <a:solidFill>
                  <a:srgbClr val="0EA5E9"/>
                </a:solidFill>
              </a:rPr>
              <a:t>feature importance</a:t>
            </a:r>
            <a:r>
              <a:t> scores, indicating which variables are most predictive.</a:t>
            </a:r>
          </a:p>
        </p:txBody>
      </p:sp>
      <p:pic>
        <p:nvPicPr>
          <p:cNvPr id="189" name="Google Shape;100;p13" descr="Google Shape;100;p13"/>
          <p:cNvPicPr>
            <a:picLocks noChangeAspect="1"/>
          </p:cNvPicPr>
          <p:nvPr/>
        </p:nvPicPr>
        <p:blipFill>
          <a:blip r:embed="rId5"/>
          <a:stretch>
            <a:fillRect/>
          </a:stretch>
        </p:blipFill>
        <p:spPr>
          <a:xfrm>
            <a:off x="6209269" y="2137247"/>
            <a:ext cx="190501" cy="200026"/>
          </a:xfrm>
          <a:prstGeom prst="rect">
            <a:avLst/>
          </a:prstGeom>
          <a:ln w="12700">
            <a:miter lim="400000"/>
          </a:ln>
        </p:spPr>
      </p:pic>
      <p:pic>
        <p:nvPicPr>
          <p:cNvPr id="190" name="Google Shape;101;p13" descr="Google Shape;101;p13"/>
          <p:cNvPicPr>
            <a:picLocks noChangeAspect="1"/>
          </p:cNvPicPr>
          <p:nvPr/>
        </p:nvPicPr>
        <p:blipFill>
          <a:blip r:embed="rId5"/>
          <a:stretch>
            <a:fillRect/>
          </a:stretch>
        </p:blipFill>
        <p:spPr>
          <a:xfrm>
            <a:off x="6209269" y="2828701"/>
            <a:ext cx="190501" cy="200026"/>
          </a:xfrm>
          <a:prstGeom prst="rect">
            <a:avLst/>
          </a:prstGeom>
          <a:ln w="12700">
            <a:miter lim="400000"/>
          </a:ln>
        </p:spPr>
      </p:pic>
      <p:pic>
        <p:nvPicPr>
          <p:cNvPr id="191" name="Google Shape;102;p13" descr="Google Shape;102;p13"/>
          <p:cNvPicPr>
            <a:picLocks noChangeAspect="1"/>
          </p:cNvPicPr>
          <p:nvPr/>
        </p:nvPicPr>
        <p:blipFill>
          <a:blip r:embed="rId5"/>
          <a:stretch>
            <a:fillRect/>
          </a:stretch>
        </p:blipFill>
        <p:spPr>
          <a:xfrm>
            <a:off x="6209269" y="3245867"/>
            <a:ext cx="190501" cy="200026"/>
          </a:xfrm>
          <a:prstGeom prst="rect">
            <a:avLst/>
          </a:prstGeom>
          <a:ln w="12700">
            <a:miter lim="400000"/>
          </a:ln>
        </p:spPr>
      </p:pic>
      <p:pic>
        <p:nvPicPr>
          <p:cNvPr id="192" name="Google Shape;103;p13" descr="Google Shape;103;p13"/>
          <p:cNvPicPr>
            <a:picLocks noChangeAspect="1"/>
          </p:cNvPicPr>
          <p:nvPr/>
        </p:nvPicPr>
        <p:blipFill>
          <a:blip r:embed="rId5"/>
          <a:stretch>
            <a:fillRect/>
          </a:stretch>
        </p:blipFill>
        <p:spPr>
          <a:xfrm>
            <a:off x="6209269" y="3937322"/>
            <a:ext cx="190501" cy="200026"/>
          </a:xfrm>
          <a:prstGeom prst="rect">
            <a:avLst/>
          </a:prstGeom>
          <a:ln w="12700">
            <a:miter lim="400000"/>
          </a:ln>
        </p:spPr>
      </p:pic>
      <p:pic>
        <p:nvPicPr>
          <p:cNvPr id="193" name="Google Shape;104;p13" descr="Google Shape;104;p13"/>
          <p:cNvPicPr>
            <a:picLocks noChangeAspect="1"/>
          </p:cNvPicPr>
          <p:nvPr/>
        </p:nvPicPr>
        <p:blipFill>
          <a:blip r:embed="rId5"/>
          <a:stretch>
            <a:fillRect/>
          </a:stretch>
        </p:blipFill>
        <p:spPr>
          <a:xfrm>
            <a:off x="6209269" y="5056289"/>
            <a:ext cx="190501" cy="200026"/>
          </a:xfrm>
          <a:prstGeom prst="rect">
            <a:avLst/>
          </a:prstGeom>
          <a:ln w="12700">
            <a:miter lim="400000"/>
          </a:ln>
        </p:spPr>
      </p:pic>
      <p:pic>
        <p:nvPicPr>
          <p:cNvPr id="194" name="Google Shape;105;p13" descr="Google Shape;105;p13"/>
          <p:cNvPicPr>
            <a:picLocks noChangeAspect="1"/>
          </p:cNvPicPr>
          <p:nvPr/>
        </p:nvPicPr>
        <p:blipFill>
          <a:blip r:embed="rId5"/>
          <a:stretch>
            <a:fillRect/>
          </a:stretch>
        </p:blipFill>
        <p:spPr>
          <a:xfrm>
            <a:off x="6209269" y="5747744"/>
            <a:ext cx="190501" cy="200026"/>
          </a:xfrm>
          <a:prstGeom prst="rect">
            <a:avLst/>
          </a:prstGeom>
          <a:ln w="12700">
            <a:miter lim="400000"/>
          </a:ln>
        </p:spPr>
      </p:pic>
      <p:pic>
        <p:nvPicPr>
          <p:cNvPr id="195" name="Picture 2" descr="Picture 2"/>
          <p:cNvPicPr>
            <a:picLocks noChangeAspect="1"/>
          </p:cNvPicPr>
          <p:nvPr/>
        </p:nvPicPr>
        <p:blipFill>
          <a:blip r:embed="rId6"/>
          <a:stretch>
            <a:fillRect/>
          </a:stretch>
        </p:blipFill>
        <p:spPr>
          <a:xfrm>
            <a:off x="778408" y="4094684"/>
            <a:ext cx="3781440" cy="2836080"/>
          </a:xfrm>
          <a:prstGeom prst="rect">
            <a:avLst/>
          </a:prstGeom>
          <a:ln w="12700">
            <a:miter lim="400000"/>
          </a:ln>
        </p:spPr>
      </p:pic>
      <p:pic>
        <p:nvPicPr>
          <p:cNvPr id="196" name="pasted-movie.png" descr="pasted-movie.png"/>
          <p:cNvPicPr>
            <a:picLocks noChangeAspect="1"/>
          </p:cNvPicPr>
          <p:nvPr/>
        </p:nvPicPr>
        <p:blipFill>
          <a:blip r:embed="rId7"/>
          <a:stretch>
            <a:fillRect/>
          </a:stretch>
        </p:blipFill>
        <p:spPr>
          <a:xfrm>
            <a:off x="434976" y="1571401"/>
            <a:ext cx="4940301" cy="2679701"/>
          </a:xfrm>
          <a:prstGeom prst="rect">
            <a:avLst/>
          </a:prstGeom>
          <a:ln w="12700">
            <a:miter lim="400000"/>
          </a:ln>
        </p:spPr>
      </p:pic>
      <p:pic>
        <p:nvPicPr>
          <p:cNvPr id="197" name="pasted-movie.png" descr="pasted-movie.png"/>
          <p:cNvPicPr>
            <a:picLocks noChangeAspect="1"/>
          </p:cNvPicPr>
          <p:nvPr/>
        </p:nvPicPr>
        <p:blipFill>
          <a:blip r:embed="rId8"/>
          <a:stretch>
            <a:fillRect/>
          </a:stretch>
        </p:blipFill>
        <p:spPr>
          <a:xfrm>
            <a:off x="4258507" y="1594956"/>
            <a:ext cx="1760593" cy="840644"/>
          </a:xfrm>
          <a:prstGeom prst="rect">
            <a:avLst/>
          </a:prstGeom>
          <a:ln w="12700">
            <a:miter lim="400000"/>
          </a:ln>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9" name="Google Shape;84;p13" descr="Google Shape;84;p13"/>
          <p:cNvPicPr>
            <a:picLocks noChangeAspect="1"/>
          </p:cNvPicPr>
          <p:nvPr/>
        </p:nvPicPr>
        <p:blipFill>
          <a:blip r:embed="rId3"/>
          <a:stretch>
            <a:fillRect/>
          </a:stretch>
        </p:blipFill>
        <p:spPr>
          <a:xfrm>
            <a:off x="0" y="0"/>
            <a:ext cx="12192000" cy="6858000"/>
          </a:xfrm>
          <a:prstGeom prst="rect">
            <a:avLst/>
          </a:prstGeom>
          <a:ln w="12700">
            <a:miter lim="400000"/>
          </a:ln>
        </p:spPr>
      </p:pic>
      <p:pic>
        <p:nvPicPr>
          <p:cNvPr id="200" name="Google Shape;85;p13" descr="Google Shape;85;p13"/>
          <p:cNvPicPr>
            <a:picLocks noChangeAspect="1"/>
          </p:cNvPicPr>
          <p:nvPr/>
        </p:nvPicPr>
        <p:blipFill>
          <a:blip r:embed="rId4"/>
          <a:stretch>
            <a:fillRect/>
          </a:stretch>
        </p:blipFill>
        <p:spPr>
          <a:xfrm>
            <a:off x="571500" y="1171575"/>
            <a:ext cx="3492401" cy="5305425"/>
          </a:xfrm>
          <a:prstGeom prst="rect">
            <a:avLst/>
          </a:prstGeom>
          <a:ln w="12700">
            <a:miter lim="400000"/>
          </a:ln>
        </p:spPr>
      </p:pic>
      <p:pic>
        <p:nvPicPr>
          <p:cNvPr id="201" name="Google Shape;86;p13" descr="Google Shape;86;p13"/>
          <p:cNvPicPr>
            <a:picLocks noChangeAspect="1"/>
          </p:cNvPicPr>
          <p:nvPr/>
        </p:nvPicPr>
        <p:blipFill>
          <a:blip r:embed="rId5"/>
          <a:stretch>
            <a:fillRect/>
          </a:stretch>
        </p:blipFill>
        <p:spPr>
          <a:xfrm>
            <a:off x="4349650" y="1171575"/>
            <a:ext cx="3492549" cy="5305425"/>
          </a:xfrm>
          <a:prstGeom prst="rect">
            <a:avLst/>
          </a:prstGeom>
          <a:ln w="12700">
            <a:miter lim="400000"/>
          </a:ln>
        </p:spPr>
      </p:pic>
      <p:pic>
        <p:nvPicPr>
          <p:cNvPr id="202" name="Google Shape;87;p13" descr="Google Shape;87;p13"/>
          <p:cNvPicPr>
            <a:picLocks noChangeAspect="1"/>
          </p:cNvPicPr>
          <p:nvPr/>
        </p:nvPicPr>
        <p:blipFill>
          <a:blip r:embed="rId6"/>
          <a:stretch>
            <a:fillRect/>
          </a:stretch>
        </p:blipFill>
        <p:spPr>
          <a:xfrm>
            <a:off x="8127949" y="1171575"/>
            <a:ext cx="3492401" cy="5305425"/>
          </a:xfrm>
          <a:prstGeom prst="rect">
            <a:avLst/>
          </a:prstGeom>
          <a:ln w="12700">
            <a:miter lim="400000"/>
          </a:ln>
        </p:spPr>
      </p:pic>
      <p:sp>
        <p:nvSpPr>
          <p:cNvPr id="203" name="Google Shape;93;p13"/>
          <p:cNvSpPr txBox="1"/>
          <p:nvPr/>
        </p:nvSpPr>
        <p:spPr>
          <a:xfrm>
            <a:off x="571500" y="381000"/>
            <a:ext cx="11601450"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0F172A"/>
                </a:solidFill>
                <a:latin typeface="Outfit"/>
                <a:ea typeface="Outfit"/>
                <a:cs typeface="Outfit"/>
                <a:sym typeface="Outfit"/>
              </a:defRPr>
            </a:lvl1pPr>
          </a:lstStyle>
          <a:p>
            <a:r>
              <a:t>Key Terminology</a:t>
            </a:r>
          </a:p>
        </p:txBody>
      </p:sp>
      <p:pic>
        <p:nvPicPr>
          <p:cNvPr id="204" name="Google Shape;94;p13" descr="Google Shape;94;p13"/>
          <p:cNvPicPr>
            <a:picLocks noChangeAspect="1"/>
          </p:cNvPicPr>
          <p:nvPr/>
        </p:nvPicPr>
        <p:blipFill>
          <a:blip r:embed="rId7"/>
          <a:stretch>
            <a:fillRect/>
          </a:stretch>
        </p:blipFill>
        <p:spPr>
          <a:xfrm>
            <a:off x="866775" y="1466850"/>
            <a:ext cx="571500" cy="571500"/>
          </a:xfrm>
          <a:prstGeom prst="rect">
            <a:avLst/>
          </a:prstGeom>
          <a:ln w="12700">
            <a:miter lim="400000"/>
          </a:ln>
        </p:spPr>
      </p:pic>
      <p:sp>
        <p:nvSpPr>
          <p:cNvPr id="205" name="Google Shape;95;p13"/>
          <p:cNvSpPr txBox="1"/>
          <p:nvPr/>
        </p:nvSpPr>
        <p:spPr>
          <a:xfrm>
            <a:off x="2018689" y="1517650"/>
            <a:ext cx="1833280" cy="368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400" b="1">
                <a:solidFill>
                  <a:srgbClr val="0F172A"/>
                </a:solidFill>
                <a:latin typeface="Outfit"/>
                <a:ea typeface="Outfit"/>
                <a:cs typeface="Outfit"/>
                <a:sym typeface="Outfit"/>
              </a:defRPr>
            </a:lvl1pPr>
          </a:lstStyle>
          <a:p>
            <a:r>
              <a:t>SNP</a:t>
            </a:r>
          </a:p>
        </p:txBody>
      </p:sp>
      <p:sp>
        <p:nvSpPr>
          <p:cNvPr id="206" name="Google Shape;97;p13"/>
          <p:cNvSpPr txBox="1"/>
          <p:nvPr/>
        </p:nvSpPr>
        <p:spPr>
          <a:xfrm>
            <a:off x="5844154" y="1384300"/>
            <a:ext cx="2110264" cy="736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400" b="1">
                <a:solidFill>
                  <a:srgbClr val="0F172A"/>
                </a:solidFill>
                <a:latin typeface="Outfit"/>
                <a:ea typeface="Outfit"/>
                <a:cs typeface="Outfit"/>
                <a:sym typeface="Outfit"/>
              </a:defRPr>
            </a:lvl1pPr>
          </a:lstStyle>
          <a:p>
            <a:r>
              <a:t>Importance Score</a:t>
            </a:r>
          </a:p>
        </p:txBody>
      </p:sp>
      <p:sp>
        <p:nvSpPr>
          <p:cNvPr id="207" name="Google Shape;99;p13"/>
          <p:cNvSpPr txBox="1"/>
          <p:nvPr/>
        </p:nvSpPr>
        <p:spPr>
          <a:xfrm>
            <a:off x="9734670" y="1616075"/>
            <a:ext cx="1714920" cy="368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400" b="1">
                <a:solidFill>
                  <a:srgbClr val="0F172A"/>
                </a:solidFill>
                <a:latin typeface="Outfit"/>
                <a:ea typeface="Outfit"/>
                <a:cs typeface="Outfit"/>
                <a:sym typeface="Outfit"/>
              </a:defRPr>
            </a:lvl1pPr>
          </a:lstStyle>
          <a:p>
            <a:r>
              <a:t>AUC</a:t>
            </a:r>
          </a:p>
        </p:txBody>
      </p:sp>
      <p:pic>
        <p:nvPicPr>
          <p:cNvPr id="208" name="Google Shape;101;p13" descr="Google Shape;101;p13"/>
          <p:cNvPicPr>
            <a:picLocks noChangeAspect="1"/>
          </p:cNvPicPr>
          <p:nvPr/>
        </p:nvPicPr>
        <p:blipFill>
          <a:blip r:embed="rId8"/>
          <a:stretch>
            <a:fillRect/>
          </a:stretch>
        </p:blipFill>
        <p:spPr>
          <a:xfrm>
            <a:off x="1033462" y="1619250"/>
            <a:ext cx="238126" cy="266700"/>
          </a:xfrm>
          <a:prstGeom prst="rect">
            <a:avLst/>
          </a:prstGeom>
          <a:ln w="12700">
            <a:miter lim="400000"/>
          </a:ln>
        </p:spPr>
      </p:pic>
      <p:sp>
        <p:nvSpPr>
          <p:cNvPr id="209" name="Google Shape;93;p13"/>
          <p:cNvSpPr txBox="1"/>
          <p:nvPr/>
        </p:nvSpPr>
        <p:spPr>
          <a:xfrm>
            <a:off x="576262" y="2654300"/>
            <a:ext cx="3482876" cy="2171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130342" indent="-130342">
              <a:lnSpc>
                <a:spcPct val="160000"/>
              </a:lnSpc>
              <a:buSzPct val="100000"/>
              <a:buChar char="•"/>
              <a:defRPr sz="1600">
                <a:solidFill>
                  <a:srgbClr val="475569"/>
                </a:solidFill>
                <a:latin typeface="DM Sans"/>
                <a:ea typeface="DM Sans"/>
                <a:cs typeface="DM Sans"/>
                <a:sym typeface="DM Sans"/>
              </a:defRPr>
            </a:pPr>
            <a:r>
              <a:rPr b="1" u="sng"/>
              <a:t>S</a:t>
            </a:r>
            <a:r>
              <a:rPr b="1"/>
              <a:t>ingle </a:t>
            </a:r>
            <a:r>
              <a:rPr b="1" u="sng"/>
              <a:t>N</a:t>
            </a:r>
            <a:r>
              <a:rPr b="1"/>
              <a:t>ucleotide </a:t>
            </a:r>
            <a:r>
              <a:rPr b="1" u="sng"/>
              <a:t>P</a:t>
            </a:r>
            <a:r>
              <a:rPr b="1"/>
              <a:t>olymorphism</a:t>
            </a:r>
          </a:p>
          <a:p>
            <a:pPr marL="130342" indent="-130342">
              <a:lnSpc>
                <a:spcPct val="160000"/>
              </a:lnSpc>
              <a:buSzPct val="100000"/>
              <a:buChar char="•"/>
              <a:defRPr sz="1600">
                <a:solidFill>
                  <a:srgbClr val="475569"/>
                </a:solidFill>
                <a:latin typeface="DM Sans"/>
                <a:ea typeface="DM Sans"/>
                <a:cs typeface="DM Sans"/>
                <a:sym typeface="DM Sans"/>
              </a:defRPr>
            </a:pPr>
            <a:r>
              <a:t>A one-letter difference (A/C/G/T) on DNA</a:t>
            </a:r>
          </a:p>
          <a:p>
            <a:pPr marL="130342" indent="-130342">
              <a:lnSpc>
                <a:spcPct val="160000"/>
              </a:lnSpc>
              <a:buSzPct val="100000"/>
              <a:buChar char="•"/>
              <a:defRPr sz="1600">
                <a:solidFill>
                  <a:srgbClr val="475569"/>
                </a:solidFill>
                <a:latin typeface="DM Sans"/>
                <a:ea typeface="DM Sans"/>
                <a:cs typeface="DM Sans"/>
                <a:sym typeface="DM Sans"/>
              </a:defRPr>
            </a:pPr>
            <a:r>
              <a:t>May influence traits or disease risks</a:t>
            </a:r>
          </a:p>
          <a:p>
            <a:pPr marL="130342" indent="-130342">
              <a:lnSpc>
                <a:spcPct val="160000"/>
              </a:lnSpc>
              <a:buSzPct val="100000"/>
              <a:buChar char="•"/>
              <a:defRPr sz="1600">
                <a:solidFill>
                  <a:srgbClr val="475569"/>
                </a:solidFill>
                <a:latin typeface="DM Sans"/>
                <a:ea typeface="DM Sans"/>
                <a:cs typeface="DM Sans"/>
                <a:sym typeface="DM Sans"/>
              </a:defRPr>
            </a:pPr>
            <a:r>
              <a:t>A DNA “mutation” (inappropriate but close)</a:t>
            </a:r>
          </a:p>
        </p:txBody>
      </p:sp>
      <p:sp>
        <p:nvSpPr>
          <p:cNvPr id="210" name="Google Shape;95;p13"/>
          <p:cNvSpPr txBox="1"/>
          <p:nvPr/>
        </p:nvSpPr>
        <p:spPr>
          <a:xfrm>
            <a:off x="4349650" y="2654300"/>
            <a:ext cx="3492702" cy="13995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130342" indent="-130342">
              <a:lnSpc>
                <a:spcPct val="160000"/>
              </a:lnSpc>
              <a:buSzPct val="100000"/>
              <a:buChar char="•"/>
              <a:defRPr sz="1600">
                <a:solidFill>
                  <a:srgbClr val="475569"/>
                </a:solidFill>
                <a:latin typeface="DM Sans"/>
                <a:ea typeface="DM Sans"/>
                <a:cs typeface="DM Sans"/>
                <a:sym typeface="DM Sans"/>
              </a:defRPr>
            </a:pPr>
            <a:r>
              <a:t>Random Forest </a:t>
            </a:r>
            <a:r>
              <a:rPr b="1"/>
              <a:t>predictive power</a:t>
            </a:r>
            <a:r>
              <a:t>: contribution to the predictive accuracy</a:t>
            </a:r>
          </a:p>
          <a:p>
            <a:pPr marL="130342" indent="-130342">
              <a:lnSpc>
                <a:spcPct val="160000"/>
              </a:lnSpc>
              <a:buSzPct val="100000"/>
              <a:buChar char="•"/>
              <a:defRPr sz="1600">
                <a:solidFill>
                  <a:srgbClr val="475569"/>
                </a:solidFill>
                <a:latin typeface="DM Sans"/>
                <a:ea typeface="DM Sans"/>
                <a:cs typeface="DM Sans"/>
                <a:sym typeface="DM Sans"/>
              </a:defRPr>
            </a:pPr>
            <a:r>
              <a:t>The higher, the more contribution</a:t>
            </a:r>
          </a:p>
        </p:txBody>
      </p:sp>
      <p:pic>
        <p:nvPicPr>
          <p:cNvPr id="211" name="pasted-movie.png" descr="pasted-movie.png"/>
          <p:cNvPicPr>
            <a:picLocks noChangeAspect="1"/>
          </p:cNvPicPr>
          <p:nvPr/>
        </p:nvPicPr>
        <p:blipFill>
          <a:blip r:embed="rId9"/>
          <a:stretch>
            <a:fillRect/>
          </a:stretch>
        </p:blipFill>
        <p:spPr>
          <a:xfrm>
            <a:off x="4432383" y="1466850"/>
            <a:ext cx="1210161" cy="666750"/>
          </a:xfrm>
          <a:prstGeom prst="rect">
            <a:avLst/>
          </a:prstGeom>
          <a:ln w="12700">
            <a:miter lim="400000"/>
          </a:ln>
        </p:spPr>
      </p:pic>
      <p:sp>
        <p:nvSpPr>
          <p:cNvPr id="212" name="Google Shape;95;p13"/>
          <p:cNvSpPr txBox="1"/>
          <p:nvPr/>
        </p:nvSpPr>
        <p:spPr>
          <a:xfrm>
            <a:off x="8127799" y="2654300"/>
            <a:ext cx="3492702" cy="25577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130342" indent="-130342">
              <a:lnSpc>
                <a:spcPct val="160000"/>
              </a:lnSpc>
              <a:buSzPct val="100000"/>
              <a:buChar char="•"/>
              <a:defRPr sz="1600" b="1">
                <a:solidFill>
                  <a:srgbClr val="475569"/>
                </a:solidFill>
                <a:latin typeface="DM Sans"/>
                <a:ea typeface="DM Sans"/>
                <a:cs typeface="DM Sans"/>
                <a:sym typeface="DM Sans"/>
              </a:defRPr>
            </a:pPr>
            <a:r>
              <a:rPr u="sng"/>
              <a:t>A</a:t>
            </a:r>
            <a:r>
              <a:t>rea </a:t>
            </a:r>
            <a:r>
              <a:rPr u="sng"/>
              <a:t>U</a:t>
            </a:r>
            <a:r>
              <a:t>nder the </a:t>
            </a:r>
            <a:r>
              <a:rPr u="sng"/>
              <a:t>C</a:t>
            </a:r>
            <a:r>
              <a:t>urve</a:t>
            </a:r>
          </a:p>
          <a:p>
            <a:pPr marL="130342" indent="-130342">
              <a:lnSpc>
                <a:spcPct val="160000"/>
              </a:lnSpc>
              <a:buSzPct val="100000"/>
              <a:buChar char="•"/>
              <a:defRPr sz="1600">
                <a:solidFill>
                  <a:srgbClr val="475569"/>
                </a:solidFill>
                <a:latin typeface="DM Sans"/>
                <a:ea typeface="DM Sans"/>
                <a:cs typeface="DM Sans"/>
                <a:sym typeface="DM Sans"/>
              </a:defRPr>
            </a:pPr>
            <a:r>
              <a:t>A performance metric ranging from 0 to 1. </a:t>
            </a:r>
          </a:p>
          <a:p>
            <a:pPr marL="130342" indent="-130342">
              <a:lnSpc>
                <a:spcPct val="160000"/>
              </a:lnSpc>
              <a:buSzPct val="100000"/>
              <a:buChar char="•"/>
              <a:defRPr sz="1600">
                <a:solidFill>
                  <a:srgbClr val="475569"/>
                </a:solidFill>
                <a:latin typeface="DM Sans"/>
                <a:ea typeface="DM Sans"/>
                <a:cs typeface="DM Sans"/>
                <a:sym typeface="DM Sans"/>
              </a:defRPr>
            </a:pPr>
            <a:r>
              <a:t>Measures the ability to distinguish between classes. </a:t>
            </a:r>
          </a:p>
          <a:p>
            <a:pPr marL="130342" indent="-130342">
              <a:lnSpc>
                <a:spcPct val="160000"/>
              </a:lnSpc>
              <a:buSzPct val="100000"/>
              <a:buChar char="•"/>
              <a:defRPr sz="1600">
                <a:solidFill>
                  <a:srgbClr val="475569"/>
                </a:solidFill>
                <a:latin typeface="DM Sans"/>
                <a:ea typeface="DM Sans"/>
                <a:cs typeface="DM Sans"/>
                <a:sym typeface="DM Sans"/>
              </a:defRPr>
            </a:pPr>
            <a:r>
              <a:rPr b="1"/>
              <a:t>0.5 is random guessing</a:t>
            </a:r>
          </a:p>
          <a:p>
            <a:pPr marL="130342" indent="-130342">
              <a:lnSpc>
                <a:spcPct val="160000"/>
              </a:lnSpc>
              <a:buSzPct val="100000"/>
              <a:buChar char="•"/>
              <a:defRPr sz="1600">
                <a:solidFill>
                  <a:srgbClr val="475569"/>
                </a:solidFill>
                <a:latin typeface="DM Sans"/>
                <a:ea typeface="DM Sans"/>
                <a:cs typeface="DM Sans"/>
                <a:sym typeface="DM Sans"/>
              </a:defRPr>
            </a:pPr>
            <a:r>
              <a:rPr b="1"/>
              <a:t>1.0 is perfect prediction.</a:t>
            </a:r>
          </a:p>
        </p:txBody>
      </p:sp>
      <p:pic>
        <p:nvPicPr>
          <p:cNvPr id="213" name="Image" descr="Image"/>
          <p:cNvPicPr>
            <a:picLocks noChangeAspect="1"/>
          </p:cNvPicPr>
          <p:nvPr/>
        </p:nvPicPr>
        <p:blipFill>
          <a:blip r:embed="rId10"/>
          <a:stretch>
            <a:fillRect/>
          </a:stretch>
        </p:blipFill>
        <p:spPr>
          <a:xfrm>
            <a:off x="8028877" y="1277364"/>
            <a:ext cx="1340635" cy="1121922"/>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 name="Google Shape;175;p18" descr="Google Shape;175;p18"/>
          <p:cNvPicPr>
            <a:picLocks noChangeAspect="1"/>
          </p:cNvPicPr>
          <p:nvPr/>
        </p:nvPicPr>
        <p:blipFill>
          <a:blip r:embed="rId3"/>
          <a:stretch>
            <a:fillRect/>
          </a:stretch>
        </p:blipFill>
        <p:spPr>
          <a:xfrm>
            <a:off x="0" y="0"/>
            <a:ext cx="12192000" cy="6858000"/>
          </a:xfrm>
          <a:prstGeom prst="rect">
            <a:avLst/>
          </a:prstGeom>
          <a:ln w="12700">
            <a:miter lim="400000"/>
          </a:ln>
        </p:spPr>
      </p:pic>
      <p:pic>
        <p:nvPicPr>
          <p:cNvPr id="216" name="Google Shape;182;p18" descr="Google Shape;182;p18"/>
          <p:cNvPicPr>
            <a:picLocks noChangeAspect="1"/>
          </p:cNvPicPr>
          <p:nvPr/>
        </p:nvPicPr>
        <p:blipFill>
          <a:blip r:embed="rId4"/>
          <a:stretch>
            <a:fillRect/>
          </a:stretch>
        </p:blipFill>
        <p:spPr>
          <a:xfrm>
            <a:off x="3797473" y="3431294"/>
            <a:ext cx="856313" cy="988053"/>
          </a:xfrm>
          <a:prstGeom prst="rect">
            <a:avLst/>
          </a:prstGeom>
          <a:ln w="12700">
            <a:miter lim="400000"/>
          </a:ln>
        </p:spPr>
      </p:pic>
      <p:sp>
        <p:nvSpPr>
          <p:cNvPr id="217" name="Google Shape;183;p18"/>
          <p:cNvSpPr txBox="1"/>
          <p:nvPr/>
        </p:nvSpPr>
        <p:spPr>
          <a:xfrm>
            <a:off x="5155184" y="1803573"/>
            <a:ext cx="2090262"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2100" b="1">
                <a:solidFill>
                  <a:srgbClr val="0F766E"/>
                </a:solidFill>
                <a:latin typeface="Roboto Slab"/>
                <a:ea typeface="Roboto Slab"/>
                <a:cs typeface="Roboto Slab"/>
                <a:sym typeface="Roboto Slab"/>
              </a:defRPr>
            </a:lvl1pPr>
          </a:lstStyle>
          <a:p>
            <a:r>
              <a:t>Step 2: Ranking</a:t>
            </a:r>
          </a:p>
        </p:txBody>
      </p:sp>
      <p:sp>
        <p:nvSpPr>
          <p:cNvPr id="218" name="Google Shape;186;p18"/>
          <p:cNvSpPr txBox="1"/>
          <p:nvPr/>
        </p:nvSpPr>
        <p:spPr>
          <a:xfrm>
            <a:off x="9105642" y="1803573"/>
            <a:ext cx="2273567"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2100" b="1">
                <a:solidFill>
                  <a:srgbClr val="0F766E"/>
                </a:solidFill>
                <a:latin typeface="Roboto Slab"/>
                <a:ea typeface="Roboto Slab"/>
                <a:cs typeface="Roboto Slab"/>
                <a:sym typeface="Roboto Slab"/>
              </a:defRPr>
            </a:lvl1pPr>
          </a:lstStyle>
          <a:p>
            <a:r>
              <a:t>Step 3: Prediction</a:t>
            </a:r>
          </a:p>
        </p:txBody>
      </p:sp>
      <p:sp>
        <p:nvSpPr>
          <p:cNvPr id="219" name="Google Shape;187;p18"/>
          <p:cNvSpPr txBox="1"/>
          <p:nvPr/>
        </p:nvSpPr>
        <p:spPr>
          <a:xfrm>
            <a:off x="9566385" y="3429000"/>
            <a:ext cx="2165302" cy="9601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a:solidFill>
                  <a:srgbClr val="334155"/>
                </a:solidFill>
                <a:latin typeface="Open Sans"/>
                <a:ea typeface="Open Sans"/>
                <a:cs typeface="Open Sans"/>
                <a:sym typeface="Open Sans"/>
              </a:defRPr>
            </a:lvl1pPr>
          </a:lstStyle>
          <a:p>
            <a:r>
              <a:t>Build final models using Top N SNPs (10, 40, 160, 320) + 4 Clinical Traits.</a:t>
            </a:r>
          </a:p>
        </p:txBody>
      </p:sp>
      <p:sp>
        <p:nvSpPr>
          <p:cNvPr id="220" name="Google Shape;190;p18"/>
          <p:cNvSpPr txBox="1"/>
          <p:nvPr/>
        </p:nvSpPr>
        <p:spPr>
          <a:xfrm>
            <a:off x="571500" y="571500"/>
            <a:ext cx="11601450"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Methodology: Feature (SNP) Selection</a:t>
            </a:r>
          </a:p>
        </p:txBody>
      </p:sp>
      <p:sp>
        <p:nvSpPr>
          <p:cNvPr id="221" name="Google Shape;191;p18"/>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pic>
        <p:nvPicPr>
          <p:cNvPr id="222" name="Picture 11" descr="Picture 11"/>
          <p:cNvPicPr>
            <a:picLocks noChangeAspect="1"/>
          </p:cNvPicPr>
          <p:nvPr/>
        </p:nvPicPr>
        <p:blipFill>
          <a:blip r:embed="rId5"/>
          <a:stretch>
            <a:fillRect/>
          </a:stretch>
        </p:blipFill>
        <p:spPr>
          <a:xfrm>
            <a:off x="-9303" y="3972447"/>
            <a:ext cx="3568243" cy="2857134"/>
          </a:xfrm>
          <a:prstGeom prst="rect">
            <a:avLst/>
          </a:prstGeom>
          <a:ln w="12700">
            <a:miter lim="400000"/>
          </a:ln>
        </p:spPr>
      </p:pic>
      <p:sp>
        <p:nvSpPr>
          <p:cNvPr id="223" name="Line"/>
          <p:cNvSpPr/>
          <p:nvPr/>
        </p:nvSpPr>
        <p:spPr>
          <a:xfrm flipV="1">
            <a:off x="470608" y="3406486"/>
            <a:ext cx="1" cy="1315742"/>
          </a:xfrm>
          <a:prstGeom prst="line">
            <a:avLst/>
          </a:prstGeom>
          <a:ln w="25400">
            <a:solidFill>
              <a:schemeClr val="accent1"/>
            </a:solidFill>
          </a:ln>
        </p:spPr>
        <p:txBody>
          <a:bodyPr lIns="45718" tIns="45718" rIns="45718" bIns="45718"/>
          <a:lstStyle/>
          <a:p>
            <a:endParaRPr/>
          </a:p>
        </p:txBody>
      </p:sp>
      <p:sp>
        <p:nvSpPr>
          <p:cNvPr id="224" name="Oval"/>
          <p:cNvSpPr/>
          <p:nvPr/>
        </p:nvSpPr>
        <p:spPr>
          <a:xfrm>
            <a:off x="193651" y="2945227"/>
            <a:ext cx="929918" cy="444501"/>
          </a:xfrm>
          <a:prstGeom prst="ellipse">
            <a:avLst/>
          </a:prstGeom>
          <a:solidFill>
            <a:srgbClr val="FFFFFF"/>
          </a:solidFill>
          <a:ln w="25400">
            <a:solidFill>
              <a:schemeClr val="accent1"/>
            </a:solidFill>
          </a:ln>
        </p:spPr>
        <p:txBody>
          <a:bodyPr lIns="0" tIns="0" rIns="0" bIns="0"/>
          <a:lstStyle/>
          <a:p>
            <a:endParaRPr/>
          </a:p>
        </p:txBody>
      </p:sp>
      <p:sp>
        <p:nvSpPr>
          <p:cNvPr id="225" name="4k SNPs"/>
          <p:cNvSpPr txBox="1"/>
          <p:nvPr/>
        </p:nvSpPr>
        <p:spPr>
          <a:xfrm>
            <a:off x="212208" y="3049916"/>
            <a:ext cx="704367"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4k SNPs</a:t>
            </a:r>
          </a:p>
        </p:txBody>
      </p:sp>
      <p:sp>
        <p:nvSpPr>
          <p:cNvPr id="226" name="Oval"/>
          <p:cNvSpPr/>
          <p:nvPr/>
        </p:nvSpPr>
        <p:spPr>
          <a:xfrm>
            <a:off x="949378" y="2945227"/>
            <a:ext cx="929918" cy="444501"/>
          </a:xfrm>
          <a:prstGeom prst="ellipse">
            <a:avLst/>
          </a:prstGeom>
          <a:solidFill>
            <a:srgbClr val="FFFFFF"/>
          </a:solidFill>
          <a:ln w="25400">
            <a:solidFill>
              <a:schemeClr val="accent1"/>
            </a:solidFill>
          </a:ln>
        </p:spPr>
        <p:txBody>
          <a:bodyPr lIns="0" tIns="0" rIns="0" bIns="0"/>
          <a:lstStyle/>
          <a:p>
            <a:endParaRPr/>
          </a:p>
        </p:txBody>
      </p:sp>
      <p:sp>
        <p:nvSpPr>
          <p:cNvPr id="227" name="4k SNPs"/>
          <p:cNvSpPr txBox="1"/>
          <p:nvPr/>
        </p:nvSpPr>
        <p:spPr>
          <a:xfrm>
            <a:off x="1062153" y="3059527"/>
            <a:ext cx="704367"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4k SNPs</a:t>
            </a:r>
          </a:p>
        </p:txBody>
      </p:sp>
      <p:sp>
        <p:nvSpPr>
          <p:cNvPr id="228" name="Line"/>
          <p:cNvSpPr/>
          <p:nvPr/>
        </p:nvSpPr>
        <p:spPr>
          <a:xfrm flipV="1">
            <a:off x="523061" y="3408803"/>
            <a:ext cx="681491" cy="1311108"/>
          </a:xfrm>
          <a:prstGeom prst="line">
            <a:avLst/>
          </a:prstGeom>
          <a:ln w="25400">
            <a:solidFill>
              <a:schemeClr val="accent1"/>
            </a:solidFill>
          </a:ln>
        </p:spPr>
        <p:txBody>
          <a:bodyPr lIns="45718" tIns="45718" rIns="45718" bIns="45718"/>
          <a:lstStyle/>
          <a:p>
            <a:endParaRPr/>
          </a:p>
        </p:txBody>
      </p:sp>
      <p:sp>
        <p:nvSpPr>
          <p:cNvPr id="229" name="…"/>
          <p:cNvSpPr txBox="1"/>
          <p:nvPr/>
        </p:nvSpPr>
        <p:spPr>
          <a:xfrm>
            <a:off x="2023940" y="3059527"/>
            <a:ext cx="190501"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a:t>
            </a:r>
          </a:p>
        </p:txBody>
      </p:sp>
      <p:sp>
        <p:nvSpPr>
          <p:cNvPr id="230" name="Oval"/>
          <p:cNvSpPr/>
          <p:nvPr/>
        </p:nvSpPr>
        <p:spPr>
          <a:xfrm>
            <a:off x="2308637" y="2945227"/>
            <a:ext cx="929918" cy="444501"/>
          </a:xfrm>
          <a:prstGeom prst="ellipse">
            <a:avLst/>
          </a:prstGeom>
          <a:solidFill>
            <a:srgbClr val="FFFFFF"/>
          </a:solidFill>
          <a:ln w="25400">
            <a:solidFill>
              <a:schemeClr val="accent1"/>
            </a:solidFill>
          </a:ln>
        </p:spPr>
        <p:txBody>
          <a:bodyPr lIns="0" tIns="0" rIns="0" bIns="0"/>
          <a:lstStyle/>
          <a:p>
            <a:endParaRPr/>
          </a:p>
        </p:txBody>
      </p:sp>
      <p:sp>
        <p:nvSpPr>
          <p:cNvPr id="231" name="4k SNPs"/>
          <p:cNvSpPr txBox="1"/>
          <p:nvPr/>
        </p:nvSpPr>
        <p:spPr>
          <a:xfrm>
            <a:off x="2471860" y="3059527"/>
            <a:ext cx="704368"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4k SNPs</a:t>
            </a:r>
          </a:p>
        </p:txBody>
      </p:sp>
      <p:sp>
        <p:nvSpPr>
          <p:cNvPr id="232" name="Line"/>
          <p:cNvSpPr/>
          <p:nvPr/>
        </p:nvSpPr>
        <p:spPr>
          <a:xfrm flipH="1" flipV="1">
            <a:off x="2883774" y="3442506"/>
            <a:ext cx="379177" cy="1308334"/>
          </a:xfrm>
          <a:prstGeom prst="line">
            <a:avLst/>
          </a:prstGeom>
          <a:ln w="25400">
            <a:solidFill>
              <a:schemeClr val="accent1"/>
            </a:solidFill>
          </a:ln>
        </p:spPr>
        <p:txBody>
          <a:bodyPr lIns="45718" tIns="45718" rIns="45718" bIns="45718"/>
          <a:lstStyle/>
          <a:p>
            <a:endParaRPr/>
          </a:p>
        </p:txBody>
      </p:sp>
      <p:sp>
        <p:nvSpPr>
          <p:cNvPr id="233" name="RF"/>
          <p:cNvSpPr txBox="1"/>
          <p:nvPr/>
        </p:nvSpPr>
        <p:spPr>
          <a:xfrm>
            <a:off x="533755" y="2695543"/>
            <a:ext cx="249710"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RF</a:t>
            </a:r>
          </a:p>
        </p:txBody>
      </p:sp>
      <p:sp>
        <p:nvSpPr>
          <p:cNvPr id="234" name="RF"/>
          <p:cNvSpPr txBox="1"/>
          <p:nvPr/>
        </p:nvSpPr>
        <p:spPr>
          <a:xfrm>
            <a:off x="1418225" y="2678222"/>
            <a:ext cx="249710"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RF</a:t>
            </a:r>
          </a:p>
        </p:txBody>
      </p:sp>
      <p:sp>
        <p:nvSpPr>
          <p:cNvPr id="235" name="RF"/>
          <p:cNvSpPr txBox="1"/>
          <p:nvPr/>
        </p:nvSpPr>
        <p:spPr>
          <a:xfrm>
            <a:off x="2699189" y="2678222"/>
            <a:ext cx="249710"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RF</a:t>
            </a:r>
          </a:p>
        </p:txBody>
      </p:sp>
      <p:sp>
        <p:nvSpPr>
          <p:cNvPr id="236" name="Google Shape;180;p18"/>
          <p:cNvSpPr txBox="1"/>
          <p:nvPr/>
        </p:nvSpPr>
        <p:spPr>
          <a:xfrm>
            <a:off x="450676" y="1803573"/>
            <a:ext cx="3085454"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2100" b="1">
                <a:solidFill>
                  <a:srgbClr val="0F766E"/>
                </a:solidFill>
                <a:latin typeface="Roboto Slab"/>
                <a:ea typeface="Roboto Slab"/>
                <a:cs typeface="Roboto Slab"/>
                <a:sym typeface="Roboto Slab"/>
              </a:defRPr>
            </a:lvl1pPr>
          </a:lstStyle>
          <a:p>
            <a:r>
              <a:t>Step 1: Initial Screen</a:t>
            </a:r>
          </a:p>
        </p:txBody>
      </p:sp>
      <p:sp>
        <p:nvSpPr>
          <p:cNvPr id="237" name="Oval"/>
          <p:cNvSpPr/>
          <p:nvPr/>
        </p:nvSpPr>
        <p:spPr>
          <a:xfrm>
            <a:off x="5141964" y="3703070"/>
            <a:ext cx="929919" cy="444501"/>
          </a:xfrm>
          <a:prstGeom prst="ellipse">
            <a:avLst/>
          </a:prstGeom>
          <a:solidFill>
            <a:srgbClr val="FFFFFF"/>
          </a:solidFill>
          <a:ln w="25400">
            <a:solidFill>
              <a:schemeClr val="accent1"/>
            </a:solidFill>
          </a:ln>
        </p:spPr>
        <p:txBody>
          <a:bodyPr lIns="0" tIns="0" rIns="0" bIns="0"/>
          <a:lstStyle/>
          <a:p>
            <a:endParaRPr/>
          </a:p>
        </p:txBody>
      </p:sp>
      <p:sp>
        <p:nvSpPr>
          <p:cNvPr id="238" name="RF"/>
          <p:cNvSpPr txBox="1"/>
          <p:nvPr/>
        </p:nvSpPr>
        <p:spPr>
          <a:xfrm>
            <a:off x="6589262" y="3204326"/>
            <a:ext cx="249709"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RF</a:t>
            </a:r>
          </a:p>
        </p:txBody>
      </p:sp>
      <p:pic>
        <p:nvPicPr>
          <p:cNvPr id="239" name="Google Shape;182;p18" descr="Google Shape;182;p18"/>
          <p:cNvPicPr>
            <a:picLocks noChangeAspect="1"/>
          </p:cNvPicPr>
          <p:nvPr/>
        </p:nvPicPr>
        <p:blipFill>
          <a:blip r:embed="rId4"/>
          <a:stretch>
            <a:fillRect/>
          </a:stretch>
        </p:blipFill>
        <p:spPr>
          <a:xfrm>
            <a:off x="6413922" y="3431294"/>
            <a:ext cx="856313" cy="988053"/>
          </a:xfrm>
          <a:prstGeom prst="rect">
            <a:avLst/>
          </a:prstGeom>
          <a:ln w="12700">
            <a:miter lim="400000"/>
          </a:ln>
        </p:spPr>
      </p:pic>
      <p:sp>
        <p:nvSpPr>
          <p:cNvPr id="240" name="Top 4k SNPs Importance…"/>
          <p:cNvSpPr txBox="1"/>
          <p:nvPr/>
        </p:nvSpPr>
        <p:spPr>
          <a:xfrm>
            <a:off x="5208973" y="2988426"/>
            <a:ext cx="1040434" cy="647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Top 4k SNPs</a:t>
            </a:r>
            <a:br/>
            <a:r>
              <a:t>Importance</a:t>
            </a:r>
          </a:p>
          <a:p>
            <a:r>
              <a:t>Score</a:t>
            </a:r>
          </a:p>
        </p:txBody>
      </p:sp>
      <p:sp>
        <p:nvSpPr>
          <p:cNvPr id="241" name="Oval"/>
          <p:cNvSpPr/>
          <p:nvPr/>
        </p:nvSpPr>
        <p:spPr>
          <a:xfrm>
            <a:off x="7532826" y="3703070"/>
            <a:ext cx="929918" cy="444501"/>
          </a:xfrm>
          <a:prstGeom prst="ellipse">
            <a:avLst/>
          </a:prstGeom>
          <a:solidFill>
            <a:srgbClr val="FFFFFF"/>
          </a:solidFill>
          <a:ln w="25400">
            <a:solidFill>
              <a:schemeClr val="accent1"/>
            </a:solidFill>
          </a:ln>
        </p:spPr>
        <p:txBody>
          <a:bodyPr lIns="0" tIns="0" rIns="0" bIns="0"/>
          <a:lstStyle/>
          <a:p>
            <a:endParaRPr/>
          </a:p>
        </p:txBody>
      </p:sp>
      <p:sp>
        <p:nvSpPr>
          <p:cNvPr id="242" name="Reranked 4k SNPs Importance…"/>
          <p:cNvSpPr txBox="1"/>
          <p:nvPr/>
        </p:nvSpPr>
        <p:spPr>
          <a:xfrm>
            <a:off x="7235438" y="2980679"/>
            <a:ext cx="1524695" cy="647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Reranked 4k SNPs</a:t>
            </a:r>
            <a:br/>
            <a:r>
              <a:t>Importance</a:t>
            </a:r>
          </a:p>
          <a:p>
            <a:r>
              <a:t>Score</a:t>
            </a:r>
          </a:p>
        </p:txBody>
      </p:sp>
      <p:pic>
        <p:nvPicPr>
          <p:cNvPr id="243" name="Google Shape;182;p18" descr="Google Shape;182;p18"/>
          <p:cNvPicPr>
            <a:picLocks noChangeAspect="1"/>
          </p:cNvPicPr>
          <p:nvPr/>
        </p:nvPicPr>
        <p:blipFill>
          <a:blip r:embed="rId4"/>
          <a:stretch>
            <a:fillRect/>
          </a:stretch>
        </p:blipFill>
        <p:spPr>
          <a:xfrm>
            <a:off x="8549320" y="3429000"/>
            <a:ext cx="856312" cy="988052"/>
          </a:xfrm>
          <a:prstGeom prst="rect">
            <a:avLst/>
          </a:prstGeom>
          <a:ln w="12700">
            <a:miter lim="400000"/>
          </a:ln>
        </p:spPr>
      </p:pic>
      <p:sp>
        <p:nvSpPr>
          <p:cNvPr id="244" name="RF"/>
          <p:cNvSpPr txBox="1"/>
          <p:nvPr/>
        </p:nvSpPr>
        <p:spPr>
          <a:xfrm>
            <a:off x="10524180" y="2980679"/>
            <a:ext cx="249710"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RF</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6" name="Google Shape;196;p19" descr="Google Shape;196;p19"/>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247" name="Google Shape;197;p19"/>
          <p:cNvSpPr txBox="1"/>
          <p:nvPr/>
        </p:nvSpPr>
        <p:spPr>
          <a:xfrm>
            <a:off x="571500" y="762000"/>
            <a:ext cx="5200650"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Visualizing the Signal</a:t>
            </a:r>
          </a:p>
        </p:txBody>
      </p:sp>
      <p:sp>
        <p:nvSpPr>
          <p:cNvPr id="248" name="Google Shape;198;p19"/>
          <p:cNvSpPr/>
          <p:nvPr/>
        </p:nvSpPr>
        <p:spPr>
          <a:xfrm>
            <a:off x="571500" y="1428750"/>
            <a:ext cx="4953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sp>
        <p:nvSpPr>
          <p:cNvPr id="249" name="Google Shape;200;p19"/>
          <p:cNvSpPr txBox="1"/>
          <p:nvPr/>
        </p:nvSpPr>
        <p:spPr>
          <a:xfrm>
            <a:off x="571498" y="2305050"/>
            <a:ext cx="4080512" cy="317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100" b="1">
                <a:solidFill>
                  <a:srgbClr val="0F766E"/>
                </a:solidFill>
                <a:latin typeface="Roboto Slab"/>
                <a:ea typeface="Roboto Slab"/>
                <a:cs typeface="Roboto Slab"/>
                <a:sym typeface="Roboto Slab"/>
              </a:defRPr>
            </a:lvl1pPr>
          </a:lstStyle>
          <a:p>
            <a:r>
              <a:t>The RF Importance Landscape</a:t>
            </a:r>
          </a:p>
        </p:txBody>
      </p:sp>
      <p:sp>
        <p:nvSpPr>
          <p:cNvPr id="250" name="Google Shape;201;p19"/>
          <p:cNvSpPr txBox="1"/>
          <p:nvPr/>
        </p:nvSpPr>
        <p:spPr>
          <a:xfrm>
            <a:off x="571500" y="2800350"/>
            <a:ext cx="4953000" cy="9601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500">
                <a:solidFill>
                  <a:srgbClr val="334155"/>
                </a:solidFill>
                <a:latin typeface="Open Sans"/>
                <a:ea typeface="Open Sans"/>
                <a:cs typeface="Open Sans"/>
                <a:sym typeface="Open Sans"/>
              </a:defRPr>
            </a:pPr>
            <a:r>
              <a:t>Unlike a traditional GWAS Manhattan plot which shows -log(p-values), this plot visualizes </a:t>
            </a:r>
            <a:r>
              <a:rPr b="1"/>
              <a:t>Random Forest Importance Scores</a:t>
            </a:r>
            <a:r>
              <a:t> across the genome.</a:t>
            </a:r>
          </a:p>
        </p:txBody>
      </p:sp>
      <p:sp>
        <p:nvSpPr>
          <p:cNvPr id="251" name="Google Shape;202;p19"/>
          <p:cNvSpPr txBox="1"/>
          <p:nvPr/>
        </p:nvSpPr>
        <p:spPr>
          <a:xfrm>
            <a:off x="571500" y="3857625"/>
            <a:ext cx="4953000" cy="9601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60000"/>
              </a:lnSpc>
              <a:defRPr sz="1500">
                <a:solidFill>
                  <a:srgbClr val="334155"/>
                </a:solidFill>
                <a:latin typeface="Open Sans"/>
                <a:ea typeface="Open Sans"/>
                <a:cs typeface="Open Sans"/>
                <a:sym typeface="Open Sans"/>
              </a:defRPr>
            </a:lvl1pPr>
          </a:lstStyle>
          <a:p>
            <a:r>
              <a:t>The "peaks" represent SNPs that contribute most significantly to classifying a patient as an "Exacerbator" vs. "Non-Exacerbator".</a:t>
            </a:r>
          </a:p>
        </p:txBody>
      </p:sp>
      <p:sp>
        <p:nvSpPr>
          <p:cNvPr id="252" name="Google Shape;203;p19"/>
          <p:cNvSpPr txBox="1"/>
          <p:nvPr/>
        </p:nvSpPr>
        <p:spPr>
          <a:xfrm>
            <a:off x="571500" y="4914900"/>
            <a:ext cx="4953000" cy="5943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60000"/>
              </a:lnSpc>
              <a:defRPr sz="1500">
                <a:solidFill>
                  <a:srgbClr val="334155"/>
                </a:solidFill>
                <a:latin typeface="Open Sans"/>
                <a:ea typeface="Open Sans"/>
                <a:cs typeface="Open Sans"/>
                <a:sym typeface="Open Sans"/>
              </a:defRPr>
            </a:lvl1pPr>
          </a:lstStyle>
          <a:p>
            <a:r>
              <a:t>We identified a clear signal distinguishing the top predictive SNPs from the genomic background noise.</a:t>
            </a:r>
          </a:p>
        </p:txBody>
      </p:sp>
      <p:pic>
        <p:nvPicPr>
          <p:cNvPr id="253" name="Picture 11" descr="Picture 11"/>
          <p:cNvPicPr>
            <a:picLocks noChangeAspect="1"/>
          </p:cNvPicPr>
          <p:nvPr/>
        </p:nvPicPr>
        <p:blipFill>
          <a:blip r:embed="rId4"/>
          <a:stretch>
            <a:fillRect/>
          </a:stretch>
        </p:blipFill>
        <p:spPr>
          <a:xfrm>
            <a:off x="5456477" y="1157749"/>
            <a:ext cx="6731011" cy="5389599"/>
          </a:xfrm>
          <a:prstGeom prst="rect">
            <a:avLst/>
          </a:prstGeom>
          <a:ln w="12700">
            <a:miter lim="400000"/>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5" name="Google Shape;208;p20" descr="Google Shape;208;p20"/>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256" name="Google Shape;211;p20"/>
          <p:cNvSpPr txBox="1"/>
          <p:nvPr/>
        </p:nvSpPr>
        <p:spPr>
          <a:xfrm>
            <a:off x="623615" y="1367471"/>
            <a:ext cx="6677027"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59944"/>
              </a:lnSpc>
              <a:defRPr sz="1800">
                <a:solidFill>
                  <a:srgbClr val="64748B"/>
                </a:solidFill>
                <a:latin typeface="Open Sans"/>
                <a:ea typeface="Open Sans"/>
                <a:cs typeface="Open Sans"/>
                <a:sym typeface="Open Sans"/>
              </a:defRPr>
            </a:lvl1pPr>
          </a:lstStyle>
          <a:p>
            <a:r>
              <a:t>Area Under the Curve (AUC) in Independent Replication Cohort</a:t>
            </a:r>
          </a:p>
        </p:txBody>
      </p:sp>
      <p:sp>
        <p:nvSpPr>
          <p:cNvPr id="257" name="Google Shape;213;p20"/>
          <p:cNvSpPr txBox="1"/>
          <p:nvPr/>
        </p:nvSpPr>
        <p:spPr>
          <a:xfrm>
            <a:off x="571500" y="571500"/>
            <a:ext cx="11601450"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Genetics Improves Prediction</a:t>
            </a:r>
          </a:p>
        </p:txBody>
      </p:sp>
      <p:sp>
        <p:nvSpPr>
          <p:cNvPr id="258" name="Google Shape;214;p20"/>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sp>
        <p:nvSpPr>
          <p:cNvPr id="259" name="TextBox 14"/>
          <p:cNvSpPr txBox="1"/>
          <p:nvPr/>
        </p:nvSpPr>
        <p:spPr>
          <a:xfrm>
            <a:off x="2018142" y="194093"/>
            <a:ext cx="3887972" cy="396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2000">
                <a:latin typeface="Aptos"/>
                <a:ea typeface="Aptos"/>
                <a:cs typeface="Aptos"/>
                <a:sym typeface="Aptos"/>
              </a:defRPr>
            </a:pPr>
            <a:r>
              <a:t>4 months after publication, Editor:</a:t>
            </a:r>
          </a:p>
        </p:txBody>
      </p:sp>
      <p:pic>
        <p:nvPicPr>
          <p:cNvPr id="260" name="Picture 22" descr="Picture 22"/>
          <p:cNvPicPr>
            <a:picLocks noChangeAspect="1"/>
          </p:cNvPicPr>
          <p:nvPr/>
        </p:nvPicPr>
        <p:blipFill>
          <a:blip r:embed="rId4"/>
          <a:stretch>
            <a:fillRect/>
          </a:stretch>
        </p:blipFill>
        <p:spPr>
          <a:xfrm>
            <a:off x="-35057" y="1747519"/>
            <a:ext cx="7653328" cy="5163376"/>
          </a:xfrm>
          <a:prstGeom prst="rect">
            <a:avLst/>
          </a:prstGeom>
          <a:ln w="12700">
            <a:miter lim="400000"/>
          </a:ln>
        </p:spPr>
      </p:pic>
      <p:sp>
        <p:nvSpPr>
          <p:cNvPr id="261" name="Google Shape;212;p20"/>
          <p:cNvSpPr txBox="1"/>
          <p:nvPr/>
        </p:nvSpPr>
        <p:spPr>
          <a:xfrm>
            <a:off x="8042690" y="2319840"/>
            <a:ext cx="3464556" cy="32308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2000" b="1">
                <a:solidFill>
                  <a:srgbClr val="065F46"/>
                </a:solidFill>
                <a:latin typeface="Open Sans"/>
                <a:ea typeface="Open Sans"/>
                <a:cs typeface="Open Sans"/>
                <a:sym typeface="Open Sans"/>
              </a:defRPr>
            </a:pPr>
            <a:r>
              <a:t>Key Finding:</a:t>
            </a:r>
            <a:r>
              <a:rPr b="0"/>
              <a:t> Adding genetic markers significantly improved prediction over clinical history alone. The model plateaued at 160 SNPs, suggesting a robust genetic signature for exacerbation risk.</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3" name="Google Shape;219;p21" descr="Google Shape;219;p21"/>
          <p:cNvPicPr>
            <a:picLocks noChangeAspect="1"/>
          </p:cNvPicPr>
          <p:nvPr/>
        </p:nvPicPr>
        <p:blipFill>
          <a:blip r:embed="rId3"/>
          <a:stretch>
            <a:fillRect/>
          </a:stretch>
        </p:blipFill>
        <p:spPr>
          <a:xfrm>
            <a:off x="0" y="0"/>
            <a:ext cx="12192000" cy="6858000"/>
          </a:xfrm>
          <a:prstGeom prst="rect">
            <a:avLst/>
          </a:prstGeom>
          <a:ln w="12700">
            <a:miter lim="400000"/>
          </a:ln>
        </p:spPr>
      </p:pic>
      <p:pic>
        <p:nvPicPr>
          <p:cNvPr id="264" name="Google Shape;220;p21" descr="Google Shape;220;p21"/>
          <p:cNvPicPr>
            <a:picLocks noChangeAspect="1"/>
          </p:cNvPicPr>
          <p:nvPr/>
        </p:nvPicPr>
        <p:blipFill>
          <a:blip r:embed="rId4"/>
          <a:stretch>
            <a:fillRect/>
          </a:stretch>
        </p:blipFill>
        <p:spPr>
          <a:xfrm>
            <a:off x="571500" y="2014535"/>
            <a:ext cx="5238750" cy="3905253"/>
          </a:xfrm>
          <a:prstGeom prst="rect">
            <a:avLst/>
          </a:prstGeom>
          <a:ln w="12700">
            <a:miter lim="400000"/>
          </a:ln>
        </p:spPr>
      </p:pic>
      <p:pic>
        <p:nvPicPr>
          <p:cNvPr id="265" name="Google Shape;221;p21" descr="Google Shape;221;p21"/>
          <p:cNvPicPr>
            <a:picLocks noChangeAspect="1"/>
          </p:cNvPicPr>
          <p:nvPr/>
        </p:nvPicPr>
        <p:blipFill>
          <a:blip r:embed="rId5"/>
          <a:stretch>
            <a:fillRect/>
          </a:stretch>
        </p:blipFill>
        <p:spPr>
          <a:xfrm>
            <a:off x="6381750" y="1862135"/>
            <a:ext cx="5238750" cy="4210053"/>
          </a:xfrm>
          <a:prstGeom prst="rect">
            <a:avLst/>
          </a:prstGeom>
          <a:ln w="12700">
            <a:miter lim="400000"/>
          </a:ln>
        </p:spPr>
      </p:pic>
      <p:sp>
        <p:nvSpPr>
          <p:cNvPr id="266" name="Google Shape;222;p21"/>
          <p:cNvSpPr txBox="1"/>
          <p:nvPr/>
        </p:nvSpPr>
        <p:spPr>
          <a:xfrm>
            <a:off x="904873" y="2890835"/>
            <a:ext cx="4850610"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100" b="1">
                <a:solidFill>
                  <a:srgbClr val="0F766E"/>
                </a:solidFill>
                <a:latin typeface="Roboto Slab"/>
                <a:ea typeface="Roboto Slab"/>
                <a:cs typeface="Roboto Slab"/>
                <a:sym typeface="Roboto Slab"/>
              </a:defRPr>
            </a:lvl1pPr>
          </a:lstStyle>
          <a:p>
            <a:r>
              <a:t>Rigorous Validation</a:t>
            </a:r>
          </a:p>
        </p:txBody>
      </p:sp>
      <p:sp>
        <p:nvSpPr>
          <p:cNvPr id="267" name="Google Shape;223;p21"/>
          <p:cNvSpPr txBox="1"/>
          <p:nvPr/>
        </p:nvSpPr>
        <p:spPr>
          <a:xfrm>
            <a:off x="904875" y="3386137"/>
            <a:ext cx="4619625"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60000"/>
              </a:lnSpc>
              <a:defRPr sz="1500">
                <a:solidFill>
                  <a:srgbClr val="334155"/>
                </a:solidFill>
                <a:latin typeface="Open Sans"/>
                <a:ea typeface="Open Sans"/>
                <a:cs typeface="Open Sans"/>
                <a:sym typeface="Open Sans"/>
              </a:defRPr>
            </a:lvl1pPr>
          </a:lstStyle>
          <a:p>
            <a:r>
              <a:t>We did not just test on the training data.</a:t>
            </a:r>
          </a:p>
        </p:txBody>
      </p:sp>
      <p:sp>
        <p:nvSpPr>
          <p:cNvPr id="268" name="Google Shape;224;p21"/>
          <p:cNvSpPr txBox="1"/>
          <p:nvPr/>
        </p:nvSpPr>
        <p:spPr>
          <a:xfrm>
            <a:off x="6715125" y="2738435"/>
            <a:ext cx="4850608"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100" b="1">
                <a:solidFill>
                  <a:srgbClr val="0F766E"/>
                </a:solidFill>
                <a:latin typeface="Roboto Slab"/>
                <a:ea typeface="Roboto Slab"/>
                <a:cs typeface="Roboto Slab"/>
                <a:sym typeface="Roboto Slab"/>
              </a:defRPr>
            </a:lvl1pPr>
          </a:lstStyle>
          <a:p>
            <a:r>
              <a:t>Recognition</a:t>
            </a:r>
          </a:p>
        </p:txBody>
      </p:sp>
      <p:sp>
        <p:nvSpPr>
          <p:cNvPr id="269" name="Google Shape;225;p21"/>
          <p:cNvSpPr txBox="1"/>
          <p:nvPr/>
        </p:nvSpPr>
        <p:spPr>
          <a:xfrm>
            <a:off x="6715125" y="3233735"/>
            <a:ext cx="4619625"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60000"/>
              </a:lnSpc>
              <a:defRPr sz="1500">
                <a:solidFill>
                  <a:srgbClr val="334155"/>
                </a:solidFill>
                <a:latin typeface="Open Sans"/>
                <a:ea typeface="Open Sans"/>
                <a:cs typeface="Open Sans"/>
                <a:sym typeface="Open Sans"/>
              </a:defRPr>
            </a:lvl1pPr>
          </a:lstStyle>
          <a:p>
            <a:r>
              <a:t>This work was highlighted for its innovative approach:</a:t>
            </a:r>
          </a:p>
        </p:txBody>
      </p:sp>
      <p:pic>
        <p:nvPicPr>
          <p:cNvPr id="270" name="Google Shape;226;p21" descr="Google Shape;226;p21"/>
          <p:cNvPicPr>
            <a:picLocks noChangeAspect="1"/>
          </p:cNvPicPr>
          <p:nvPr/>
        </p:nvPicPr>
        <p:blipFill>
          <a:blip r:embed="rId6"/>
          <a:stretch>
            <a:fillRect/>
          </a:stretch>
        </p:blipFill>
        <p:spPr>
          <a:xfrm>
            <a:off x="904875" y="2319335"/>
            <a:ext cx="333375" cy="381002"/>
          </a:xfrm>
          <a:prstGeom prst="rect">
            <a:avLst/>
          </a:prstGeom>
          <a:ln w="12700">
            <a:miter lim="400000"/>
          </a:ln>
        </p:spPr>
      </p:pic>
      <p:sp>
        <p:nvSpPr>
          <p:cNvPr id="271" name="Google Shape;227;p21"/>
          <p:cNvSpPr txBox="1"/>
          <p:nvPr/>
        </p:nvSpPr>
        <p:spPr>
          <a:xfrm>
            <a:off x="1019175" y="3843337"/>
            <a:ext cx="762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t>•</a:t>
            </a:r>
          </a:p>
        </p:txBody>
      </p:sp>
      <p:sp>
        <p:nvSpPr>
          <p:cNvPr id="272" name="Google Shape;228;p21"/>
          <p:cNvSpPr txBox="1"/>
          <p:nvPr/>
        </p:nvSpPr>
        <p:spPr>
          <a:xfrm>
            <a:off x="1171575" y="3843337"/>
            <a:ext cx="4352925" cy="5943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500" b="1">
                <a:solidFill>
                  <a:srgbClr val="334155"/>
                </a:solidFill>
                <a:latin typeface="Open Sans"/>
                <a:ea typeface="Open Sans"/>
                <a:cs typeface="Open Sans"/>
                <a:sym typeface="Open Sans"/>
              </a:defRPr>
            </a:pPr>
            <a:r>
              <a:t>Permutation Testing:</a:t>
            </a:r>
            <a:r>
              <a:rPr b="0"/>
              <a:t> Confirmed results were not due to chance.</a:t>
            </a:r>
          </a:p>
        </p:txBody>
      </p:sp>
      <p:sp>
        <p:nvSpPr>
          <p:cNvPr id="273" name="Google Shape;229;p21"/>
          <p:cNvSpPr txBox="1"/>
          <p:nvPr/>
        </p:nvSpPr>
        <p:spPr>
          <a:xfrm>
            <a:off x="1019175" y="4567237"/>
            <a:ext cx="762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t>•</a:t>
            </a:r>
          </a:p>
        </p:txBody>
      </p:sp>
      <p:sp>
        <p:nvSpPr>
          <p:cNvPr id="274" name="Google Shape;230;p21"/>
          <p:cNvSpPr txBox="1"/>
          <p:nvPr/>
        </p:nvSpPr>
        <p:spPr>
          <a:xfrm>
            <a:off x="1171575" y="4567237"/>
            <a:ext cx="4352925" cy="9601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500" b="1">
                <a:solidFill>
                  <a:srgbClr val="334155"/>
                </a:solidFill>
                <a:latin typeface="Open Sans"/>
                <a:ea typeface="Open Sans"/>
                <a:cs typeface="Open Sans"/>
                <a:sym typeface="Open Sans"/>
              </a:defRPr>
            </a:pPr>
            <a:r>
              <a:t>Independent Replication:</a:t>
            </a:r>
            <a:r>
              <a:rPr b="0"/>
              <a:t> The model was tested on a separate cohort of 164 subjects, maintaining an AUC of 0.66.</a:t>
            </a:r>
          </a:p>
        </p:txBody>
      </p:sp>
      <p:pic>
        <p:nvPicPr>
          <p:cNvPr id="275" name="Google Shape;231;p21" descr="Google Shape;231;p21"/>
          <p:cNvPicPr>
            <a:picLocks noChangeAspect="1"/>
          </p:cNvPicPr>
          <p:nvPr/>
        </p:nvPicPr>
        <p:blipFill>
          <a:blip r:embed="rId7"/>
          <a:stretch>
            <a:fillRect/>
          </a:stretch>
        </p:blipFill>
        <p:spPr>
          <a:xfrm>
            <a:off x="6715125" y="2166935"/>
            <a:ext cx="428625" cy="381002"/>
          </a:xfrm>
          <a:prstGeom prst="rect">
            <a:avLst/>
          </a:prstGeom>
          <a:ln w="12700">
            <a:miter lim="400000"/>
          </a:ln>
        </p:spPr>
      </p:pic>
      <p:sp>
        <p:nvSpPr>
          <p:cNvPr id="276" name="Google Shape;232;p21"/>
          <p:cNvSpPr txBox="1"/>
          <p:nvPr/>
        </p:nvSpPr>
        <p:spPr>
          <a:xfrm>
            <a:off x="6829425" y="3995737"/>
            <a:ext cx="762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t>•</a:t>
            </a:r>
          </a:p>
        </p:txBody>
      </p:sp>
      <p:sp>
        <p:nvSpPr>
          <p:cNvPr id="277" name="Google Shape;233;p21"/>
          <p:cNvSpPr txBox="1"/>
          <p:nvPr/>
        </p:nvSpPr>
        <p:spPr>
          <a:xfrm>
            <a:off x="6981825" y="3879410"/>
            <a:ext cx="4352925" cy="5943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500" b="1">
                <a:solidFill>
                  <a:srgbClr val="334155"/>
                </a:solidFill>
                <a:latin typeface="Open Sans"/>
                <a:ea typeface="Open Sans"/>
                <a:cs typeface="Open Sans"/>
                <a:sym typeface="Open Sans"/>
              </a:defRPr>
            </a:pPr>
            <a:r>
              <a:rPr dirty="0"/>
              <a:t>ATS 2009:</a:t>
            </a:r>
            <a:r>
              <a:rPr b="0" dirty="0"/>
              <a:t> Featured at the "</a:t>
            </a:r>
            <a:r>
              <a:rPr b="0" dirty="0">
                <a:solidFill>
                  <a:srgbClr val="FF2600"/>
                </a:solidFill>
              </a:rPr>
              <a:t>Scientific Breakthroughs of the Year</a:t>
            </a:r>
            <a:r>
              <a:rPr b="0" dirty="0"/>
              <a:t>" symposium.</a:t>
            </a:r>
          </a:p>
        </p:txBody>
      </p:sp>
      <p:sp>
        <p:nvSpPr>
          <p:cNvPr id="278" name="Google Shape;234;p21"/>
          <p:cNvSpPr txBox="1"/>
          <p:nvPr/>
        </p:nvSpPr>
        <p:spPr>
          <a:xfrm>
            <a:off x="6829425" y="4719637"/>
            <a:ext cx="762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t>•</a:t>
            </a:r>
          </a:p>
        </p:txBody>
      </p:sp>
      <p:sp>
        <p:nvSpPr>
          <p:cNvPr id="279" name="Google Shape;235;p21"/>
          <p:cNvSpPr txBox="1"/>
          <p:nvPr/>
        </p:nvSpPr>
        <p:spPr>
          <a:xfrm>
            <a:off x="6981825" y="4593907"/>
            <a:ext cx="4352925" cy="13258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500" b="1">
                <a:solidFill>
                  <a:srgbClr val="334155"/>
                </a:solidFill>
                <a:latin typeface="Open Sans"/>
                <a:ea typeface="Open Sans"/>
                <a:cs typeface="Open Sans"/>
                <a:sym typeface="Open Sans"/>
              </a:defRPr>
            </a:pPr>
            <a:r>
              <a:rPr dirty="0"/>
              <a:t>Impact:</a:t>
            </a:r>
            <a:r>
              <a:rPr b="0" dirty="0"/>
              <a:t> Categorized as "</a:t>
            </a:r>
            <a:r>
              <a:rPr b="0" dirty="0">
                <a:solidFill>
                  <a:srgbClr val="FF2600"/>
                </a:solidFill>
              </a:rPr>
              <a:t>Highly Accessed</a:t>
            </a:r>
            <a:r>
              <a:rPr b="0" dirty="0"/>
              <a:t>" (1,120 accesses 4 months after publication) by BMC Medical Genetics, influencing future ML-GWAS integration studies.</a:t>
            </a:r>
          </a:p>
        </p:txBody>
      </p:sp>
      <p:sp>
        <p:nvSpPr>
          <p:cNvPr id="280" name="Google Shape;236;p21"/>
          <p:cNvSpPr txBox="1"/>
          <p:nvPr/>
        </p:nvSpPr>
        <p:spPr>
          <a:xfrm>
            <a:off x="571500" y="571500"/>
            <a:ext cx="11601450"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Validation &amp; Impact</a:t>
            </a:r>
          </a:p>
        </p:txBody>
      </p:sp>
      <p:sp>
        <p:nvSpPr>
          <p:cNvPr id="281" name="Google Shape;237;p21"/>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3" name="Google Shape;258;p23" descr="Google Shape;258;p23"/>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284" name="Google Shape;259;p23"/>
          <p:cNvSpPr txBox="1"/>
          <p:nvPr/>
        </p:nvSpPr>
        <p:spPr>
          <a:xfrm>
            <a:off x="4081462" y="1888775"/>
            <a:ext cx="4230528" cy="914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6000" b="1">
                <a:solidFill>
                  <a:srgbClr val="1E3A8A"/>
                </a:solidFill>
                <a:latin typeface="Roboto Slab"/>
                <a:ea typeface="Roboto Slab"/>
                <a:cs typeface="Roboto Slab"/>
                <a:sym typeface="Roboto Slab"/>
              </a:defRPr>
            </a:lvl1pPr>
          </a:lstStyle>
          <a:p>
            <a:r>
              <a:t>Thank You</a:t>
            </a:r>
          </a:p>
        </p:txBody>
      </p:sp>
      <p:sp>
        <p:nvSpPr>
          <p:cNvPr id="285" name="Google Shape;260;p23"/>
          <p:cNvSpPr txBox="1"/>
          <p:nvPr/>
        </p:nvSpPr>
        <p:spPr>
          <a:xfrm>
            <a:off x="4252655" y="3244850"/>
            <a:ext cx="4230529" cy="368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59944"/>
              </a:lnSpc>
              <a:defRPr sz="2400" b="1">
                <a:solidFill>
                  <a:srgbClr val="64748B"/>
                </a:solidFill>
                <a:latin typeface="Open Sans"/>
                <a:ea typeface="Open Sans"/>
                <a:cs typeface="Open Sans"/>
                <a:sym typeface="Open Sans"/>
              </a:defRPr>
            </a:lvl1pPr>
          </a:lstStyle>
          <a:p>
            <a:r>
              <a:t>Questions &amp; Discussion</a:t>
            </a:r>
          </a:p>
        </p:txBody>
      </p:sp>
      <p:sp>
        <p:nvSpPr>
          <p:cNvPr id="286" name="Google Shape;261;p23"/>
          <p:cNvSpPr txBox="1"/>
          <p:nvPr/>
        </p:nvSpPr>
        <p:spPr>
          <a:xfrm>
            <a:off x="4972050" y="4073723"/>
            <a:ext cx="22479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b="1">
                <a:solidFill>
                  <a:srgbClr val="334155"/>
                </a:solidFill>
                <a:latin typeface="Open Sans"/>
                <a:ea typeface="Open Sans"/>
                <a:cs typeface="Open Sans"/>
                <a:sym typeface="Open Sans"/>
              </a:defRPr>
            </a:lvl1pPr>
          </a:lstStyle>
          <a:p>
            <a:r>
              <a:t>Mousheng Xu, PhD</a:t>
            </a:r>
          </a:p>
        </p:txBody>
      </p:sp>
      <p:sp>
        <p:nvSpPr>
          <p:cNvPr id="287" name="Google Shape;262;p23"/>
          <p:cNvSpPr txBox="1"/>
          <p:nvPr/>
        </p:nvSpPr>
        <p:spPr>
          <a:xfrm>
            <a:off x="4972050" y="4521398"/>
            <a:ext cx="22479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a:solidFill>
                  <a:srgbClr val="334155"/>
                </a:solidFill>
                <a:latin typeface="Open Sans"/>
                <a:ea typeface="Open Sans"/>
                <a:cs typeface="Open Sans"/>
                <a:sym typeface="Open Sans"/>
              </a:defRPr>
            </a:lvl1pPr>
          </a:lstStyle>
          <a:p>
            <a:r>
              <a:t>moushengxu@gmail.com</a:t>
            </a:r>
          </a:p>
        </p:txBody>
      </p:sp>
      <p:pic>
        <p:nvPicPr>
          <p:cNvPr id="288" name="Image" descr="Image"/>
          <p:cNvPicPr>
            <a:picLocks noChangeAspect="1"/>
          </p:cNvPicPr>
          <p:nvPr/>
        </p:nvPicPr>
        <p:blipFill>
          <a:blip r:embed="rId4"/>
          <a:stretch>
            <a:fillRect/>
          </a:stretch>
        </p:blipFill>
        <p:spPr>
          <a:xfrm>
            <a:off x="0" y="0"/>
            <a:ext cx="12192000" cy="6858000"/>
          </a:xfrm>
          <a:prstGeom prst="rect">
            <a:avLst/>
          </a:prstGeom>
          <a:ln w="12700">
            <a:miter lim="400000"/>
          </a:ln>
        </p:spPr>
      </p:pic>
      <p:pic>
        <p:nvPicPr>
          <p:cNvPr id="289" name="Image" descr="Image"/>
          <p:cNvPicPr>
            <a:picLocks noChangeAspect="1"/>
          </p:cNvPicPr>
          <p:nvPr/>
        </p:nvPicPr>
        <p:blipFill>
          <a:blip r:embed="rId5"/>
          <a:stretch>
            <a:fillRect/>
          </a:stretch>
        </p:blipFill>
        <p:spPr>
          <a:xfrm>
            <a:off x="0" y="0"/>
            <a:ext cx="12192000" cy="6858000"/>
          </a:xfrm>
          <a:prstGeom prst="rect">
            <a:avLst/>
          </a:prstGeom>
          <a:ln w="12700">
            <a:miter lim="400000"/>
          </a:ln>
        </p:spPr>
      </p:pic>
      <p:sp>
        <p:nvSpPr>
          <p:cNvPr id="290" name="Text"/>
          <p:cNvSpPr txBox="1"/>
          <p:nvPr/>
        </p:nvSpPr>
        <p:spPr>
          <a:xfrm>
            <a:off x="6159500" y="3469111"/>
            <a:ext cx="127000" cy="177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457200">
              <a:defRPr sz="1200">
                <a:latin typeface="Times Roman"/>
                <a:ea typeface="Times Roman"/>
                <a:cs typeface="Times Roman"/>
                <a:sym typeface="Times Roman"/>
              </a:defRPr>
            </a:lvl1pPr>
          </a:lstStyle>
          <a:p>
            <a:r>
              <a:t> </a:t>
            </a:r>
          </a:p>
        </p:txBody>
      </p:sp>
      <p:pic>
        <p:nvPicPr>
          <p:cNvPr id="291" name="Image" descr="Image"/>
          <p:cNvPicPr>
            <a:picLocks noChangeAspect="1"/>
          </p:cNvPicPr>
          <p:nvPr/>
        </p:nvPicPr>
        <p:blipFill>
          <a:blip r:embed="rId6"/>
          <a:stretch>
            <a:fillRect/>
          </a:stretch>
        </p:blipFill>
        <p:spPr>
          <a:xfrm>
            <a:off x="0" y="0"/>
            <a:ext cx="12192000" cy="6858000"/>
          </a:xfrm>
          <a:prstGeom prst="rect">
            <a:avLst/>
          </a:prstGeom>
          <a:ln w="12700">
            <a:miter lim="400000"/>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3" name="Google Shape;258;p23" descr="Google Shape;258;p23"/>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294" name="Google Shape;259;p23"/>
          <p:cNvSpPr txBox="1"/>
          <p:nvPr/>
        </p:nvSpPr>
        <p:spPr>
          <a:xfrm>
            <a:off x="4081462" y="1888775"/>
            <a:ext cx="4230528" cy="914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6000" b="1">
                <a:solidFill>
                  <a:srgbClr val="1E3A8A"/>
                </a:solidFill>
                <a:latin typeface="Roboto Slab"/>
                <a:ea typeface="Roboto Slab"/>
                <a:cs typeface="Roboto Slab"/>
                <a:sym typeface="Roboto Slab"/>
              </a:defRPr>
            </a:lvl1pPr>
          </a:lstStyle>
          <a:p>
            <a:r>
              <a:t>Thank You</a:t>
            </a:r>
          </a:p>
        </p:txBody>
      </p:sp>
      <p:sp>
        <p:nvSpPr>
          <p:cNvPr id="295" name="Google Shape;260;p23"/>
          <p:cNvSpPr txBox="1"/>
          <p:nvPr/>
        </p:nvSpPr>
        <p:spPr>
          <a:xfrm>
            <a:off x="4252655" y="3244850"/>
            <a:ext cx="4230529" cy="368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59944"/>
              </a:lnSpc>
              <a:defRPr sz="2400" b="1">
                <a:solidFill>
                  <a:srgbClr val="64748B"/>
                </a:solidFill>
                <a:latin typeface="Open Sans"/>
                <a:ea typeface="Open Sans"/>
                <a:cs typeface="Open Sans"/>
                <a:sym typeface="Open Sans"/>
              </a:defRPr>
            </a:lvl1pPr>
          </a:lstStyle>
          <a:p>
            <a:r>
              <a:t>Questions &amp; Discussion</a:t>
            </a:r>
          </a:p>
        </p:txBody>
      </p:sp>
      <p:sp>
        <p:nvSpPr>
          <p:cNvPr id="296" name="Google Shape;261;p23"/>
          <p:cNvSpPr txBox="1"/>
          <p:nvPr/>
        </p:nvSpPr>
        <p:spPr>
          <a:xfrm>
            <a:off x="4972050" y="4073723"/>
            <a:ext cx="22479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b="1">
                <a:solidFill>
                  <a:srgbClr val="334155"/>
                </a:solidFill>
                <a:latin typeface="Open Sans"/>
                <a:ea typeface="Open Sans"/>
                <a:cs typeface="Open Sans"/>
                <a:sym typeface="Open Sans"/>
              </a:defRPr>
            </a:lvl1pPr>
          </a:lstStyle>
          <a:p>
            <a:r>
              <a:t>Mousheng Xu, PhD</a:t>
            </a:r>
          </a:p>
        </p:txBody>
      </p:sp>
      <p:sp>
        <p:nvSpPr>
          <p:cNvPr id="297" name="Google Shape;262;p23"/>
          <p:cNvSpPr txBox="1"/>
          <p:nvPr/>
        </p:nvSpPr>
        <p:spPr>
          <a:xfrm>
            <a:off x="4972050" y="4521398"/>
            <a:ext cx="22479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a:solidFill>
                  <a:srgbClr val="334155"/>
                </a:solidFill>
                <a:latin typeface="Open Sans"/>
                <a:ea typeface="Open Sans"/>
                <a:cs typeface="Open Sans"/>
                <a:sym typeface="Open Sans"/>
              </a:defRPr>
            </a:lvl1pPr>
          </a:lstStyle>
          <a:p>
            <a:r>
              <a:t>moushengxu@gmail.com</a:t>
            </a:r>
          </a:p>
        </p:txBody>
      </p:sp>
      <p:pic>
        <p:nvPicPr>
          <p:cNvPr id="298" name="Image" descr="Image"/>
          <p:cNvPicPr>
            <a:picLocks noChangeAspect="1"/>
          </p:cNvPicPr>
          <p:nvPr/>
        </p:nvPicPr>
        <p:blipFill>
          <a:blip r:embed="rId4"/>
          <a:stretch>
            <a:fillRect/>
          </a:stretch>
        </p:blipFill>
        <p:spPr>
          <a:xfrm>
            <a:off x="0" y="0"/>
            <a:ext cx="12192000" cy="6858000"/>
          </a:xfrm>
          <a:prstGeom prst="rect">
            <a:avLst/>
          </a:prstGeom>
          <a:ln w="12700">
            <a:miter lim="400000"/>
          </a:ln>
        </p:spPr>
      </p:pic>
      <p:pic>
        <p:nvPicPr>
          <p:cNvPr id="299" name="Image" descr="Image"/>
          <p:cNvPicPr>
            <a:picLocks noChangeAspect="1"/>
          </p:cNvPicPr>
          <p:nvPr/>
        </p:nvPicPr>
        <p:blipFill>
          <a:blip r:embed="rId5"/>
          <a:stretch>
            <a:fillRect/>
          </a:stretch>
        </p:blipFill>
        <p:spPr>
          <a:xfrm>
            <a:off x="0" y="0"/>
            <a:ext cx="12192000" cy="6858000"/>
          </a:xfrm>
          <a:prstGeom prst="rect">
            <a:avLst/>
          </a:prstGeom>
          <a:ln w="12700">
            <a:miter lim="400000"/>
          </a:ln>
        </p:spPr>
      </p:pic>
      <p:sp>
        <p:nvSpPr>
          <p:cNvPr id="300" name="Text"/>
          <p:cNvSpPr txBox="1"/>
          <p:nvPr/>
        </p:nvSpPr>
        <p:spPr>
          <a:xfrm>
            <a:off x="6159500" y="3469111"/>
            <a:ext cx="127000" cy="177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457200">
              <a:defRPr sz="1200">
                <a:latin typeface="Times Roman"/>
                <a:ea typeface="Times Roman"/>
                <a:cs typeface="Times Roman"/>
                <a:sym typeface="Times Roman"/>
              </a:defRPr>
            </a:lvl1pPr>
          </a:lstStyle>
          <a:p>
            <a:r>
              <a:t> </a:t>
            </a:r>
          </a:p>
        </p:txBody>
      </p:sp>
      <p:pic>
        <p:nvPicPr>
          <p:cNvPr id="301" name="Image" descr="Image"/>
          <p:cNvPicPr>
            <a:picLocks noChangeAspect="1"/>
          </p:cNvPicPr>
          <p:nvPr/>
        </p:nvPicPr>
        <p:blipFill>
          <a:blip r:embed="rId6"/>
          <a:stretch>
            <a:fillRect/>
          </a:stretch>
        </p:blipFill>
        <p:spPr>
          <a:xfrm>
            <a:off x="0" y="0"/>
            <a:ext cx="12192000" cy="6858000"/>
          </a:xfrm>
          <a:prstGeom prst="rect">
            <a:avLst/>
          </a:prstGeom>
          <a:ln w="12700">
            <a:miter lim="400000"/>
          </a:ln>
        </p:spPr>
      </p:pic>
      <p:pic>
        <p:nvPicPr>
          <p:cNvPr id="302" name="Image" descr="Image"/>
          <p:cNvPicPr>
            <a:picLocks noChangeAspect="1"/>
          </p:cNvPicPr>
          <p:nvPr/>
        </p:nvPicPr>
        <p:blipFill>
          <a:blip r:embed="rId7"/>
          <a:stretch>
            <a:fillRect/>
          </a:stretch>
        </p:blipFill>
        <p:spPr>
          <a:xfrm>
            <a:off x="0" y="0"/>
            <a:ext cx="12192000" cy="6858000"/>
          </a:xfrm>
          <a:prstGeom prst="rect">
            <a:avLst/>
          </a:prstGeom>
          <a:ln w="12700">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Google Shape;261;p23"/>
          <p:cNvSpPr txBox="1"/>
          <p:nvPr/>
        </p:nvSpPr>
        <p:spPr>
          <a:xfrm>
            <a:off x="4972050" y="4073723"/>
            <a:ext cx="22479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b="1">
                <a:solidFill>
                  <a:srgbClr val="334155"/>
                </a:solidFill>
                <a:latin typeface="Open Sans"/>
                <a:ea typeface="Open Sans"/>
                <a:cs typeface="Open Sans"/>
                <a:sym typeface="Open Sans"/>
              </a:defRPr>
            </a:lvl1pPr>
          </a:lstStyle>
          <a:p>
            <a:r>
              <a:t>Mousheng Xu, PhD</a:t>
            </a:r>
          </a:p>
        </p:txBody>
      </p:sp>
      <p:sp>
        <p:nvSpPr>
          <p:cNvPr id="305" name="Google Shape;262;p23"/>
          <p:cNvSpPr txBox="1"/>
          <p:nvPr/>
        </p:nvSpPr>
        <p:spPr>
          <a:xfrm>
            <a:off x="4972050" y="4521398"/>
            <a:ext cx="22479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a:solidFill>
                  <a:srgbClr val="334155"/>
                </a:solidFill>
                <a:latin typeface="Open Sans"/>
                <a:ea typeface="Open Sans"/>
                <a:cs typeface="Open Sans"/>
                <a:sym typeface="Open Sans"/>
              </a:defRPr>
            </a:lvl1pPr>
          </a:lstStyle>
          <a:p>
            <a:r>
              <a:t>moushengxu@gmail.com</a:t>
            </a:r>
          </a:p>
        </p:txBody>
      </p:sp>
      <p:sp>
        <p:nvSpPr>
          <p:cNvPr id="306" name="Text"/>
          <p:cNvSpPr txBox="1"/>
          <p:nvPr/>
        </p:nvSpPr>
        <p:spPr>
          <a:xfrm>
            <a:off x="6159500" y="3469111"/>
            <a:ext cx="127000" cy="177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457200">
              <a:defRPr sz="1200">
                <a:latin typeface="Times Roman"/>
                <a:ea typeface="Times Roman"/>
                <a:cs typeface="Times Roman"/>
                <a:sym typeface="Times Roman"/>
              </a:defRPr>
            </a:lvl1pPr>
          </a:lstStyle>
          <a:p>
            <a:r>
              <a:t> </a:t>
            </a:r>
          </a:p>
        </p:txBody>
      </p:sp>
      <p:pic>
        <p:nvPicPr>
          <p:cNvPr id="307" name="Image" descr="Image"/>
          <p:cNvPicPr>
            <a:picLocks noChangeAspect="1"/>
          </p:cNvPicPr>
          <p:nvPr/>
        </p:nvPicPr>
        <p:blipFill>
          <a:blip r:embed="rId3"/>
          <a:stretch>
            <a:fillRect/>
          </a:stretch>
        </p:blipFill>
        <p:spPr>
          <a:xfrm>
            <a:off x="-1" y="-1"/>
            <a:ext cx="12192001" cy="6858001"/>
          </a:xfrm>
          <a:prstGeom prst="rect">
            <a:avLst/>
          </a:prstGeom>
          <a:ln w="12700">
            <a:miter lim="400000"/>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Google Shape;259;p23"/>
          <p:cNvSpPr txBox="1"/>
          <p:nvPr/>
        </p:nvSpPr>
        <p:spPr>
          <a:xfrm>
            <a:off x="4081462" y="1888775"/>
            <a:ext cx="4230528" cy="914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6000" b="1">
                <a:solidFill>
                  <a:srgbClr val="1E3A8A"/>
                </a:solidFill>
                <a:latin typeface="Roboto Slab"/>
                <a:ea typeface="Roboto Slab"/>
                <a:cs typeface="Roboto Slab"/>
                <a:sym typeface="Roboto Slab"/>
              </a:defRPr>
            </a:lvl1pPr>
          </a:lstStyle>
          <a:p>
            <a:r>
              <a:t>Thank You</a:t>
            </a:r>
          </a:p>
        </p:txBody>
      </p:sp>
      <p:sp>
        <p:nvSpPr>
          <p:cNvPr id="310" name="Google Shape;260;p23"/>
          <p:cNvSpPr txBox="1"/>
          <p:nvPr/>
        </p:nvSpPr>
        <p:spPr>
          <a:xfrm>
            <a:off x="4252655" y="3244850"/>
            <a:ext cx="4230529" cy="368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59944"/>
              </a:lnSpc>
              <a:defRPr sz="2400" b="1">
                <a:solidFill>
                  <a:srgbClr val="64748B"/>
                </a:solidFill>
                <a:latin typeface="Open Sans"/>
                <a:ea typeface="Open Sans"/>
                <a:cs typeface="Open Sans"/>
                <a:sym typeface="Open Sans"/>
              </a:defRPr>
            </a:lvl1pPr>
          </a:lstStyle>
          <a:p>
            <a:r>
              <a:t>Questions &amp; Discussion</a:t>
            </a:r>
          </a:p>
        </p:txBody>
      </p:sp>
      <p:sp>
        <p:nvSpPr>
          <p:cNvPr id="311" name="Google Shape;261;p23"/>
          <p:cNvSpPr txBox="1"/>
          <p:nvPr/>
        </p:nvSpPr>
        <p:spPr>
          <a:xfrm>
            <a:off x="4972050" y="4073723"/>
            <a:ext cx="22479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b="1">
                <a:solidFill>
                  <a:srgbClr val="334155"/>
                </a:solidFill>
                <a:latin typeface="Open Sans"/>
                <a:ea typeface="Open Sans"/>
                <a:cs typeface="Open Sans"/>
                <a:sym typeface="Open Sans"/>
              </a:defRPr>
            </a:lvl1pPr>
          </a:lstStyle>
          <a:p>
            <a:r>
              <a:t>Mousheng Xu, PhD</a:t>
            </a:r>
          </a:p>
        </p:txBody>
      </p:sp>
      <p:sp>
        <p:nvSpPr>
          <p:cNvPr id="312" name="Google Shape;262;p23"/>
          <p:cNvSpPr txBox="1"/>
          <p:nvPr/>
        </p:nvSpPr>
        <p:spPr>
          <a:xfrm>
            <a:off x="4972050" y="4521398"/>
            <a:ext cx="22479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a:solidFill>
                  <a:srgbClr val="334155"/>
                </a:solidFill>
                <a:latin typeface="Open Sans"/>
                <a:ea typeface="Open Sans"/>
                <a:cs typeface="Open Sans"/>
                <a:sym typeface="Open Sans"/>
              </a:defRPr>
            </a:lvl1pPr>
          </a:lstStyle>
          <a:p>
            <a:r>
              <a:t>moushengxu@gmail.com</a:t>
            </a:r>
          </a:p>
        </p:txBody>
      </p:sp>
      <p:pic>
        <p:nvPicPr>
          <p:cNvPr id="313" name="Image" descr="Image"/>
          <p:cNvPicPr>
            <a:picLocks noChangeAspect="1"/>
          </p:cNvPicPr>
          <p:nvPr/>
        </p:nvPicPr>
        <p:blipFill>
          <a:blip r:embed="rId3"/>
          <a:stretch>
            <a:fillRect/>
          </a:stretch>
        </p:blipFill>
        <p:spPr>
          <a:xfrm>
            <a:off x="-1" y="0"/>
            <a:ext cx="12192001" cy="6858001"/>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TotalTime>
  <Words>1795</Words>
  <Application>Microsoft Macintosh PowerPoint</Application>
  <PresentationFormat>Widescreen</PresentationFormat>
  <Paragraphs>163</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Mousheng Xu</cp:lastModifiedBy>
  <cp:revision>6</cp:revision>
  <dcterms:modified xsi:type="dcterms:W3CDTF">2025-11-30T15:34:11Z</dcterms:modified>
</cp:coreProperties>
</file>