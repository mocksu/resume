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</p:sldIdLst>
  <p:sldSz cy="6858000" cx="12192000"/>
  <p:notesSz cx="6858000" cy="9144000"/>
  <p:embeddedFontLst>
    <p:embeddedFont>
      <p:font typeface="Outfit"/>
      <p:regular r:id="rId7"/>
      <p:bold r:id="rId8"/>
    </p:embeddedFont>
    <p:embeddedFont>
      <p:font typeface="DM Sans"/>
      <p:regular r:id="rId9"/>
      <p:bold r:id="rId10"/>
      <p:italic r:id="rId11"/>
      <p:boldItalic r:id="rId1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1" Type="http://schemas.openxmlformats.org/officeDocument/2006/relationships/font" Target="fonts/DMSans-italic.fntdata"/><Relationship Id="rId10" Type="http://schemas.openxmlformats.org/officeDocument/2006/relationships/font" Target="fonts/DMSans-bold.fntdata"/><Relationship Id="rId12" Type="http://schemas.openxmlformats.org/officeDocument/2006/relationships/font" Target="fonts/DMSans-boldItalic.fntdata"/><Relationship Id="rId9" Type="http://schemas.openxmlformats.org/officeDocument/2006/relationships/font" Target="fonts/DMSans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font" Target="fonts/Outfit-regular.fntdata"/><Relationship Id="rId8" Type="http://schemas.openxmlformats.org/officeDocument/2006/relationships/font" Target="fonts/Outfit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Relationship Id="rId4" Type="http://schemas.openxmlformats.org/officeDocument/2006/relationships/image" Target="../media/image4.png"/><Relationship Id="rId5" Type="http://schemas.openxmlformats.org/officeDocument/2006/relationships/image" Target="../media/image2.png"/><Relationship Id="rId6" Type="http://schemas.openxmlformats.org/officeDocument/2006/relationships/image" Target="../media/image3.png"/><Relationship Id="rId7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5" name="Google Shape;8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0" y="1238250"/>
            <a:ext cx="5334000" cy="487680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571500" y="381000"/>
            <a:ext cx="1160145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0F172A"/>
                </a:solidFill>
                <a:latin typeface="Outfit"/>
                <a:ea typeface="Outfit"/>
                <a:cs typeface="Outfit"/>
                <a:sym typeface="Outfit"/>
              </a:rPr>
              <a:t>Illustrative Example: Does She Love Me?</a:t>
            </a:r>
            <a:endParaRPr/>
          </a:p>
        </p:txBody>
      </p:sp>
      <p:sp>
        <p:nvSpPr>
          <p:cNvPr id="87" name="Google Shape;87;p13"/>
          <p:cNvSpPr/>
          <p:nvPr/>
        </p:nvSpPr>
        <p:spPr>
          <a:xfrm>
            <a:off x="571500" y="933450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88" name="Google Shape;88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1238250"/>
            <a:ext cx="5334000" cy="4876800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3"/>
          <p:cNvSpPr txBox="1"/>
          <p:nvPr/>
        </p:nvSpPr>
        <p:spPr>
          <a:xfrm>
            <a:off x="771525" y="1390650"/>
            <a:ext cx="2981325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64748B"/>
                </a:solidFill>
                <a:latin typeface="DM Sans"/>
                <a:ea typeface="DM Sans"/>
                <a:cs typeface="DM Sans"/>
                <a:sym typeface="DM Sans"/>
              </a:rPr>
              <a:t>1. DECISION TREE (SINGLE CLASSIFIER)</a:t>
            </a:r>
            <a:endParaRPr/>
          </a:p>
        </p:txBody>
      </p:sp>
      <p:pic>
        <p:nvPicPr>
          <p:cNvPr descr="image.png" id="90" name="Google Shape;90;p1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71525" y="2343150"/>
            <a:ext cx="4933950" cy="2667000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3"/>
          <p:cNvSpPr txBox="1"/>
          <p:nvPr/>
        </p:nvSpPr>
        <p:spPr>
          <a:xfrm>
            <a:off x="6486525" y="1390650"/>
            <a:ext cx="318135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64748B"/>
                </a:solidFill>
                <a:latin typeface="DM Sans"/>
                <a:ea typeface="DM Sans"/>
                <a:cs typeface="DM Sans"/>
                <a:sym typeface="DM Sans"/>
              </a:rPr>
              <a:t>2. RANDOM FOREST (ENSEMBLE VOTING)</a:t>
            </a:r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6486525" y="2871787"/>
            <a:ext cx="493395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Averaging the predictions of multiple diverse trees mitigates the instability of a single tree, leading to a robust prediction.</a:t>
            </a:r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6486525" y="3767137"/>
            <a:ext cx="493395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2860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F172A"/>
                </a:solidFill>
                <a:latin typeface="DM Sans"/>
                <a:ea typeface="DM Sans"/>
                <a:cs typeface="DM Sans"/>
                <a:sym typeface="DM Sans"/>
              </a:rPr>
              <a:t>Trees must be diverse (Random Samples + Random Features).</a:t>
            </a:r>
            <a:endParaRPr/>
          </a:p>
        </p:txBody>
      </p:sp>
      <p:sp>
        <p:nvSpPr>
          <p:cNvPr id="94" name="Google Shape;94;p13"/>
          <p:cNvSpPr txBox="1"/>
          <p:nvPr/>
        </p:nvSpPr>
        <p:spPr>
          <a:xfrm>
            <a:off x="6486525" y="4119562"/>
            <a:ext cx="493395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2860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F172A"/>
                </a:solidFill>
                <a:latin typeface="DM Sans"/>
                <a:ea typeface="DM Sans"/>
                <a:cs typeface="DM Sans"/>
                <a:sym typeface="DM Sans"/>
              </a:rPr>
              <a:t>Final result is determined by **Majority Vote** (Classification) or **Averaging** (Regression).</a:t>
            </a:r>
            <a:endParaRPr/>
          </a:p>
        </p:txBody>
      </p:sp>
      <p:pic>
        <p:nvPicPr>
          <p:cNvPr descr="image.png" id="95" name="Google Shape;95;p1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486525" y="3786187"/>
            <a:ext cx="1524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6" name="Google Shape;96;p1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486525" y="4138612"/>
            <a:ext cx="152400" cy="152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