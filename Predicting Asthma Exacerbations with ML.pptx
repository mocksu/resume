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Roboto Slab"/>
      <p:regular r:id="rId18"/>
      <p:bold r:id="rId19"/>
    </p:embeddedFont>
    <p:embeddedFont>
      <p:font typeface="Open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regular.fntdata"/><Relationship Id="rId11" Type="http://schemas.openxmlformats.org/officeDocument/2006/relationships/slide" Target="slides/slide6.xml"/><Relationship Id="rId22" Type="http://schemas.openxmlformats.org/officeDocument/2006/relationships/font" Target="fonts/OpenSans-italic.fntdata"/><Relationship Id="rId10" Type="http://schemas.openxmlformats.org/officeDocument/2006/relationships/slide" Target="slides/slide5.xml"/><Relationship Id="rId21" Type="http://schemas.openxmlformats.org/officeDocument/2006/relationships/font" Target="fonts/Open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Open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Slab-bold.fntdata"/><Relationship Id="rId6" Type="http://schemas.openxmlformats.org/officeDocument/2006/relationships/slide" Target="slides/slide1.xml"/><Relationship Id="rId18" Type="http://schemas.openxmlformats.org/officeDocument/2006/relationships/font" Target="fonts/RobotoSlab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9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14.png"/><Relationship Id="rId7" Type="http://schemas.openxmlformats.org/officeDocument/2006/relationships/image" Target="../media/image10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10" Type="http://schemas.openxmlformats.org/officeDocument/2006/relationships/image" Target="../media/image16.png"/><Relationship Id="rId9" Type="http://schemas.openxmlformats.org/officeDocument/2006/relationships/image" Target="../media/image17.png"/><Relationship Id="rId5" Type="http://schemas.openxmlformats.org/officeDocument/2006/relationships/image" Target="../media/image19.png"/><Relationship Id="rId6" Type="http://schemas.openxmlformats.org/officeDocument/2006/relationships/image" Target="../media/image21.png"/><Relationship Id="rId7" Type="http://schemas.openxmlformats.org/officeDocument/2006/relationships/image" Target="../media/image32.png"/><Relationship Id="rId8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25.png"/><Relationship Id="rId5" Type="http://schemas.openxmlformats.org/officeDocument/2006/relationships/image" Target="../media/image2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29.png"/><Relationship Id="rId5" Type="http://schemas.openxmlformats.org/officeDocument/2006/relationships/image" Target="../media/image28.png"/><Relationship Id="rId6" Type="http://schemas.openxmlformats.org/officeDocument/2006/relationships/image" Target="../media/image33.png"/><Relationship Id="rId7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3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4.png"/><Relationship Id="rId4" Type="http://schemas.openxmlformats.org/officeDocument/2006/relationships/image" Target="../media/image30.png"/><Relationship Id="rId5" Type="http://schemas.openxmlformats.org/officeDocument/2006/relationships/image" Target="../media/image26.png"/><Relationship Id="rId6" Type="http://schemas.openxmlformats.org/officeDocument/2006/relationships/image" Target="../media/image35.png"/><Relationship Id="rId7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4589115"/>
            <a:ext cx="8572500" cy="92199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595437" y="2051744"/>
            <a:ext cx="900112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Predicting Severe Asthma Exacerbations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809750" y="3842444"/>
            <a:ext cx="85725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A Genome-Wide Association Study using Random Forests Classifiers</a:t>
            </a:r>
            <a:endParaRPr/>
          </a:p>
        </p:txBody>
      </p:sp>
      <p:pic>
        <p:nvPicPr>
          <p:cNvPr descr="image.png" id="88" name="Google Shape;8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43587" y="1223069"/>
            <a:ext cx="5048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1809750" y="4789140"/>
            <a:ext cx="8572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3A8A"/>
                </a:solidFill>
                <a:latin typeface="Open Sans"/>
                <a:ea typeface="Open Sans"/>
                <a:cs typeface="Open Sans"/>
                <a:sym typeface="Open Sans"/>
              </a:rPr>
              <a:t>Mousheng Xu, PhD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809750" y="5236815"/>
            <a:ext cx="8572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Dec 2025 | Symposium Presentation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71500" y="1795462"/>
            <a:ext cx="550068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766E"/>
                </a:solidFill>
                <a:latin typeface="Roboto Slab"/>
                <a:ea typeface="Roboto Slab"/>
                <a:cs typeface="Roboto Slab"/>
                <a:sym typeface="Roboto Slab"/>
              </a:rPr>
              <a:t>Mousheng Xu, PhD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2290762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Head of Biosciences, Sophyics Pte. Ltd.</a:t>
            </a:r>
            <a:endParaRPr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34250" y="2300287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685800" y="2786062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62000" y="278606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20+ Years Experience: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Bridging computational biology, statistical genetics, and machine learning.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85800" y="3509962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62000" y="3509962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Academic Foundation: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PhD in Bioinformatics (Boston Univ), Postdoc in Cancer Genetic Epidemiology (Harvard Medical School).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85800" y="4538662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62000" y="4538662"/>
            <a:ext cx="504825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Key Achievements:</a:t>
            </a:r>
            <a:endParaRPr/>
          </a:p>
        </p:txBody>
      </p:sp>
      <p:pic>
        <p:nvPicPr>
          <p:cNvPr descr="image.png" id="105" name="Google Shape;10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77237" y="3252787"/>
            <a:ext cx="1247775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838200" y="48434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○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52500" y="484346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Led large-scale GWAS &amp; NGS pipelines.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38200" y="52625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○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952500" y="526256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Founded Hubei Vidagen (Genetic Testing).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838200" y="56816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○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52500" y="568166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Scientific Breakthrough Award (ATS 2009).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Meet the Speaker</a:t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621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381750" y="2062162"/>
            <a:ext cx="550068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766E"/>
                </a:solidFill>
                <a:latin typeface="Roboto Slab"/>
                <a:ea typeface="Roboto Slab"/>
                <a:cs typeface="Roboto Slab"/>
                <a:sym typeface="Roboto Slab"/>
              </a:rPr>
              <a:t>Why Prediction Matters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381750" y="2557462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Severe asthma exacerbations are dangerous, costly, and frightening for families.</a:t>
            </a:r>
            <a:endParaRPr/>
          </a:p>
        </p:txBody>
      </p:sp>
      <p:pic>
        <p:nvPicPr>
          <p:cNvPr descr="image.png" id="122" name="Google Shape;12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0621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6496050" y="3357562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572250" y="335756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High Impact: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1.1 million hospital days and $2.9 billion in direct expenditures (US, 2000).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496050" y="4081462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572250" y="408146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The Gap: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Traditional clinical prediction rules (based on age, prior history) often have low sensitivity.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496050" y="4805362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6572250" y="4805362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The Goal: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Can we use the patient's </a:t>
            </a:r>
            <a:r>
              <a:rPr b="0" i="1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genetic profile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combined with clinical traits to accurately predict who is at risk?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The Clinical Challenge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77342"/>
            <a:ext cx="3492549" cy="37794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077342"/>
            <a:ext cx="3492549" cy="37794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077342"/>
            <a:ext cx="3492549" cy="377949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1262568" y="3086992"/>
            <a:ext cx="211026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766E"/>
                </a:solidFill>
                <a:latin typeface="Roboto Slab"/>
                <a:ea typeface="Roboto Slab"/>
                <a:cs typeface="Roboto Slab"/>
                <a:sym typeface="Roboto Slab"/>
              </a:rPr>
              <a:t>Sample Size (N)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1803350" y="3677542"/>
            <a:ext cx="1028700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Open Sans"/>
                <a:ea typeface="Open Sans"/>
                <a:cs typeface="Open Sans"/>
                <a:sym typeface="Open Sans"/>
              </a:rPr>
              <a:t>~417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66775" y="4504283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Subjects (Trios)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Childhood Asthma Management Program (CAMP)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4925853" y="3086992"/>
            <a:ext cx="234029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766E"/>
                </a:solidFill>
                <a:latin typeface="Roboto Slab"/>
                <a:ea typeface="Roboto Slab"/>
                <a:cs typeface="Roboto Slab"/>
                <a:sym typeface="Roboto Slab"/>
              </a:rPr>
              <a:t>Standard Method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5200650" y="3582292"/>
            <a:ext cx="1790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Logistic Regression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4645074" y="4029967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Struggles when predictors (P) vastly outnumber samples (N). Cannot easily model complex interactions.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8964185" y="3086992"/>
            <a:ext cx="182022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766E"/>
                </a:solidFill>
                <a:latin typeface="Roboto Slab"/>
                <a:ea typeface="Roboto Slab"/>
                <a:cs typeface="Roboto Slab"/>
                <a:sym typeface="Roboto Slab"/>
              </a:rPr>
              <a:t>Predictors (P)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8907512" y="3677542"/>
            <a:ext cx="1933575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Open Sans"/>
                <a:ea typeface="Open Sans"/>
                <a:cs typeface="Open Sans"/>
                <a:sym typeface="Open Sans"/>
              </a:rPr>
              <a:t>&gt;550,000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8423374" y="4504283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Single Nucleotide Polymorphisms (SNPs) + Clinical Traits</a:t>
            </a:r>
            <a:endParaRPr/>
          </a:p>
        </p:txBody>
      </p:sp>
      <p:pic>
        <p:nvPicPr>
          <p:cNvPr descr="image.png" id="148" name="Google Shape;14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31950" y="239166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24550" y="2391667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45699" y="239166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The "Small N, Large P" Problem</a:t>
            </a:r>
            <a:endParaRPr/>
          </a:p>
        </p:txBody>
      </p:sp>
      <p:sp>
        <p:nvSpPr>
          <p:cNvPr id="152" name="Google Shape;152;p16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571500" y="1719262"/>
            <a:ext cx="550068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766E"/>
                </a:solidFill>
                <a:latin typeface="Roboto Slab"/>
                <a:ea typeface="Roboto Slab"/>
                <a:cs typeface="Roboto Slab"/>
                <a:sym typeface="Roboto Slab"/>
              </a:rPr>
              <a:t>Why Random Forests?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571500" y="2214562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We chose Random Forests (RF) to integrate genetics and clinical data because: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685800" y="2976562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762000" y="297656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High Dimensionality: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RF effectively handles P &gt;&gt; N (550k SNPs vs 417 subjects).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685800" y="3700462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762000" y="3700462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No Overfitting: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The "ensemble" method of averaging thousands of decision trees reduces the risk of overfitting.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685800" y="4729162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762000" y="472916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Feature Importance: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It naturally ranks predictors (SNPs) by how much they improve the model's accuracy.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85800" y="5453062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762000" y="545306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Interactions: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Captures non-linear gene-gene and gene-environment interactions.</a:t>
            </a:r>
            <a:endParaRPr/>
          </a:p>
        </p:txBody>
      </p:sp>
      <p:pic>
        <p:nvPicPr>
          <p:cNvPr descr="image.png" id="168" name="Google Shape;16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621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Solution: Random Forests Classifiers</a:t>
            </a:r>
            <a:endParaRPr/>
          </a:p>
        </p:txBody>
      </p:sp>
      <p:sp>
        <p:nvSpPr>
          <p:cNvPr id="170" name="Google Shape;170;p17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73597"/>
            <a:ext cx="2755850" cy="3514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18000" y="1873597"/>
            <a:ext cx="2755850" cy="3514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64500" y="1873597"/>
            <a:ext cx="2755850" cy="35147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 txBox="1"/>
          <p:nvPr/>
        </p:nvSpPr>
        <p:spPr>
          <a:xfrm>
            <a:off x="3514725" y="5674072"/>
            <a:ext cx="51625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Clinical Traits Used:</a:t>
            </a:r>
            <a:r>
              <a:rPr b="0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Age, Sex, FEV1% (Lung Function), Treatment Group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812642" y="2883247"/>
            <a:ext cx="2273565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766E"/>
                </a:solidFill>
                <a:latin typeface="Roboto Slab"/>
                <a:ea typeface="Roboto Slab"/>
                <a:cs typeface="Roboto Slab"/>
                <a:sym typeface="Roboto Slab"/>
              </a:rPr>
              <a:t>Step 1: Initial Screen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866775" y="3730972"/>
            <a:ext cx="21653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Compute RF importance scores for all 550,000 SNPs in batches (chromosomal order).</a:t>
            </a:r>
            <a:endParaRPr/>
          </a:p>
        </p:txBody>
      </p:sp>
      <p:pic>
        <p:nvPicPr>
          <p:cNvPr descr="image.png" id="182" name="Google Shape;18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98850" y="3488084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 txBox="1"/>
          <p:nvPr/>
        </p:nvSpPr>
        <p:spPr>
          <a:xfrm>
            <a:off x="5050720" y="2883247"/>
            <a:ext cx="209026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766E"/>
                </a:solidFill>
                <a:latin typeface="Roboto Slab"/>
                <a:ea typeface="Roboto Slab"/>
                <a:cs typeface="Roboto Slab"/>
                <a:sym typeface="Roboto Slab"/>
              </a:rPr>
              <a:t>Step 2: Ranking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5013275" y="3378547"/>
            <a:ext cx="21653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Select the top 4,000 SNPs based on initial scores. Re-run RF to refine the ranking.</a:t>
            </a:r>
            <a:endParaRPr/>
          </a:p>
        </p:txBody>
      </p:sp>
      <p:pic>
        <p:nvPicPr>
          <p:cNvPr descr="image.png" id="185" name="Google Shape;185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45350" y="3488084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/>
        </p:nvSpPr>
        <p:spPr>
          <a:xfrm>
            <a:off x="9105643" y="2883247"/>
            <a:ext cx="2273565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766E"/>
                </a:solidFill>
                <a:latin typeface="Roboto Slab"/>
                <a:ea typeface="Roboto Slab"/>
                <a:cs typeface="Roboto Slab"/>
                <a:sym typeface="Roboto Slab"/>
              </a:rPr>
              <a:t>Step 3: Prediction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9159775" y="3730972"/>
            <a:ext cx="2165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Build final models using Top N SNPs (10, 40, 160, 320) + 4 Clinical Traits.</a:t>
            </a:r>
            <a:endParaRPr/>
          </a:p>
        </p:txBody>
      </p:sp>
      <p:pic>
        <p:nvPicPr>
          <p:cNvPr descr="image.png" id="188" name="Google Shape;188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720750" y="218792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67251" y="218792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8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Methodology: Feature Selection</a:t>
            </a:r>
            <a:endParaRPr/>
          </a:p>
        </p:txBody>
      </p:sp>
      <p:sp>
        <p:nvSpPr>
          <p:cNvPr id="191" name="Google Shape;191;p18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 txBox="1"/>
          <p:nvPr/>
        </p:nvSpPr>
        <p:spPr>
          <a:xfrm>
            <a:off x="571500" y="762000"/>
            <a:ext cx="52006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Visualizing the Signal</a:t>
            </a:r>
            <a:endParaRPr/>
          </a:p>
        </p:txBody>
      </p:sp>
      <p:sp>
        <p:nvSpPr>
          <p:cNvPr id="198" name="Google Shape;198;p19"/>
          <p:cNvSpPr/>
          <p:nvPr/>
        </p:nvSpPr>
        <p:spPr>
          <a:xfrm>
            <a:off x="571500" y="1428750"/>
            <a:ext cx="4953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9" name="Google Shape;19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 txBox="1"/>
          <p:nvPr/>
        </p:nvSpPr>
        <p:spPr>
          <a:xfrm>
            <a:off x="571500" y="2305050"/>
            <a:ext cx="408051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766E"/>
                </a:solidFill>
                <a:latin typeface="Roboto Slab"/>
                <a:ea typeface="Roboto Slab"/>
                <a:cs typeface="Roboto Slab"/>
                <a:sym typeface="Roboto Slab"/>
              </a:rPr>
              <a:t>The RF Importance Landscape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571500" y="2800350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Unlike a traditional GWAS Manhattan plot which shows -log(p-values), this plot visualizes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Random Forest Importance Scores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across the genome.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571500" y="385762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The "peaks" represent SNPs that contribute most significantly to classifying a patient as an "Exacerbator" vs. "Non-Exacerbator".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571500" y="49149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We identified a clear signal distinguishing the top predictive SNPs from the genomic background noise.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154810"/>
            <a:ext cx="110490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647825"/>
            <a:ext cx="11049000" cy="463867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2757487" y="1884015"/>
            <a:ext cx="66770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Area Under the Curve (AUC) in Independent Replication Cohort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809625" y="5345310"/>
            <a:ext cx="10620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65F46"/>
                </a:solidFill>
                <a:latin typeface="Open Sans"/>
                <a:ea typeface="Open Sans"/>
                <a:cs typeface="Open Sans"/>
                <a:sym typeface="Open Sans"/>
              </a:rPr>
              <a:t>Key Finding:</a:t>
            </a:r>
            <a:r>
              <a:rPr b="0" i="0" lang="en-US" sz="1500" u="none" cap="none" strike="noStrike">
                <a:solidFill>
                  <a:srgbClr val="065F46"/>
                </a:solidFill>
                <a:latin typeface="Open Sans"/>
                <a:ea typeface="Open Sans"/>
                <a:cs typeface="Open Sans"/>
                <a:sym typeface="Open Sans"/>
              </a:rPr>
              <a:t> Adding genetic markers significantly improved prediction over clinical history alone. The model plateaued at 160 SNPs, suggesting a robust genetic signature for exacerbation risk.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Genetics Improves Prediction</a:t>
            </a:r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14537"/>
            <a:ext cx="5238750" cy="390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862137"/>
            <a:ext cx="5238750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/>
        </p:nvSpPr>
        <p:spPr>
          <a:xfrm>
            <a:off x="904875" y="2890837"/>
            <a:ext cx="485060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766E"/>
                </a:solidFill>
                <a:latin typeface="Roboto Slab"/>
                <a:ea typeface="Roboto Slab"/>
                <a:cs typeface="Roboto Slab"/>
                <a:sym typeface="Roboto Slab"/>
              </a:rPr>
              <a:t>Rigorous Validation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904875" y="3386137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We did not just test on the training data.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6715125" y="2738437"/>
            <a:ext cx="485060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766E"/>
                </a:solidFill>
                <a:latin typeface="Roboto Slab"/>
                <a:ea typeface="Roboto Slab"/>
                <a:cs typeface="Roboto Slab"/>
                <a:sym typeface="Roboto Slab"/>
              </a:rPr>
              <a:t>Recognition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6715125" y="3233737"/>
            <a:ext cx="4619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This work was highlighted for its innovative approach:</a:t>
            </a:r>
            <a:endParaRPr/>
          </a:p>
        </p:txBody>
      </p:sp>
      <p:pic>
        <p:nvPicPr>
          <p:cNvPr descr="image.png" id="226" name="Google Shape;22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4875" y="2319337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1019175" y="3843337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1095375" y="3843337"/>
            <a:ext cx="44291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Permutation Testing: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Confirmed results were not due to chance.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1019175" y="4567237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1095375" y="4567237"/>
            <a:ext cx="44291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Independent Replication: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The model was tested on a separate cohort of 164 subjects, maintaining an AUC of 0.66.</a:t>
            </a:r>
            <a:endParaRPr/>
          </a:p>
        </p:txBody>
      </p:sp>
      <p:pic>
        <p:nvPicPr>
          <p:cNvPr descr="image.png" id="231" name="Google Shape;231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15125" y="2166937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1"/>
          <p:cNvSpPr txBox="1"/>
          <p:nvPr/>
        </p:nvSpPr>
        <p:spPr>
          <a:xfrm>
            <a:off x="6829425" y="3995737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6905625" y="3995737"/>
            <a:ext cx="44291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ATS 2009: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Featured at the "Scientific Breakthroughs of the Year" symposium.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6829425" y="4719637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6905625" y="4719637"/>
            <a:ext cx="44291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Impact: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Categorized as "Highly Accessed" by BMC Medical Genetics, influencing future ML-GWAS integration studies.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Validation &amp; Impact</a:t>
            </a:r>
            <a:endParaRPr/>
          </a:p>
        </p:txBody>
      </p:sp>
      <p:sp>
        <p:nvSpPr>
          <p:cNvPr id="237" name="Google Shape;237;p21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2" name="Google Shape;24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2"/>
          <p:cNvSpPr txBox="1"/>
          <p:nvPr/>
        </p:nvSpPr>
        <p:spPr>
          <a:xfrm>
            <a:off x="571500" y="762000"/>
            <a:ext cx="5200650" cy="1076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Vision: Data Science in BFE</a:t>
            </a:r>
            <a:endParaRPr/>
          </a:p>
        </p:txBody>
      </p:sp>
      <p:sp>
        <p:nvSpPr>
          <p:cNvPr id="244" name="Google Shape;244;p22"/>
          <p:cNvSpPr/>
          <p:nvPr/>
        </p:nvSpPr>
        <p:spPr>
          <a:xfrm>
            <a:off x="571500" y="1952625"/>
            <a:ext cx="4953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5" name="Google Shape;24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2"/>
          <p:cNvSpPr txBox="1"/>
          <p:nvPr/>
        </p:nvSpPr>
        <p:spPr>
          <a:xfrm>
            <a:off x="571500" y="2362200"/>
            <a:ext cx="4630578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766E"/>
                </a:solidFill>
                <a:latin typeface="Roboto Slab"/>
                <a:ea typeface="Roboto Slab"/>
                <a:cs typeface="Roboto Slab"/>
                <a:sym typeface="Roboto Slab"/>
              </a:rPr>
              <a:t>Integrating Computation &amp; Biology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571500" y="2857500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My goal is to establish a functional lab at GTIIT that bridges the gap between biological engineering and data science.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685800" y="4057650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762000" y="4057650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Curriculum: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Introducing practical ML and Bioinformatics training for students.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685800" y="4781550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762000" y="4781550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Research: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Developing explainable AI pipelines for complex food and biological data.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685800" y="5505450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762000" y="5505450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Innovation: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Translating large-scale "Big Data" into actionable engineering insights.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8" name="Google Shape;25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3"/>
          <p:cNvSpPr txBox="1"/>
          <p:nvPr/>
        </p:nvSpPr>
        <p:spPr>
          <a:xfrm>
            <a:off x="4081462" y="1888777"/>
            <a:ext cx="4230528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Thank You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4857750" y="3184177"/>
            <a:ext cx="24765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Questions &amp; Discussion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4972050" y="4073723"/>
            <a:ext cx="224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Mousheng Xu, PhD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4972050" y="4521398"/>
            <a:ext cx="224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moushengxu@gmail.com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7" name="Google Shape;26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4"/>
          <p:cNvSpPr/>
          <p:nvPr/>
        </p:nvSpPr>
        <p:spPr>
          <a:xfrm>
            <a:off x="571500" y="32766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4"/>
          <p:cNvSpPr/>
          <p:nvPr/>
        </p:nvSpPr>
        <p:spPr>
          <a:xfrm>
            <a:off x="571500" y="406137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4"/>
          <p:cNvSpPr/>
          <p:nvPr/>
        </p:nvSpPr>
        <p:spPr>
          <a:xfrm>
            <a:off x="571500" y="484614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1" name="Google Shape;27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5180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4"/>
          <p:cNvSpPr txBox="1"/>
          <p:nvPr/>
        </p:nvSpPr>
        <p:spPr>
          <a:xfrm>
            <a:off x="1666875" y="2446139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https://media.istockphoto.com/id/1678122264/photo/doctor-helping-a-child-patient-with-an-asthma-inhaler-in-his-office-at-the-medical-clinic.jpg?s=612x612&amp;w=0&amp;k=20&amp;c=UvQYXKAYKKbLMTCehwX9DoMezQmUs5JzUAbfDl5jydc=</a:t>
            </a:r>
            <a:endParaRPr/>
          </a:p>
        </p:txBody>
      </p:sp>
      <p:sp>
        <p:nvSpPr>
          <p:cNvPr id="273" name="Google Shape;273;p24"/>
          <p:cNvSpPr txBox="1"/>
          <p:nvPr/>
        </p:nvSpPr>
        <p:spPr>
          <a:xfrm>
            <a:off x="1666875" y="288994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www.istockphoto.com</a:t>
            </a:r>
            <a:endParaRPr/>
          </a:p>
        </p:txBody>
      </p:sp>
      <p:pic>
        <p:nvPicPr>
          <p:cNvPr descr="image.png" id="274" name="Google Shape;27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43554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4"/>
          <p:cNvSpPr txBox="1"/>
          <p:nvPr/>
        </p:nvSpPr>
        <p:spPr>
          <a:xfrm>
            <a:off x="1666875" y="342900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https://media.geeksforgeeks.org/wp-content/uploads/20250627112439534287/Random-forest-algorithm.webp</a:t>
            </a:r>
            <a:endParaRPr/>
          </a:p>
        </p:txBody>
      </p:sp>
      <p:sp>
        <p:nvSpPr>
          <p:cNvPr id="276" name="Google Shape;276;p24"/>
          <p:cNvSpPr txBox="1"/>
          <p:nvPr/>
        </p:nvSpPr>
        <p:spPr>
          <a:xfrm>
            <a:off x="1666875" y="367471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www.geeksforgeeks.org</a:t>
            </a:r>
            <a:endParaRPr/>
          </a:p>
        </p:txBody>
      </p:sp>
      <p:pic>
        <p:nvPicPr>
          <p:cNvPr descr="image.png" id="277" name="Google Shape;277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2031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4"/>
          <p:cNvSpPr txBox="1"/>
          <p:nvPr/>
        </p:nvSpPr>
        <p:spPr>
          <a:xfrm>
            <a:off x="1666875" y="421377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https://raw.githubusercontent.com/ngs-docs/angus/2017/files/prostate_manhattan.396.png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1666875" y="445948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angus.readthedocs.io</a:t>
            </a:r>
            <a:endParaRPr/>
          </a:p>
        </p:txBody>
      </p:sp>
      <p:pic>
        <p:nvPicPr>
          <p:cNvPr descr="image.png" id="280" name="Google Shape;280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00508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4"/>
          <p:cNvSpPr txBox="1"/>
          <p:nvPr/>
        </p:nvSpPr>
        <p:spPr>
          <a:xfrm>
            <a:off x="1666875" y="4998541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https://cdn.labmanager.com/assets/image/55331/hybrid-lab-work-s.webp</a:t>
            </a:r>
            <a:endParaRPr/>
          </a:p>
        </p:txBody>
      </p:sp>
      <p:sp>
        <p:nvSpPr>
          <p:cNvPr id="282" name="Google Shape;282;p24"/>
          <p:cNvSpPr txBox="1"/>
          <p:nvPr/>
        </p:nvSpPr>
        <p:spPr>
          <a:xfrm>
            <a:off x="1666875" y="524425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www.labmanager.com</a:t>
            </a:r>
            <a:endParaRPr/>
          </a:p>
        </p:txBody>
      </p:sp>
      <p:sp>
        <p:nvSpPr>
          <p:cNvPr id="283" name="Google Shape;283;p24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Image Sources</a:t>
            </a:r>
            <a:endParaRPr/>
          </a:p>
        </p:txBody>
      </p:sp>
      <p:sp>
        <p:nvSpPr>
          <p:cNvPr id="284" name="Google Shape;284;p24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