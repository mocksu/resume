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3" name="Shape 11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Text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431800" indent="-406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431800" indent="762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431800" indent="5588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431800" indent="1041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431800" indent="14986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/>
            </a:lvl1pPr>
          </a:lstStyle>
          <a:p>
            <a:r>
              <a:t>Title Text</a:t>
            </a:r>
          </a:p>
        </p:txBody>
      </p:sp>
      <p:sp>
        <p:nvSpPr>
          <p:cNvPr id="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indent="-406400">
              <a:spcBef>
                <a:spcPts val="500"/>
              </a:spcBef>
              <a:buSzPts val="2800"/>
              <a:defRPr sz="2800"/>
            </a:lvl1pPr>
            <a:lvl2pPr marL="977900" indent="-444500">
              <a:spcBef>
                <a:spcPts val="500"/>
              </a:spcBef>
              <a:buSzPts val="2800"/>
              <a:defRPr sz="2800"/>
            </a:lvl2pPr>
            <a:lvl3pPr marL="1513839" indent="-497839">
              <a:spcBef>
                <a:spcPts val="500"/>
              </a:spcBef>
              <a:buSzPts val="2800"/>
              <a:defRPr sz="2800"/>
            </a:lvl3pPr>
            <a:lvl4pPr marL="2019300" indent="-533400">
              <a:spcBef>
                <a:spcPts val="500"/>
              </a:spcBef>
              <a:buSzPts val="2800"/>
              <a:defRPr sz="2800"/>
            </a:lvl4pPr>
            <a:lvl5pPr marL="2476500" indent="-533400">
              <a:spcBef>
                <a:spcPts val="500"/>
              </a:spcBef>
              <a:buSzPts val="2800"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7" name="Google Shape;36;p6"/>
          <p:cNvSpPr txBox="1">
            <a:spLocks noGrp="1"/>
          </p:cNvSpPr>
          <p:nvPr>
            <p:ph type="body" sz="half" idx="2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/>
          <a:p>
            <a:pPr indent="-406400">
              <a:spcBef>
                <a:spcPts val="500"/>
              </a:spcBef>
              <a:buSzPts val="2800"/>
              <a:defRPr sz="2800"/>
            </a:pPr>
            <a:endParaRPr/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400" b="1"/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400" b="1"/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400" b="1"/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400" b="1"/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Google Shape;43;p7"/>
          <p:cNvSpPr txBox="1">
            <a:spLocks noGrp="1"/>
          </p:cNvSpPr>
          <p:nvPr>
            <p:ph type="body" sz="quarter" idx="2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  <a:endParaRPr/>
          </a:p>
        </p:txBody>
      </p:sp>
      <p:sp>
        <p:nvSpPr>
          <p:cNvPr id="58" name="Google Shape;44;p7"/>
          <p:cNvSpPr txBox="1">
            <a:spLocks noGrp="1"/>
          </p:cNvSpPr>
          <p:nvPr>
            <p:ph type="body" sz="quarter" idx="22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228600" indent="0">
              <a:spcBef>
                <a:spcPts val="400"/>
              </a:spcBef>
              <a:buClrTx/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9" name="Google Shape;45;p7"/>
          <p:cNvSpPr txBox="1">
            <a:spLocks noGrp="1"/>
          </p:cNvSpPr>
          <p:nvPr>
            <p:ph type="body" sz="quarter" idx="23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/>
          <a:p>
            <a:pPr indent="-381000">
              <a:spcBef>
                <a:spcPts val="400"/>
              </a:spcBef>
              <a:buSzPts val="2400"/>
              <a:defRPr sz="2400"/>
            </a:pPr>
            <a:endParaRPr/>
          </a:p>
        </p:txBody>
      </p:sp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Google Shape;57;p9"/>
          <p:cNvSpPr txBox="1">
            <a:spLocks noGrp="1"/>
          </p:cNvSpPr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228600" indent="0">
              <a:spcBef>
                <a:spcPts val="200"/>
              </a:spcBef>
              <a:buClrTx/>
              <a:buSzTx/>
              <a:buFontTx/>
              <a:buNone/>
              <a:defRPr sz="1400"/>
            </a:pPr>
            <a:endParaRPr/>
          </a:p>
        </p:txBody>
      </p:sp>
      <p:sp>
        <p:nvSpPr>
          <p:cNvPr id="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86" name="Google Shape;63;p10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228600" indent="0">
              <a:spcBef>
                <a:spcPts val="200"/>
              </a:spcBef>
              <a:buClrTx/>
              <a:buSzTx/>
              <a:buFontTx/>
              <a:buNone/>
              <a:defRPr sz="1400"/>
            </a:lvl1pPr>
            <a:lvl2pPr marL="228600" indent="457200">
              <a:spcBef>
                <a:spcPts val="200"/>
              </a:spcBef>
              <a:buClrTx/>
              <a:buSzTx/>
              <a:buFontTx/>
              <a:buNone/>
              <a:defRPr sz="1400"/>
            </a:lvl2pPr>
            <a:lvl3pPr marL="228600" indent="914400">
              <a:spcBef>
                <a:spcPts val="200"/>
              </a:spcBef>
              <a:buClrTx/>
              <a:buSzTx/>
              <a:buFontTx/>
              <a:buNone/>
              <a:defRPr sz="1400"/>
            </a:lvl3pPr>
            <a:lvl4pPr marL="228600" indent="1371600">
              <a:spcBef>
                <a:spcPts val="200"/>
              </a:spcBef>
              <a:buClrTx/>
              <a:buSzTx/>
              <a:buFontTx/>
              <a:buNone/>
              <a:defRPr sz="1400"/>
            </a:lvl4pPr>
            <a:lvl5pPr marL="228600" indent="1828800">
              <a:spcBef>
                <a:spcPts val="200"/>
              </a:spcBef>
              <a:buClrTx/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6" name="Body Level One…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8"/>
            <a:ext cx="4525964" cy="8229601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le Text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6" cy="20574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5" name="Body Level One…"/>
          <p:cNvSpPr txBox="1">
            <a:spLocks noGrp="1"/>
          </p:cNvSpPr>
          <p:nvPr>
            <p:ph type="body" idx="1"/>
          </p:nvPr>
        </p:nvSpPr>
        <p:spPr>
          <a:xfrm rot="5400000">
            <a:off x="541337" y="190500"/>
            <a:ext cx="5851526" cy="6019800"/>
          </a:xfrm>
          <a:prstGeom prst="rect">
            <a:avLst/>
          </a:prstGeom>
        </p:spPr>
        <p:txBody>
          <a:bodyPr/>
          <a:lstStyle>
            <a:lvl1pPr indent="-342900">
              <a:spcBef>
                <a:spcPts val="300"/>
              </a:spcBef>
            </a:lvl1pPr>
            <a:lvl2pPr marL="963385" indent="-391885">
              <a:spcBef>
                <a:spcPts val="300"/>
              </a:spcBef>
            </a:lvl2pPr>
            <a:lvl3pPr marL="1485900" indent="-457200">
              <a:spcBef>
                <a:spcPts val="300"/>
              </a:spcBef>
            </a:lvl3pPr>
            <a:lvl4pPr marL="2034539" indent="-548639">
              <a:spcBef>
                <a:spcPts val="300"/>
              </a:spcBef>
            </a:lvl4pPr>
            <a:lvl5pPr marL="2491739" indent="-548639">
              <a:spcBef>
                <a:spcPts val="300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88967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4318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72457" marR="0" indent="-464457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498600" marR="0" indent="-5080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20421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4993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956560" marR="0" indent="-56896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4137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8709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328159" marR="0" indent="-56895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t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84;p13" descr="Google Shape;84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Google Shape;85;p13" descr="Google Shape;85;p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589114"/>
            <a:ext cx="8572500" cy="9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Google Shape;86;p13"/>
          <p:cNvSpPr txBox="1"/>
          <p:nvPr/>
        </p:nvSpPr>
        <p:spPr>
          <a:xfrm>
            <a:off x="1595437" y="2051743"/>
            <a:ext cx="9001126" cy="147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48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Predicting Severe Asthma Exacerbations</a:t>
            </a:r>
          </a:p>
        </p:txBody>
      </p:sp>
      <p:sp>
        <p:nvSpPr>
          <p:cNvPr id="118" name="Google Shape;87;p13"/>
          <p:cNvSpPr txBox="1"/>
          <p:nvPr/>
        </p:nvSpPr>
        <p:spPr>
          <a:xfrm>
            <a:off x="1809750" y="3842444"/>
            <a:ext cx="8572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A Genome-Wide Association Study using Random Forests Classifiers</a:t>
            </a:r>
          </a:p>
        </p:txBody>
      </p:sp>
      <p:pic>
        <p:nvPicPr>
          <p:cNvPr id="119" name="Google Shape;88;p13" descr="Google Shape;88;p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587" y="1223069"/>
            <a:ext cx="504826" cy="571501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89;p13"/>
          <p:cNvSpPr txBox="1"/>
          <p:nvPr/>
        </p:nvSpPr>
        <p:spPr>
          <a:xfrm>
            <a:off x="1809750" y="4789139"/>
            <a:ext cx="8572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121" name="Google Shape;90;p13"/>
          <p:cNvSpPr txBox="1"/>
          <p:nvPr/>
        </p:nvSpPr>
        <p:spPr>
          <a:xfrm>
            <a:off x="1809750" y="5236814"/>
            <a:ext cx="85725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3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Dec 2025 | GTIIT’s 3rd International Symposium Presentation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95;p14" descr="Google Shape;95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Google Shape;96;p14"/>
          <p:cNvSpPr txBox="1"/>
          <p:nvPr/>
        </p:nvSpPr>
        <p:spPr>
          <a:xfrm>
            <a:off x="571499" y="1477961"/>
            <a:ext cx="550068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125" name="Google Shape;99;p14"/>
          <p:cNvSpPr txBox="1"/>
          <p:nvPr/>
        </p:nvSpPr>
        <p:spPr>
          <a:xfrm>
            <a:off x="685800" y="2468561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26" name="Google Shape;100;p14"/>
          <p:cNvSpPr txBox="1"/>
          <p:nvPr/>
        </p:nvSpPr>
        <p:spPr>
          <a:xfrm>
            <a:off x="838200" y="2468561"/>
            <a:ext cx="85666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20+ Years Experience:</a:t>
            </a:r>
            <a:r>
              <a:rPr b="0"/>
              <a:t> Bridging computational biology, statistical genetics, and machine learning.</a:t>
            </a:r>
          </a:p>
        </p:txBody>
      </p:sp>
      <p:sp>
        <p:nvSpPr>
          <p:cNvPr id="127" name="Google Shape;101;p14"/>
          <p:cNvSpPr txBox="1"/>
          <p:nvPr/>
        </p:nvSpPr>
        <p:spPr>
          <a:xfrm>
            <a:off x="685800" y="28749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28" name="Google Shape;102;p14"/>
          <p:cNvSpPr txBox="1"/>
          <p:nvPr/>
        </p:nvSpPr>
        <p:spPr>
          <a:xfrm>
            <a:off x="838200" y="2887662"/>
            <a:ext cx="8237054" cy="169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Academic Foundation:</a:t>
            </a:r>
            <a:r>
              <a:rPr b="0"/>
              <a:t> 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/>
              <a:t>  B.S. in Genetics (Wuhan University)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/>
              <a:t>  M.S. in Biochemistry &amp; Molecular Biology, M.S. in Computer Science (University of Kansas)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/>
              <a:t>  PhD in Bioinformatics (Boston University; Harvard Medical School)</a:t>
            </a:r>
          </a:p>
          <a:p>
            <a:pPr marL="150394" indent="-150394">
              <a:lnSpc>
                <a:spcPct val="160000"/>
              </a:lnSpc>
              <a:buSzPct val="100000"/>
              <a:buChar char="○"/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rPr b="0"/>
              <a:t>  Postdoc in Cancer Genetic Epidemiology (Harvard T.H. Chan School of Public Health).</a:t>
            </a:r>
          </a:p>
        </p:txBody>
      </p:sp>
      <p:sp>
        <p:nvSpPr>
          <p:cNvPr id="129" name="Google Shape;103;p14"/>
          <p:cNvSpPr txBox="1"/>
          <p:nvPr/>
        </p:nvSpPr>
        <p:spPr>
          <a:xfrm>
            <a:off x="685800" y="51482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30" name="Google Shape;104;p14"/>
          <p:cNvSpPr txBox="1"/>
          <p:nvPr/>
        </p:nvSpPr>
        <p:spPr>
          <a:xfrm>
            <a:off x="838200" y="4830762"/>
            <a:ext cx="49720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Key Achievements:</a:t>
            </a:r>
          </a:p>
        </p:txBody>
      </p:sp>
      <p:sp>
        <p:nvSpPr>
          <p:cNvPr id="131" name="Google Shape;106;p14"/>
          <p:cNvSpPr txBox="1"/>
          <p:nvPr/>
        </p:nvSpPr>
        <p:spPr>
          <a:xfrm>
            <a:off x="838200" y="51736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2" name="Google Shape;107;p14"/>
          <p:cNvSpPr txBox="1"/>
          <p:nvPr/>
        </p:nvSpPr>
        <p:spPr>
          <a:xfrm>
            <a:off x="1066800" y="51609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Led large-scale GWAS &amp; NGS pipelines.</a:t>
            </a:r>
          </a:p>
        </p:txBody>
      </p:sp>
      <p:sp>
        <p:nvSpPr>
          <p:cNvPr id="133" name="Google Shape;108;p14"/>
          <p:cNvSpPr txBox="1"/>
          <p:nvPr/>
        </p:nvSpPr>
        <p:spPr>
          <a:xfrm>
            <a:off x="838200" y="55927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4" name="Google Shape;109;p14"/>
          <p:cNvSpPr txBox="1"/>
          <p:nvPr/>
        </p:nvSpPr>
        <p:spPr>
          <a:xfrm>
            <a:off x="1066800" y="55800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Founded Hubei Vidagen (Genetic Testing).</a:t>
            </a:r>
          </a:p>
        </p:txBody>
      </p:sp>
      <p:sp>
        <p:nvSpPr>
          <p:cNvPr id="135" name="Google Shape;110;p14"/>
          <p:cNvSpPr txBox="1"/>
          <p:nvPr/>
        </p:nvSpPr>
        <p:spPr>
          <a:xfrm>
            <a:off x="838200" y="6011862"/>
            <a:ext cx="1143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○</a:t>
            </a:r>
          </a:p>
        </p:txBody>
      </p:sp>
      <p:sp>
        <p:nvSpPr>
          <p:cNvPr id="136" name="Google Shape;111;p14"/>
          <p:cNvSpPr txBox="1"/>
          <p:nvPr/>
        </p:nvSpPr>
        <p:spPr>
          <a:xfrm>
            <a:off x="1066800" y="5999162"/>
            <a:ext cx="47434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Scientific Breakthrough Award (ATS 2009).</a:t>
            </a:r>
          </a:p>
        </p:txBody>
      </p:sp>
      <p:sp>
        <p:nvSpPr>
          <p:cNvPr id="137" name="Google Shape;112;p1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Self Introduction</a:t>
            </a:r>
          </a:p>
        </p:txBody>
      </p:sp>
      <p:sp>
        <p:nvSpPr>
          <p:cNvPr id="138" name="Google Shape;113;p1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9" name="Google Shape;97;p14"/>
          <p:cNvSpPr txBox="1"/>
          <p:nvPr/>
        </p:nvSpPr>
        <p:spPr>
          <a:xfrm>
            <a:off x="571500" y="1973261"/>
            <a:ext cx="5238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Head of Biosciences, A Private Company In Singapore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18;p15" descr="Google Shape;118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1859"/>
            <a:ext cx="12192001" cy="6858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2" name="Google Shape;119;p15" descr="Google Shape;119;p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62161"/>
            <a:ext cx="5238750" cy="381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Google Shape;129;p15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The Clinical Challenge</a:t>
            </a:r>
          </a:p>
        </p:txBody>
      </p:sp>
      <p:sp>
        <p:nvSpPr>
          <p:cNvPr id="144" name="Google Shape;130;p15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145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79" y="1463675"/>
            <a:ext cx="5238751" cy="5238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Google Shape;86;p13" descr="Google Shape;86;p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595" y="2256158"/>
            <a:ext cx="4364252" cy="11981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Google Shape;87;p13" descr="Google Shape;87;p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3192" y="4126246"/>
            <a:ext cx="5086357" cy="1692371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Google Shape;88;p13"/>
          <p:cNvSpPr txBox="1"/>
          <p:nvPr/>
        </p:nvSpPr>
        <p:spPr>
          <a:xfrm>
            <a:off x="6381750" y="1844774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9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Definition</a:t>
            </a:r>
          </a:p>
        </p:txBody>
      </p:sp>
      <p:sp>
        <p:nvSpPr>
          <p:cNvPr id="149" name="Google Shape;89;p13"/>
          <p:cNvSpPr txBox="1"/>
          <p:nvPr/>
        </p:nvSpPr>
        <p:spPr>
          <a:xfrm>
            <a:off x="6381750" y="3729453"/>
            <a:ext cx="55006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9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Prognostic Significance</a:t>
            </a:r>
          </a:p>
        </p:txBody>
      </p:sp>
      <p:sp>
        <p:nvSpPr>
          <p:cNvPr id="150" name="Google Shape;92;p13"/>
          <p:cNvSpPr txBox="1"/>
          <p:nvPr/>
        </p:nvSpPr>
        <p:spPr>
          <a:xfrm>
            <a:off x="6619875" y="2501999"/>
            <a:ext cx="48101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Severe Asthma Exacerbations: </a:t>
            </a:r>
            <a:r>
              <a:rPr b="1">
                <a:solidFill>
                  <a:srgbClr val="1E3A8A"/>
                </a:solidFill>
              </a:rPr>
              <a:t>emergency room visit or a hospitalization</a:t>
            </a:r>
            <a:r>
              <a:t> for asthma symptoms.</a:t>
            </a:r>
          </a:p>
        </p:txBody>
      </p:sp>
      <p:sp>
        <p:nvSpPr>
          <p:cNvPr id="151" name="Google Shape;93;p13"/>
          <p:cNvSpPr txBox="1"/>
          <p:nvPr/>
        </p:nvSpPr>
        <p:spPr>
          <a:xfrm>
            <a:off x="6596062" y="4309491"/>
            <a:ext cx="4810126" cy="1325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The ability to predict severe asthma exacerbations would therefore have </a:t>
            </a:r>
            <a:r>
              <a:rPr b="1">
                <a:solidFill>
                  <a:srgbClr val="1E3A8A"/>
                </a:solidFill>
              </a:rPr>
              <a:t>direct prognostic significance</a:t>
            </a:r>
            <a:r>
              <a:t> and might form the basis for the development of </a:t>
            </a:r>
            <a:r>
              <a:rPr b="1">
                <a:solidFill>
                  <a:srgbClr val="1E3A8A"/>
                </a:solidFill>
              </a:rPr>
              <a:t>earlier therapeutic interventions</a:t>
            </a:r>
            <a:r>
              <a:t>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35;p16" descr="Google Shape;135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Google Shape;136;p16" descr="Google Shape;13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77341"/>
            <a:ext cx="3492549" cy="3779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5" name="Google Shape;137;p16" descr="Google Shape;137;p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8" y="2077341"/>
            <a:ext cx="3492550" cy="3779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Google Shape;138;p16" descr="Google Shape;138;p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077341"/>
            <a:ext cx="3492550" cy="3779491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Google Shape;139;p16"/>
          <p:cNvSpPr txBox="1"/>
          <p:nvPr/>
        </p:nvSpPr>
        <p:spPr>
          <a:xfrm>
            <a:off x="1262567" y="3086991"/>
            <a:ext cx="2110265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Sample Size (N)</a:t>
            </a:r>
          </a:p>
        </p:txBody>
      </p:sp>
      <p:sp>
        <p:nvSpPr>
          <p:cNvPr id="158" name="Google Shape;140;p16"/>
          <p:cNvSpPr txBox="1"/>
          <p:nvPr/>
        </p:nvSpPr>
        <p:spPr>
          <a:xfrm>
            <a:off x="1378798" y="3694036"/>
            <a:ext cx="1581996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72"/>
              </a:lnSpc>
              <a:defRPr sz="36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~417</a:t>
            </a:r>
          </a:p>
        </p:txBody>
      </p:sp>
      <p:sp>
        <p:nvSpPr>
          <p:cNvPr id="159" name="Google Shape;141;p16"/>
          <p:cNvSpPr txBox="1"/>
          <p:nvPr/>
        </p:nvSpPr>
        <p:spPr>
          <a:xfrm>
            <a:off x="866700" y="4529682"/>
            <a:ext cx="2902000" cy="83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33333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Subjects (Trios)</a:t>
            </a:r>
            <a:br/>
            <a:r>
              <a:t> Childhood Asthma Management Program (CAMP)</a:t>
            </a:r>
          </a:p>
        </p:txBody>
      </p:sp>
      <p:sp>
        <p:nvSpPr>
          <p:cNvPr id="160" name="Google Shape;142;p16"/>
          <p:cNvSpPr txBox="1"/>
          <p:nvPr/>
        </p:nvSpPr>
        <p:spPr>
          <a:xfrm>
            <a:off x="4925852" y="3086991"/>
            <a:ext cx="234029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Standard Method</a:t>
            </a:r>
          </a:p>
        </p:txBody>
      </p:sp>
      <p:sp>
        <p:nvSpPr>
          <p:cNvPr id="161" name="Google Shape;143;p16"/>
          <p:cNvSpPr txBox="1"/>
          <p:nvPr/>
        </p:nvSpPr>
        <p:spPr>
          <a:xfrm>
            <a:off x="5200650" y="3642617"/>
            <a:ext cx="17907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Logistic Regression</a:t>
            </a:r>
          </a:p>
        </p:txBody>
      </p:sp>
      <p:sp>
        <p:nvSpPr>
          <p:cNvPr id="162" name="Google Shape;144;p16"/>
          <p:cNvSpPr txBox="1"/>
          <p:nvPr/>
        </p:nvSpPr>
        <p:spPr>
          <a:xfrm>
            <a:off x="4645000" y="4400141"/>
            <a:ext cx="2902000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Struggles when predictors (P) vastly outnumber samples (N). Cannot easily model complex interactions.</a:t>
            </a:r>
          </a:p>
        </p:txBody>
      </p:sp>
      <p:sp>
        <p:nvSpPr>
          <p:cNvPr id="163" name="Google Shape;145;p16"/>
          <p:cNvSpPr txBox="1"/>
          <p:nvPr/>
        </p:nvSpPr>
        <p:spPr>
          <a:xfrm>
            <a:off x="8964184" y="3086991"/>
            <a:ext cx="1820228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Predictors (P)</a:t>
            </a:r>
          </a:p>
        </p:txBody>
      </p:sp>
      <p:sp>
        <p:nvSpPr>
          <p:cNvPr id="164" name="Google Shape;146;p16"/>
          <p:cNvSpPr txBox="1"/>
          <p:nvPr/>
        </p:nvSpPr>
        <p:spPr>
          <a:xfrm>
            <a:off x="8907512" y="3677542"/>
            <a:ext cx="1933576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59972"/>
              </a:lnSpc>
              <a:defRPr sz="3600" b="1">
                <a:solidFill>
                  <a:srgbClr val="1E3A8A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&gt;550,000</a:t>
            </a:r>
          </a:p>
        </p:txBody>
      </p:sp>
      <p:sp>
        <p:nvSpPr>
          <p:cNvPr id="165" name="Google Shape;147;p16"/>
          <p:cNvSpPr txBox="1"/>
          <p:nvPr/>
        </p:nvSpPr>
        <p:spPr>
          <a:xfrm>
            <a:off x="8423374" y="4504282"/>
            <a:ext cx="29020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Single Nucleotide Polymorphisms (SNPs) + Clinical Traits</a:t>
            </a:r>
          </a:p>
        </p:txBody>
      </p:sp>
      <p:pic>
        <p:nvPicPr>
          <p:cNvPr id="166" name="Google Shape;148;p16" descr="Google Shape;148;p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1950" y="2391666"/>
            <a:ext cx="571501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Google Shape;149;p16" descr="Google Shape;149;p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4550" y="2391666"/>
            <a:ext cx="342900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Google Shape;150;p16" descr="Google Shape;150;p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5698" y="2391666"/>
            <a:ext cx="457201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151;p16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The "Small N, Large P" Problem</a:t>
            </a:r>
          </a:p>
        </p:txBody>
      </p:sp>
      <p:sp>
        <p:nvSpPr>
          <p:cNvPr id="170" name="Google Shape;152;p16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3810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Machine Learning With Random Forests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995661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Leveraging ensemble power for robust predictive modeling.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5751" y="4002285"/>
            <a:ext cx="523875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6209269" y="1641947"/>
            <a:ext cx="5500687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F172A"/>
                </a:solidFill>
                <a:latin typeface="Outfit"/>
                <a:ea typeface="Outfit"/>
                <a:cs typeface="Outfit"/>
                <a:sym typeface="Outfit"/>
              </a:rPr>
              <a:t>Key Concepts of Random Forests</a:t>
            </a:r>
            <a:endParaRPr dirty="0"/>
          </a:p>
        </p:txBody>
      </p:sp>
      <p:sp>
        <p:nvSpPr>
          <p:cNvPr id="94" name="Google Shape;94;p13"/>
          <p:cNvSpPr txBox="1"/>
          <p:nvPr/>
        </p:nvSpPr>
        <p:spPr>
          <a:xfrm>
            <a:off x="6495019" y="211819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 </a:t>
            </a:r>
            <a:r>
              <a:rPr lang="en-US" sz="1350" b="1" i="0" u="none" strike="noStrike" cap="none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decision tree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predicts outcomes by splitting data based on feature values.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6495019" y="2809652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ensemble of many decision trees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forms a "forest".</a:t>
            </a:r>
            <a:endParaRPr dirty="0"/>
          </a:p>
        </p:txBody>
      </p:sp>
      <p:sp>
        <p:nvSpPr>
          <p:cNvPr id="96" name="Google Shape;96;p13"/>
          <p:cNvSpPr txBox="1"/>
          <p:nvPr/>
        </p:nvSpPr>
        <p:spPr>
          <a:xfrm>
            <a:off x="6495019" y="3226818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Each tree uses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random samples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of the data and considers only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random features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at each split, enhancing diversity.</a:t>
            </a:r>
            <a:endParaRPr dirty="0"/>
          </a:p>
        </p:txBody>
      </p:sp>
      <p:sp>
        <p:nvSpPr>
          <p:cNvPr id="97" name="Google Shape;97;p13"/>
          <p:cNvSpPr txBox="1"/>
          <p:nvPr/>
        </p:nvSpPr>
        <p:spPr>
          <a:xfrm>
            <a:off x="6495019" y="3918273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This randomization significantly </a:t>
            </a:r>
            <a:r>
              <a:rPr lang="en-US" sz="1350" b="1" i="0" u="none" strike="noStrike" cap="none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reduces overfitting</a:t>
            </a:r>
            <a:r>
              <a:rPr lang="en-US" sz="13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and improves generalization.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6495019" y="4609728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Handles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nonlinear, high-dimensional data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effectively, crucial for complex datasets.</a:t>
            </a:r>
            <a:endParaRPr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6495019" y="5301184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Provides valuable </a:t>
            </a:r>
            <a:r>
              <a:rPr lang="en-US" sz="1350" b="1" i="0" u="none" strike="noStrike" cap="none" dirty="0">
                <a:solidFill>
                  <a:srgbClr val="0EA5E9"/>
                </a:solidFill>
                <a:latin typeface="DM Sans"/>
                <a:ea typeface="DM Sans"/>
                <a:cs typeface="DM Sans"/>
                <a:sym typeface="DM Sans"/>
              </a:rPr>
              <a:t>feature importance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scores, indicating which variables are most predictive.</a:t>
            </a:r>
            <a:endParaRPr dirty="0"/>
          </a:p>
        </p:txBody>
      </p:sp>
      <p:pic>
        <p:nvPicPr>
          <p:cNvPr id="100" name="Google Shape;10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213724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282870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3245868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393732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4628778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09269" y="5320234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Sample of a decision tree">
            <a:extLst>
              <a:ext uri="{FF2B5EF4-FFF2-40B4-BE49-F238E27FC236}">
                <a16:creationId xmlns:a16="http://schemas.microsoft.com/office/drawing/2014/main" id="{63DF4727-A7E2-DB52-98AD-312EADB7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44" y="1564008"/>
            <a:ext cx="4065242" cy="2411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3C81D1D-BF77-613B-4FAA-529D1BD29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09" y="4094685"/>
            <a:ext cx="3781438" cy="2836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92;p13">
            <a:extLst>
              <a:ext uri="{FF2B5EF4-FFF2-40B4-BE49-F238E27FC236}">
                <a16:creationId xmlns:a16="http://schemas.microsoft.com/office/drawing/2014/main" id="{37ECBCB8-9F79-BEB9-B296-6B860AC7B3A1}"/>
              </a:ext>
            </a:extLst>
          </p:cNvPr>
          <p:cNvSpPr txBox="1"/>
          <p:nvPr/>
        </p:nvSpPr>
        <p:spPr>
          <a:xfrm>
            <a:off x="745078" y="1677241"/>
            <a:ext cx="192405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DECISION</a:t>
            </a:r>
            <a:r>
              <a:rPr lang="zh-CN" altLang="en-US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altLang="zh-CN" sz="1050" b="1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TREE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57;p17" descr="Google Shape;157;p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73" name="Google Shape;158;p17"/>
          <p:cNvSpPr txBox="1"/>
          <p:nvPr/>
        </p:nvSpPr>
        <p:spPr>
          <a:xfrm>
            <a:off x="571499" y="1719261"/>
            <a:ext cx="550068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Why Random Forests?</a:t>
            </a:r>
          </a:p>
        </p:txBody>
      </p:sp>
      <p:sp>
        <p:nvSpPr>
          <p:cNvPr id="174" name="Google Shape;159;p17"/>
          <p:cNvSpPr txBox="1"/>
          <p:nvPr/>
        </p:nvSpPr>
        <p:spPr>
          <a:xfrm>
            <a:off x="571500" y="2214561"/>
            <a:ext cx="523875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We chose Random Forests (RF) to integrate genetics and clinical data because:</a:t>
            </a:r>
          </a:p>
        </p:txBody>
      </p:sp>
      <p:sp>
        <p:nvSpPr>
          <p:cNvPr id="175" name="Google Shape;160;p17"/>
          <p:cNvSpPr txBox="1"/>
          <p:nvPr/>
        </p:nvSpPr>
        <p:spPr>
          <a:xfrm>
            <a:off x="685800" y="2976561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76" name="Google Shape;161;p17"/>
          <p:cNvSpPr txBox="1"/>
          <p:nvPr/>
        </p:nvSpPr>
        <p:spPr>
          <a:xfrm>
            <a:off x="838200" y="2976561"/>
            <a:ext cx="497205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High Dimensionality:</a:t>
            </a:r>
            <a:r>
              <a:rPr b="0"/>
              <a:t> RF effectively handles P &gt;&gt; N (550k SNPs vs 417 subjects).</a:t>
            </a:r>
          </a:p>
        </p:txBody>
      </p:sp>
      <p:sp>
        <p:nvSpPr>
          <p:cNvPr id="177" name="Google Shape;162;p17"/>
          <p:cNvSpPr txBox="1"/>
          <p:nvPr/>
        </p:nvSpPr>
        <p:spPr>
          <a:xfrm>
            <a:off x="685800" y="37004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78" name="Google Shape;163;p17"/>
          <p:cNvSpPr txBox="1"/>
          <p:nvPr/>
        </p:nvSpPr>
        <p:spPr>
          <a:xfrm>
            <a:off x="838200" y="3700462"/>
            <a:ext cx="497205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No Overfitting:</a:t>
            </a:r>
            <a:r>
              <a:rPr b="0"/>
              <a:t> The "ensemble" method of averaging thousands of decision trees reduces the risk of overfitting.</a:t>
            </a:r>
          </a:p>
        </p:txBody>
      </p:sp>
      <p:sp>
        <p:nvSpPr>
          <p:cNvPr id="179" name="Google Shape;164;p17"/>
          <p:cNvSpPr txBox="1"/>
          <p:nvPr/>
        </p:nvSpPr>
        <p:spPr>
          <a:xfrm>
            <a:off x="685800" y="47291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80" name="Google Shape;165;p17"/>
          <p:cNvSpPr txBox="1"/>
          <p:nvPr/>
        </p:nvSpPr>
        <p:spPr>
          <a:xfrm>
            <a:off x="838200" y="4729162"/>
            <a:ext cx="497205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Feature Importance:</a:t>
            </a:r>
            <a:r>
              <a:rPr b="0"/>
              <a:t> It naturally ranks predictors (SNPs) by how much they improve the model's accuracy.</a:t>
            </a:r>
          </a:p>
        </p:txBody>
      </p:sp>
      <p:sp>
        <p:nvSpPr>
          <p:cNvPr id="181" name="Google Shape;166;p17"/>
          <p:cNvSpPr txBox="1"/>
          <p:nvPr/>
        </p:nvSpPr>
        <p:spPr>
          <a:xfrm>
            <a:off x="685800" y="5453062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182" name="Google Shape;167;p17"/>
          <p:cNvSpPr txBox="1"/>
          <p:nvPr/>
        </p:nvSpPr>
        <p:spPr>
          <a:xfrm>
            <a:off x="838200" y="5453062"/>
            <a:ext cx="497205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Interactions:</a:t>
            </a:r>
            <a:r>
              <a:rPr b="0"/>
              <a:t> Captures non-linear gene-gene and gene-environment interactions.</a:t>
            </a:r>
          </a:p>
        </p:txBody>
      </p:sp>
      <p:pic>
        <p:nvPicPr>
          <p:cNvPr id="183" name="Google Shape;168;p17" descr="Google Shape;168;p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062161"/>
            <a:ext cx="5238750" cy="3810001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Google Shape;169;p17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Solution: Random Forests Classifiers</a:t>
            </a:r>
          </a:p>
        </p:txBody>
      </p:sp>
      <p:sp>
        <p:nvSpPr>
          <p:cNvPr id="185" name="Google Shape;170;p17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75;p18" descr="Google Shape;175;p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Google Shape;176;p18" descr="Google Shape;176;p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Google Shape;177;p18" descr="Google Shape;177;p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0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Google Shape;178;p18" descr="Google Shape;178;p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4500" y="1873597"/>
            <a:ext cx="2755851" cy="3514726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Google Shape;179;p18"/>
          <p:cNvSpPr txBox="1"/>
          <p:nvPr/>
        </p:nvSpPr>
        <p:spPr>
          <a:xfrm>
            <a:off x="3514725" y="5674071"/>
            <a:ext cx="516255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 b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Clinical Traits Used:</a:t>
            </a:r>
            <a:r>
              <a:rPr b="0"/>
              <a:t> Age, Sex, FEV1% (Lung Function), Treatment Group</a:t>
            </a:r>
          </a:p>
        </p:txBody>
      </p:sp>
      <p:sp>
        <p:nvSpPr>
          <p:cNvPr id="192" name="Google Shape;180;p18"/>
          <p:cNvSpPr txBox="1"/>
          <p:nvPr/>
        </p:nvSpPr>
        <p:spPr>
          <a:xfrm>
            <a:off x="812642" y="2883247"/>
            <a:ext cx="2273565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1: Initial Screen</a:t>
            </a:r>
          </a:p>
        </p:txBody>
      </p:sp>
      <p:sp>
        <p:nvSpPr>
          <p:cNvPr id="193" name="Google Shape;181;p18"/>
          <p:cNvSpPr txBox="1"/>
          <p:nvPr/>
        </p:nvSpPr>
        <p:spPr>
          <a:xfrm>
            <a:off x="866775" y="3730971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Compute RF importance scores for all 550,000 SNPs in batches (chromosomal order).</a:t>
            </a:r>
          </a:p>
        </p:txBody>
      </p:sp>
      <p:pic>
        <p:nvPicPr>
          <p:cNvPr id="194" name="Google Shape;182;p18" descr="Google Shape;182;p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850" y="3488083"/>
            <a:ext cx="247651" cy="285751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Google Shape;183;p18"/>
          <p:cNvSpPr txBox="1"/>
          <p:nvPr/>
        </p:nvSpPr>
        <p:spPr>
          <a:xfrm>
            <a:off x="5050720" y="2883247"/>
            <a:ext cx="2090261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2: Ranking</a:t>
            </a:r>
          </a:p>
        </p:txBody>
      </p:sp>
      <p:sp>
        <p:nvSpPr>
          <p:cNvPr id="196" name="Google Shape;184;p18"/>
          <p:cNvSpPr txBox="1"/>
          <p:nvPr/>
        </p:nvSpPr>
        <p:spPr>
          <a:xfrm>
            <a:off x="5013275" y="3378546"/>
            <a:ext cx="216530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Select the top 4,000 SNPs based on initial scores. Re-run RF to refine the ranking.</a:t>
            </a:r>
          </a:p>
        </p:txBody>
      </p:sp>
      <p:pic>
        <p:nvPicPr>
          <p:cNvPr id="197" name="Google Shape;185;p18" descr="Google Shape;185;p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350" y="3488083"/>
            <a:ext cx="247651" cy="285751"/>
          </a:xfrm>
          <a:prstGeom prst="rect">
            <a:avLst/>
          </a:prstGeom>
          <a:ln w="12700">
            <a:miter lim="400000"/>
          </a:ln>
        </p:spPr>
      </p:pic>
      <p:sp>
        <p:nvSpPr>
          <p:cNvPr id="198" name="Google Shape;186;p18"/>
          <p:cNvSpPr txBox="1"/>
          <p:nvPr/>
        </p:nvSpPr>
        <p:spPr>
          <a:xfrm>
            <a:off x="9105642" y="2883247"/>
            <a:ext cx="2273566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Step 3: Prediction</a:t>
            </a:r>
          </a:p>
        </p:txBody>
      </p:sp>
      <p:sp>
        <p:nvSpPr>
          <p:cNvPr id="199" name="Google Shape;187;p18"/>
          <p:cNvSpPr txBox="1"/>
          <p:nvPr/>
        </p:nvSpPr>
        <p:spPr>
          <a:xfrm>
            <a:off x="9159775" y="3730971"/>
            <a:ext cx="2165301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Build final models using Top N SNPs (10, 40, 160, 320) + 4 Clinical Traits.</a:t>
            </a:r>
          </a:p>
        </p:txBody>
      </p:sp>
      <p:pic>
        <p:nvPicPr>
          <p:cNvPr id="200" name="Google Shape;188;p18" descr="Google Shape;188;p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0750" y="2187922"/>
            <a:ext cx="457201" cy="457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1" name="Google Shape;189;p18" descr="Google Shape;189;p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67251" y="2187922"/>
            <a:ext cx="457201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Google Shape;190;p18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Methodology: Feature Selection</a:t>
            </a:r>
          </a:p>
        </p:txBody>
      </p:sp>
      <p:sp>
        <p:nvSpPr>
          <p:cNvPr id="203" name="Google Shape;191;p18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196;p19" descr="Google Shape;196;p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Google Shape;197;p19"/>
          <p:cNvSpPr txBox="1"/>
          <p:nvPr/>
        </p:nvSpPr>
        <p:spPr>
          <a:xfrm>
            <a:off x="571500" y="762000"/>
            <a:ext cx="52006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Visualizing the Signal</a:t>
            </a:r>
          </a:p>
        </p:txBody>
      </p:sp>
      <p:sp>
        <p:nvSpPr>
          <p:cNvPr id="207" name="Google Shape;198;p19"/>
          <p:cNvSpPr/>
          <p:nvPr/>
        </p:nvSpPr>
        <p:spPr>
          <a:xfrm>
            <a:off x="571500" y="1428750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08" name="Google Shape;199;p19" descr="Google Shape;199;p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Google Shape;200;p19"/>
          <p:cNvSpPr txBox="1"/>
          <p:nvPr/>
        </p:nvSpPr>
        <p:spPr>
          <a:xfrm>
            <a:off x="571499" y="2305050"/>
            <a:ext cx="4080511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The RF Importance Landscape</a:t>
            </a:r>
          </a:p>
        </p:txBody>
      </p:sp>
      <p:sp>
        <p:nvSpPr>
          <p:cNvPr id="210" name="Google Shape;201;p19"/>
          <p:cNvSpPr txBox="1"/>
          <p:nvPr/>
        </p:nvSpPr>
        <p:spPr>
          <a:xfrm>
            <a:off x="571500" y="2800350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Unlike a traditional GWAS Manhattan plot which shows -log(p-values), this plot visualizes </a:t>
            </a:r>
            <a:r>
              <a:rPr b="1"/>
              <a:t>Random Forest Importance Scores</a:t>
            </a:r>
            <a:r>
              <a:t> across the genome.</a:t>
            </a:r>
          </a:p>
        </p:txBody>
      </p:sp>
      <p:sp>
        <p:nvSpPr>
          <p:cNvPr id="211" name="Google Shape;202;p19"/>
          <p:cNvSpPr txBox="1"/>
          <p:nvPr/>
        </p:nvSpPr>
        <p:spPr>
          <a:xfrm>
            <a:off x="571500" y="3857625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The "peaks" represent SNPs that contribute most significantly to classifying a patient as an "Exacerbator" vs. "Non-Exacerbator".</a:t>
            </a:r>
          </a:p>
        </p:txBody>
      </p:sp>
      <p:sp>
        <p:nvSpPr>
          <p:cNvPr id="212" name="Google Shape;203;p19"/>
          <p:cNvSpPr txBox="1"/>
          <p:nvPr/>
        </p:nvSpPr>
        <p:spPr>
          <a:xfrm>
            <a:off x="571500" y="4914900"/>
            <a:ext cx="49530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We identified a clear signal distinguishing the top predictive SNPs from the genomic background noise.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08;p20" descr="Google Shape;208;p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Google Shape;209;p20" descr="Google Shape;209;p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154810"/>
            <a:ext cx="11049000" cy="990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Google Shape;210;p20" descr="Google Shape;210;p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647825"/>
            <a:ext cx="11049000" cy="4638675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Google Shape;211;p20"/>
          <p:cNvSpPr txBox="1"/>
          <p:nvPr/>
        </p:nvSpPr>
        <p:spPr>
          <a:xfrm>
            <a:off x="2757486" y="1884015"/>
            <a:ext cx="6677026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Area Under the Curve (AUC) in Independent Replication Cohort</a:t>
            </a:r>
          </a:p>
        </p:txBody>
      </p:sp>
      <p:sp>
        <p:nvSpPr>
          <p:cNvPr id="218" name="Google Shape;212;p20"/>
          <p:cNvSpPr txBox="1"/>
          <p:nvPr/>
        </p:nvSpPr>
        <p:spPr>
          <a:xfrm>
            <a:off x="809625" y="5345310"/>
            <a:ext cx="1062037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065F46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Key Finding:</a:t>
            </a:r>
            <a:r>
              <a:rPr b="0"/>
              <a:t> Adding genetic markers significantly improved prediction over clinical history alone. The model plateaued at 160 SNPs, suggesting a robust genetic signature for exacerbation risk.</a:t>
            </a:r>
          </a:p>
        </p:txBody>
      </p:sp>
      <p:sp>
        <p:nvSpPr>
          <p:cNvPr id="219" name="Google Shape;213;p20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Genetics Improves Prediction</a:t>
            </a:r>
          </a:p>
        </p:txBody>
      </p:sp>
      <p:sp>
        <p:nvSpPr>
          <p:cNvPr id="220" name="Google Shape;214;p20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19;p21" descr="Google Shape;219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Google Shape;220;p21" descr="Google Shape;220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14536"/>
            <a:ext cx="5238750" cy="390525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Google Shape;221;p21" descr="Google Shape;221;p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862136"/>
            <a:ext cx="5238750" cy="4210051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Google Shape;222;p21"/>
          <p:cNvSpPr txBox="1"/>
          <p:nvPr/>
        </p:nvSpPr>
        <p:spPr>
          <a:xfrm>
            <a:off x="904874" y="2890836"/>
            <a:ext cx="4850608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Rigorous Validation</a:t>
            </a:r>
          </a:p>
        </p:txBody>
      </p:sp>
      <p:sp>
        <p:nvSpPr>
          <p:cNvPr id="226" name="Google Shape;223;p21"/>
          <p:cNvSpPr txBox="1"/>
          <p:nvPr/>
        </p:nvSpPr>
        <p:spPr>
          <a:xfrm>
            <a:off x="904875" y="3386137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We did not just test on the training data.</a:t>
            </a:r>
          </a:p>
        </p:txBody>
      </p:sp>
      <p:sp>
        <p:nvSpPr>
          <p:cNvPr id="227" name="Google Shape;224;p21"/>
          <p:cNvSpPr txBox="1"/>
          <p:nvPr/>
        </p:nvSpPr>
        <p:spPr>
          <a:xfrm>
            <a:off x="6715125" y="2738436"/>
            <a:ext cx="4850607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Recognition</a:t>
            </a:r>
          </a:p>
        </p:txBody>
      </p:sp>
      <p:sp>
        <p:nvSpPr>
          <p:cNvPr id="228" name="Google Shape;225;p21"/>
          <p:cNvSpPr txBox="1"/>
          <p:nvPr/>
        </p:nvSpPr>
        <p:spPr>
          <a:xfrm>
            <a:off x="6715125" y="3233736"/>
            <a:ext cx="4619625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This work was highlighted for its innovative approach:</a:t>
            </a:r>
          </a:p>
        </p:txBody>
      </p:sp>
      <p:pic>
        <p:nvPicPr>
          <p:cNvPr id="229" name="Google Shape;226;p21" descr="Google Shape;226;p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75" y="2319336"/>
            <a:ext cx="333375" cy="381001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Google Shape;227;p21"/>
          <p:cNvSpPr txBox="1"/>
          <p:nvPr/>
        </p:nvSpPr>
        <p:spPr>
          <a:xfrm>
            <a:off x="1019175" y="38433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1" name="Google Shape;228;p21"/>
          <p:cNvSpPr txBox="1"/>
          <p:nvPr/>
        </p:nvSpPr>
        <p:spPr>
          <a:xfrm>
            <a:off x="1171575" y="38433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Permutation Testing:</a:t>
            </a:r>
            <a:r>
              <a:rPr b="0"/>
              <a:t> Confirmed results were not due to chance.</a:t>
            </a:r>
          </a:p>
        </p:txBody>
      </p:sp>
      <p:sp>
        <p:nvSpPr>
          <p:cNvPr id="232" name="Google Shape;229;p21"/>
          <p:cNvSpPr txBox="1"/>
          <p:nvPr/>
        </p:nvSpPr>
        <p:spPr>
          <a:xfrm>
            <a:off x="1019175" y="45672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3" name="Google Shape;230;p21"/>
          <p:cNvSpPr txBox="1"/>
          <p:nvPr/>
        </p:nvSpPr>
        <p:spPr>
          <a:xfrm>
            <a:off x="1171575" y="45672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Independent Replication:</a:t>
            </a:r>
            <a:r>
              <a:rPr b="0"/>
              <a:t> The model was tested on a separate cohort of 164 subjects, maintaining an AUC of 0.66.</a:t>
            </a:r>
          </a:p>
        </p:txBody>
      </p:sp>
      <p:pic>
        <p:nvPicPr>
          <p:cNvPr id="234" name="Google Shape;231;p21" descr="Google Shape;231;p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125" y="2166936"/>
            <a:ext cx="428625" cy="381001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Google Shape;232;p21"/>
          <p:cNvSpPr txBox="1"/>
          <p:nvPr/>
        </p:nvSpPr>
        <p:spPr>
          <a:xfrm>
            <a:off x="6829425" y="39957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6" name="Google Shape;233;p21"/>
          <p:cNvSpPr txBox="1"/>
          <p:nvPr/>
        </p:nvSpPr>
        <p:spPr>
          <a:xfrm>
            <a:off x="6981825" y="3995737"/>
            <a:ext cx="4352925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ATS 2009:</a:t>
            </a:r>
            <a:r>
              <a:rPr b="0"/>
              <a:t> Featured at the "Scientific Breakthroughs of the Year" symposium.</a:t>
            </a:r>
          </a:p>
        </p:txBody>
      </p:sp>
      <p:sp>
        <p:nvSpPr>
          <p:cNvPr id="237" name="Google Shape;234;p21"/>
          <p:cNvSpPr txBox="1"/>
          <p:nvPr/>
        </p:nvSpPr>
        <p:spPr>
          <a:xfrm>
            <a:off x="6829425" y="4719637"/>
            <a:ext cx="76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38" name="Google Shape;235;p21"/>
          <p:cNvSpPr txBox="1"/>
          <p:nvPr/>
        </p:nvSpPr>
        <p:spPr>
          <a:xfrm>
            <a:off x="6981825" y="4719637"/>
            <a:ext cx="4352925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Impact:</a:t>
            </a:r>
            <a:r>
              <a:rPr b="0"/>
              <a:t> Categorized as "Highly Accessed" by BMC Medical Genetics, influencing future ML-GWAS integration studies.</a:t>
            </a:r>
          </a:p>
        </p:txBody>
      </p:sp>
      <p:sp>
        <p:nvSpPr>
          <p:cNvPr id="239" name="Google Shape;236;p21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Validation &amp; Impact</a:t>
            </a:r>
          </a:p>
        </p:txBody>
      </p:sp>
      <p:sp>
        <p:nvSpPr>
          <p:cNvPr id="240" name="Google Shape;237;p21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Google Shape;242;p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243;p22"/>
          <p:cNvSpPr txBox="1"/>
          <p:nvPr/>
        </p:nvSpPr>
        <p:spPr>
          <a:xfrm>
            <a:off x="571500" y="762000"/>
            <a:ext cx="5200650" cy="939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Vision: Data Science in BFE</a:t>
            </a:r>
          </a:p>
        </p:txBody>
      </p:sp>
      <p:sp>
        <p:nvSpPr>
          <p:cNvPr id="244" name="Google Shape;244;p22"/>
          <p:cNvSpPr/>
          <p:nvPr/>
        </p:nvSpPr>
        <p:spPr>
          <a:xfrm>
            <a:off x="571500" y="1952625"/>
            <a:ext cx="4953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45" name="Google Shape;245;p22" descr="Google Shape;245;p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6" name="Google Shape;246;p22"/>
          <p:cNvSpPr txBox="1"/>
          <p:nvPr/>
        </p:nvSpPr>
        <p:spPr>
          <a:xfrm>
            <a:off x="571500" y="2362200"/>
            <a:ext cx="4630578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2100" b="1">
                <a:solidFill>
                  <a:srgbClr val="0F766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Integrating Computation &amp; Biology</a:t>
            </a:r>
          </a:p>
        </p:txBody>
      </p:sp>
      <p:sp>
        <p:nvSpPr>
          <p:cNvPr id="247" name="Google Shape;247;p22"/>
          <p:cNvSpPr txBox="1"/>
          <p:nvPr/>
        </p:nvSpPr>
        <p:spPr>
          <a:xfrm>
            <a:off x="571500" y="2857500"/>
            <a:ext cx="4953000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My goal is to establish a functional lab at GTIIT that bridges the gap between biological engineering and data science.</a:t>
            </a:r>
          </a:p>
        </p:txBody>
      </p:sp>
      <p:sp>
        <p:nvSpPr>
          <p:cNvPr id="248" name="Google Shape;248;p22"/>
          <p:cNvSpPr txBox="1"/>
          <p:nvPr/>
        </p:nvSpPr>
        <p:spPr>
          <a:xfrm>
            <a:off x="685800" y="40576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49" name="Google Shape;249;p22"/>
          <p:cNvSpPr txBox="1"/>
          <p:nvPr/>
        </p:nvSpPr>
        <p:spPr>
          <a:xfrm>
            <a:off x="838200" y="40576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Curriculum:</a:t>
            </a:r>
            <a:r>
              <a:rPr b="0"/>
              <a:t> Introducing practical ML and Bioinformatics training for students.</a:t>
            </a:r>
          </a:p>
        </p:txBody>
      </p:sp>
      <p:sp>
        <p:nvSpPr>
          <p:cNvPr id="250" name="Google Shape;250;p22"/>
          <p:cNvSpPr txBox="1"/>
          <p:nvPr/>
        </p:nvSpPr>
        <p:spPr>
          <a:xfrm>
            <a:off x="685800" y="47815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51" name="Google Shape;251;p22"/>
          <p:cNvSpPr txBox="1"/>
          <p:nvPr/>
        </p:nvSpPr>
        <p:spPr>
          <a:xfrm>
            <a:off x="838200" y="47815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Research:</a:t>
            </a:r>
            <a:r>
              <a:rPr b="0"/>
              <a:t> Developing explainable AI pipelines for complex food and biological data.</a:t>
            </a:r>
          </a:p>
        </p:txBody>
      </p:sp>
      <p:sp>
        <p:nvSpPr>
          <p:cNvPr id="252" name="Google Shape;252;p22"/>
          <p:cNvSpPr txBox="1"/>
          <p:nvPr/>
        </p:nvSpPr>
        <p:spPr>
          <a:xfrm>
            <a:off x="685800" y="5505450"/>
            <a:ext cx="762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•</a:t>
            </a:r>
          </a:p>
        </p:txBody>
      </p:sp>
      <p:sp>
        <p:nvSpPr>
          <p:cNvPr id="253" name="Google Shape;253;p22"/>
          <p:cNvSpPr txBox="1"/>
          <p:nvPr/>
        </p:nvSpPr>
        <p:spPr>
          <a:xfrm>
            <a:off x="838200" y="5505450"/>
            <a:ext cx="4686300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Innovation:</a:t>
            </a:r>
            <a:r>
              <a:rPr b="0"/>
              <a:t> Translating large-scale "Big Data" into actionable engineering insights.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5" name="Google Shape;258;p23" descr="Google Shape;258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Google Shape;259;p23"/>
          <p:cNvSpPr txBox="1"/>
          <p:nvPr/>
        </p:nvSpPr>
        <p:spPr>
          <a:xfrm>
            <a:off x="4081462" y="1888776"/>
            <a:ext cx="4230528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60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Thank You</a:t>
            </a:r>
          </a:p>
        </p:txBody>
      </p:sp>
      <p:sp>
        <p:nvSpPr>
          <p:cNvPr id="257" name="Google Shape;260;p23"/>
          <p:cNvSpPr txBox="1"/>
          <p:nvPr/>
        </p:nvSpPr>
        <p:spPr>
          <a:xfrm>
            <a:off x="4857750" y="3184176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9944"/>
              </a:lnSpc>
              <a:defRPr sz="18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Questions &amp; Discussion</a:t>
            </a:r>
          </a:p>
        </p:txBody>
      </p:sp>
      <p:sp>
        <p:nvSpPr>
          <p:cNvPr id="258" name="Google Shape;261;p23"/>
          <p:cNvSpPr txBox="1"/>
          <p:nvPr/>
        </p:nvSpPr>
        <p:spPr>
          <a:xfrm>
            <a:off x="4972050" y="4073723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 b="1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 Xu, PhD</a:t>
            </a:r>
          </a:p>
        </p:txBody>
      </p:sp>
      <p:sp>
        <p:nvSpPr>
          <p:cNvPr id="259" name="Google Shape;262;p23"/>
          <p:cNvSpPr txBox="1"/>
          <p:nvPr/>
        </p:nvSpPr>
        <p:spPr>
          <a:xfrm>
            <a:off x="4972050" y="4521398"/>
            <a:ext cx="22479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60000"/>
              </a:lnSpc>
              <a:defRPr sz="15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moushengxu@gmail.com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7;p24" descr="Google Shape;267;p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4" name="Google Shape;268;p24"/>
          <p:cNvSpPr/>
          <p:nvPr/>
        </p:nvSpPr>
        <p:spPr>
          <a:xfrm>
            <a:off x="571500" y="3275012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65" name="Google Shape;269;p24"/>
          <p:cNvSpPr/>
          <p:nvPr/>
        </p:nvSpPr>
        <p:spPr>
          <a:xfrm>
            <a:off x="571500" y="4059782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66" name="Google Shape;270;p24"/>
          <p:cNvSpPr/>
          <p:nvPr/>
        </p:nvSpPr>
        <p:spPr>
          <a:xfrm>
            <a:off x="571500" y="4844553"/>
            <a:ext cx="11049000" cy="12701"/>
          </a:xfrm>
          <a:prstGeom prst="rect">
            <a:avLst/>
          </a:prstGeom>
          <a:solidFill>
            <a:srgbClr val="757575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267" name="Google Shape;271;p24" descr="Google Shape;271;p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51807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Google Shape;272;p24"/>
          <p:cNvSpPr txBox="1"/>
          <p:nvPr/>
        </p:nvSpPr>
        <p:spPr>
          <a:xfrm>
            <a:off x="1666875" y="2446139"/>
            <a:ext cx="9953625" cy="363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https://media.istockphoto.com/id/1678122264/photo/doctor-helping-a-child-patient-with-an-asthma-inhaler-in-his-office-at-the-medical-clinic.jpg?s=612x612&amp;w=0&amp;k=20&amp;c=UvQYXKAYKKbLMTCehwX9DoMezQmUs5JzUAbfDl5jydc=</a:t>
            </a:r>
          </a:p>
        </p:txBody>
      </p:sp>
      <p:sp>
        <p:nvSpPr>
          <p:cNvPr id="269" name="Google Shape;273;p24"/>
          <p:cNvSpPr txBox="1"/>
          <p:nvPr/>
        </p:nvSpPr>
        <p:spPr>
          <a:xfrm>
            <a:off x="1666875" y="2889943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www.istockphoto.com</a:t>
            </a:r>
          </a:p>
        </p:txBody>
      </p:sp>
      <p:pic>
        <p:nvPicPr>
          <p:cNvPr id="270" name="Google Shape;274;p24" descr="Google Shape;274;p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35548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Google Shape;275;p24"/>
          <p:cNvSpPr txBox="1"/>
          <p:nvPr/>
        </p:nvSpPr>
        <p:spPr>
          <a:xfrm>
            <a:off x="1666875" y="3429000"/>
            <a:ext cx="9953625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https://media.geeksforgeeks.org/wp-content/uploads/20250627112439534287/Random-forest-algorithm.webp</a:t>
            </a:r>
          </a:p>
        </p:txBody>
      </p:sp>
      <p:sp>
        <p:nvSpPr>
          <p:cNvPr id="272" name="Google Shape;276;p24"/>
          <p:cNvSpPr txBox="1"/>
          <p:nvPr/>
        </p:nvSpPr>
        <p:spPr>
          <a:xfrm>
            <a:off x="1666875" y="3674714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www.geeksforgeeks.org</a:t>
            </a:r>
          </a:p>
        </p:txBody>
      </p:sp>
      <p:pic>
        <p:nvPicPr>
          <p:cNvPr id="273" name="Google Shape;277;p24" descr="Google Shape;277;p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220319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Google Shape;278;p24"/>
          <p:cNvSpPr txBox="1"/>
          <p:nvPr/>
        </p:nvSpPr>
        <p:spPr>
          <a:xfrm>
            <a:off x="1666875" y="4213769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https://raw.githubusercontent.com/ngs-docs/angus/2017/files/prostate_manhattan.396.png</a:t>
            </a:r>
          </a:p>
        </p:txBody>
      </p:sp>
      <p:sp>
        <p:nvSpPr>
          <p:cNvPr id="275" name="Google Shape;279;p24"/>
          <p:cNvSpPr txBox="1"/>
          <p:nvPr/>
        </p:nvSpPr>
        <p:spPr>
          <a:xfrm>
            <a:off x="1666875" y="445948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angus.readthedocs.io</a:t>
            </a:r>
          </a:p>
        </p:txBody>
      </p:sp>
      <p:pic>
        <p:nvPicPr>
          <p:cNvPr id="276" name="Google Shape;280;p24" descr="Google Shape;280;p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005089"/>
            <a:ext cx="857250" cy="476251"/>
          </a:xfrm>
          <a:prstGeom prst="rect">
            <a:avLst/>
          </a:prstGeom>
          <a:ln w="12700">
            <a:miter lim="400000"/>
          </a:ln>
        </p:spPr>
      </p:pic>
      <p:sp>
        <p:nvSpPr>
          <p:cNvPr id="277" name="Google Shape;281;p24"/>
          <p:cNvSpPr txBox="1"/>
          <p:nvPr/>
        </p:nvSpPr>
        <p:spPr>
          <a:xfrm>
            <a:off x="1666875" y="4998541"/>
            <a:ext cx="995362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60000"/>
              </a:lnSpc>
              <a:defRPr sz="9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t>https://cdn.labmanager.com/assets/image/55331/hybrid-lab-work-s.webp</a:t>
            </a:r>
          </a:p>
        </p:txBody>
      </p:sp>
      <p:sp>
        <p:nvSpPr>
          <p:cNvPr id="278" name="Google Shape;282;p24"/>
          <p:cNvSpPr txBox="1"/>
          <p:nvPr/>
        </p:nvSpPr>
        <p:spPr>
          <a:xfrm>
            <a:off x="1666875" y="5244255"/>
            <a:ext cx="9953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defRPr>
            </a:pPr>
            <a:r>
              <a:t>Source: </a:t>
            </a:r>
            <a:r>
              <a:rPr>
                <a:solidFill>
                  <a:srgbClr val="4F46E5"/>
                </a:solidFill>
              </a:rPr>
              <a:t>www.labmanager.com</a:t>
            </a:r>
          </a:p>
        </p:txBody>
      </p:sp>
      <p:sp>
        <p:nvSpPr>
          <p:cNvPr id="279" name="Google Shape;283;p24"/>
          <p:cNvSpPr txBox="1"/>
          <p:nvPr/>
        </p:nvSpPr>
        <p:spPr>
          <a:xfrm>
            <a:off x="571500" y="571500"/>
            <a:ext cx="11601450" cy="469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100" b="1">
                <a:solidFill>
                  <a:srgbClr val="1E3A8A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r>
              <a:t>Image Sources</a:t>
            </a:r>
          </a:p>
        </p:txBody>
      </p:sp>
      <p:sp>
        <p:nvSpPr>
          <p:cNvPr id="280" name="Google Shape;284;p24"/>
          <p:cNvSpPr/>
          <p:nvPr/>
        </p:nvSpPr>
        <p:spPr>
          <a:xfrm>
            <a:off x="571500" y="1238250"/>
            <a:ext cx="11049000" cy="28575"/>
          </a:xfrm>
          <a:prstGeom prst="rect">
            <a:avLst/>
          </a:prstGeom>
          <a:solidFill>
            <a:srgbClr val="3B82F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955</Words>
  <Application>Microsoft Macintosh PowerPoint</Application>
  <PresentationFormat>Widescreen</PresentationFormat>
  <Paragraphs>110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DM Sans</vt:lpstr>
      <vt:lpstr>Outfit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Mousheng Xu</cp:lastModifiedBy>
  <cp:revision>2</cp:revision>
  <dcterms:modified xsi:type="dcterms:W3CDTF">2025-11-24T16:06:00Z</dcterms:modified>
</cp:coreProperties>
</file>