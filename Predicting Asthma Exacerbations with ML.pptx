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0" name="Shape 120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9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406400" indent="-3810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406400" indent="25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406400" indent="25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406400" indent="25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406400" indent="25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8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4" indent="-391884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8" indent="-548638">
              <a:spcBef>
                <a:spcPts val="300"/>
              </a:spcBef>
            </a:lvl4pPr>
            <a:lvl5pPr marL="2491738" indent="-548638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228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228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228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228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228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6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indent="-406400">
              <a:spcBef>
                <a:spcPts val="500"/>
              </a:spcBef>
              <a:buSzPts val="2800"/>
              <a:defRPr sz="2800"/>
            </a:lvl1pPr>
            <a:lvl2pPr marL="977900" indent="-444500">
              <a:spcBef>
                <a:spcPts val="500"/>
              </a:spcBef>
              <a:buSzPts val="2800"/>
              <a:defRPr sz="2800"/>
            </a:lvl2pPr>
            <a:lvl3pPr marL="1513838" indent="-497838">
              <a:spcBef>
                <a:spcPts val="500"/>
              </a:spcBef>
              <a:buSzPts val="2800"/>
              <a:defRPr sz="2800"/>
            </a:lvl3pPr>
            <a:lvl4pPr marL="2019300" indent="-533400">
              <a:spcBef>
                <a:spcPts val="500"/>
              </a:spcBef>
              <a:buSzPts val="2800"/>
              <a:defRPr sz="2800"/>
            </a:lvl4pPr>
            <a:lvl5pPr marL="2476500" indent="-533400">
              <a:spcBef>
                <a:spcPts val="500"/>
              </a:spcBef>
              <a:buSzPts val="2800"/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7" name="Google Shape;36;p6"/>
          <p:cNvSpPr txBox="1"/>
          <p:nvPr>
            <p:ph type="body" sz="half" idx="2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228600">
              <a:spcBef>
                <a:spcPts val="400"/>
              </a:spcBef>
              <a:buClrTx/>
              <a:buSzTx/>
              <a:buFontTx/>
              <a:buNone/>
              <a:defRPr b="1" sz="2400"/>
            </a:lvl1pPr>
            <a:lvl2pPr marL="0" indent="228600">
              <a:spcBef>
                <a:spcPts val="400"/>
              </a:spcBef>
              <a:buClrTx/>
              <a:buSzTx/>
              <a:buFontTx/>
              <a:buNone/>
              <a:defRPr b="1" sz="2400"/>
            </a:lvl2pPr>
            <a:lvl3pPr marL="0" indent="228600">
              <a:spcBef>
                <a:spcPts val="400"/>
              </a:spcBef>
              <a:buClrTx/>
              <a:buSzTx/>
              <a:buFontTx/>
              <a:buNone/>
              <a:defRPr b="1" sz="2400"/>
            </a:lvl3pPr>
            <a:lvl4pPr marL="0" indent="228600">
              <a:spcBef>
                <a:spcPts val="400"/>
              </a:spcBef>
              <a:buClrTx/>
              <a:buSzTx/>
              <a:buFontTx/>
              <a:buNone/>
              <a:defRPr b="1" sz="2400"/>
            </a:lvl4pPr>
            <a:lvl5pPr marL="0" indent="228600">
              <a:spcBef>
                <a:spcPts val="400"/>
              </a:spcBef>
              <a:buClrTx/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Google Shape;43;p7"/>
          <p:cNvSpPr txBox="1"/>
          <p:nvPr>
            <p:ph type="body" sz="quarter" idx="2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8" name="Google Shape;44;p7"/>
          <p:cNvSpPr txBox="1"/>
          <p:nvPr>
            <p:ph type="body" sz="quarter" idx="22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9" name="Google Shape;45;p7"/>
          <p:cNvSpPr txBox="1"/>
          <p:nvPr>
            <p:ph type="body" sz="quarter" idx="23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6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Google Shape;57;p9"/>
          <p:cNvSpPr txBox="1"/>
          <p:nvPr>
            <p:ph type="body" sz="quarter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8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6" name="Google Shape;63;p10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7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228600">
              <a:spcBef>
                <a:spcPts val="200"/>
              </a:spcBef>
              <a:buClrTx/>
              <a:buSzTx/>
              <a:buFontTx/>
              <a:buNone/>
              <a:defRPr sz="1400"/>
            </a:lvl1pPr>
            <a:lvl2pPr marL="0" indent="228600">
              <a:spcBef>
                <a:spcPts val="200"/>
              </a:spcBef>
              <a:buClrTx/>
              <a:buSzTx/>
              <a:buFontTx/>
              <a:buNone/>
              <a:defRPr sz="1400"/>
            </a:lvl2pPr>
            <a:lvl3pPr marL="0" indent="228600">
              <a:spcBef>
                <a:spcPts val="200"/>
              </a:spcBef>
              <a:buClrTx/>
              <a:buSzTx/>
              <a:buFontTx/>
              <a:buNone/>
              <a:defRPr sz="1400"/>
            </a:lvl3pPr>
            <a:lvl4pPr marL="0" indent="228600">
              <a:spcBef>
                <a:spcPts val="200"/>
              </a:spcBef>
              <a:buClrTx/>
              <a:buSzTx/>
              <a:buFontTx/>
              <a:buNone/>
              <a:defRPr sz="1400"/>
            </a:lvl4pPr>
            <a:lvl5pPr marL="0" indent="228600">
              <a:spcBef>
                <a:spcPts val="200"/>
              </a:spcBef>
              <a:buClrTx/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 rot="5400000">
            <a:off x="2309017" y="-251618"/>
            <a:ext cx="4525966" cy="8229601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4" indent="-391884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8" indent="-548638">
              <a:spcBef>
                <a:spcPts val="300"/>
              </a:spcBef>
            </a:lvl4pPr>
            <a:lvl5pPr marL="2491738" indent="-548638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le Text"/>
          <p:cNvSpPr txBox="1"/>
          <p:nvPr>
            <p:ph type="title"/>
          </p:nvPr>
        </p:nvSpPr>
        <p:spPr>
          <a:xfrm rot="5400000">
            <a:off x="4732337" y="2171700"/>
            <a:ext cx="5851527" cy="20574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5" name="Body Level One…"/>
          <p:cNvSpPr txBox="1"/>
          <p:nvPr>
            <p:ph type="body" idx="1"/>
          </p:nvPr>
        </p:nvSpPr>
        <p:spPr>
          <a:xfrm rot="5400000">
            <a:off x="541337" y="190500"/>
            <a:ext cx="5851527" cy="6019800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4" indent="-391884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8" indent="-548638">
              <a:spcBef>
                <a:spcPts val="300"/>
              </a:spcBef>
            </a:lvl4pPr>
            <a:lvl5pPr marL="2491738" indent="-548638">
              <a:spcBef>
                <a:spcPts val="300"/>
              </a:spcBef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/>
          <p:nvPr>
            <p:ph type="sldNum" sz="quarter" idx="2"/>
          </p:nvPr>
        </p:nvSpPr>
        <p:spPr>
          <a:xfrm>
            <a:off x="8428219" y="6414781"/>
            <a:ext cx="258582" cy="248264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4318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72457" marR="0" indent="-464457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98600" marR="0" indent="-5080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20421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4993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9565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4137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8709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3281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.tif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84;p13" descr="Google Shape;84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Google Shape;85;p13" descr="Google Shape;85;p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09750" y="4589114"/>
            <a:ext cx="8572500" cy="9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Google Shape;86;p13"/>
          <p:cNvSpPr txBox="1"/>
          <p:nvPr/>
        </p:nvSpPr>
        <p:spPr>
          <a:xfrm>
            <a:off x="1595437" y="2051742"/>
            <a:ext cx="9001126" cy="147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48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Predicting Severe Asthma Exacerbations</a:t>
            </a:r>
          </a:p>
        </p:txBody>
      </p:sp>
      <p:sp>
        <p:nvSpPr>
          <p:cNvPr id="125" name="Google Shape;87;p13"/>
          <p:cNvSpPr txBox="1"/>
          <p:nvPr/>
        </p:nvSpPr>
        <p:spPr>
          <a:xfrm>
            <a:off x="1809750" y="3842444"/>
            <a:ext cx="8572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 Genome-Wide Association Study using </a:t>
            </a:r>
            <a:r>
              <a:rPr b="1"/>
              <a:t>Random Forests</a:t>
            </a:r>
            <a:r>
              <a:t> Classifiers</a:t>
            </a:r>
          </a:p>
        </p:txBody>
      </p:sp>
      <p:pic>
        <p:nvPicPr>
          <p:cNvPr id="126" name="Google Shape;88;p13" descr="Google Shape;88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843587" y="1223069"/>
            <a:ext cx="504827" cy="571502"/>
          </a:xfrm>
          <a:prstGeom prst="rect">
            <a:avLst/>
          </a:prstGeom>
          <a:ln w="12700">
            <a:miter lim="400000"/>
          </a:ln>
        </p:spPr>
      </p:pic>
      <p:sp>
        <p:nvSpPr>
          <p:cNvPr id="127" name="Google Shape;89;p13"/>
          <p:cNvSpPr txBox="1"/>
          <p:nvPr/>
        </p:nvSpPr>
        <p:spPr>
          <a:xfrm>
            <a:off x="1809750" y="4789139"/>
            <a:ext cx="8572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b="1" sz="1500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Mousheng Xu, PhD</a:t>
            </a:r>
          </a:p>
        </p:txBody>
      </p:sp>
      <p:sp>
        <p:nvSpPr>
          <p:cNvPr id="128" name="Google Shape;90;p13"/>
          <p:cNvSpPr txBox="1"/>
          <p:nvPr/>
        </p:nvSpPr>
        <p:spPr>
          <a:xfrm>
            <a:off x="1809750" y="5236814"/>
            <a:ext cx="85725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3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Dec 2025 | GTIIT’s 3rd International Symposium Presentation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95;p14" descr="Google Shape;95;p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Google Shape;96;p14"/>
          <p:cNvSpPr txBox="1"/>
          <p:nvPr/>
        </p:nvSpPr>
        <p:spPr>
          <a:xfrm>
            <a:off x="571498" y="1477961"/>
            <a:ext cx="550069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Mousheng Xu, PhD</a:t>
            </a:r>
          </a:p>
        </p:txBody>
      </p:sp>
      <p:sp>
        <p:nvSpPr>
          <p:cNvPr id="132" name="Google Shape;99;p14"/>
          <p:cNvSpPr txBox="1"/>
          <p:nvPr/>
        </p:nvSpPr>
        <p:spPr>
          <a:xfrm>
            <a:off x="685800" y="2468560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133" name="Google Shape;100;p14"/>
          <p:cNvSpPr txBox="1"/>
          <p:nvPr/>
        </p:nvSpPr>
        <p:spPr>
          <a:xfrm>
            <a:off x="838200" y="2468560"/>
            <a:ext cx="997176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20+ Years Experience:</a:t>
            </a:r>
            <a:r>
              <a:rPr b="0"/>
              <a:t> Bridging computational biology, statistical genetics, and machine learning.</a:t>
            </a:r>
          </a:p>
        </p:txBody>
      </p:sp>
      <p:sp>
        <p:nvSpPr>
          <p:cNvPr id="134" name="Google Shape;101;p14"/>
          <p:cNvSpPr txBox="1"/>
          <p:nvPr/>
        </p:nvSpPr>
        <p:spPr>
          <a:xfrm>
            <a:off x="685800" y="2874961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135" name="Google Shape;102;p14"/>
          <p:cNvSpPr txBox="1"/>
          <p:nvPr/>
        </p:nvSpPr>
        <p:spPr>
          <a:xfrm>
            <a:off x="838200" y="2887661"/>
            <a:ext cx="8237054" cy="169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Academic Foundation:</a:t>
            </a:r>
            <a:r>
              <a:rPr b="0"/>
              <a:t> 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  B.S. in Genetics (Wuhan University)</a:t>
            </a:r>
            <a:endParaRPr b="1"/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  M.S. in Biochemistry &amp; Molecular Biology, M.S. in Computer Science (University of Kansas)</a:t>
            </a:r>
            <a:endParaRPr b="1"/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  PhD in Bioinformatics (Boston University; Harvard Medical School)</a:t>
            </a:r>
            <a:endParaRPr b="1"/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  Postdoc in Cancer Genetic Epidemiology (Harvard T.H. Chan School of Public Health).</a:t>
            </a:r>
          </a:p>
        </p:txBody>
      </p:sp>
      <p:sp>
        <p:nvSpPr>
          <p:cNvPr id="136" name="Google Shape;103;p14"/>
          <p:cNvSpPr txBox="1"/>
          <p:nvPr/>
        </p:nvSpPr>
        <p:spPr>
          <a:xfrm>
            <a:off x="685800" y="51482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137" name="Google Shape;104;p14"/>
          <p:cNvSpPr txBox="1"/>
          <p:nvPr/>
        </p:nvSpPr>
        <p:spPr>
          <a:xfrm>
            <a:off x="838200" y="4830762"/>
            <a:ext cx="49720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Key Achievements:</a:t>
            </a:r>
          </a:p>
        </p:txBody>
      </p:sp>
      <p:sp>
        <p:nvSpPr>
          <p:cNvPr id="138" name="Google Shape;106;p14"/>
          <p:cNvSpPr txBox="1"/>
          <p:nvPr/>
        </p:nvSpPr>
        <p:spPr>
          <a:xfrm>
            <a:off x="838200" y="51736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○</a:t>
            </a:r>
          </a:p>
        </p:txBody>
      </p:sp>
      <p:sp>
        <p:nvSpPr>
          <p:cNvPr id="139" name="Google Shape;107;p14"/>
          <p:cNvSpPr txBox="1"/>
          <p:nvPr/>
        </p:nvSpPr>
        <p:spPr>
          <a:xfrm>
            <a:off x="1066800" y="51609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Led large-scale GWAS &amp; NGS pipelines.</a:t>
            </a:r>
          </a:p>
        </p:txBody>
      </p:sp>
      <p:sp>
        <p:nvSpPr>
          <p:cNvPr id="140" name="Google Shape;108;p14"/>
          <p:cNvSpPr txBox="1"/>
          <p:nvPr/>
        </p:nvSpPr>
        <p:spPr>
          <a:xfrm>
            <a:off x="838200" y="55927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○</a:t>
            </a:r>
          </a:p>
        </p:txBody>
      </p:sp>
      <p:sp>
        <p:nvSpPr>
          <p:cNvPr id="141" name="Google Shape;109;p14"/>
          <p:cNvSpPr txBox="1"/>
          <p:nvPr/>
        </p:nvSpPr>
        <p:spPr>
          <a:xfrm>
            <a:off x="1066800" y="55800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Founded Hubei Vidagen (Genetic Testing).</a:t>
            </a:r>
          </a:p>
        </p:txBody>
      </p:sp>
      <p:sp>
        <p:nvSpPr>
          <p:cNvPr id="142" name="Google Shape;110;p14"/>
          <p:cNvSpPr txBox="1"/>
          <p:nvPr/>
        </p:nvSpPr>
        <p:spPr>
          <a:xfrm>
            <a:off x="838200" y="60118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○</a:t>
            </a:r>
          </a:p>
        </p:txBody>
      </p:sp>
      <p:sp>
        <p:nvSpPr>
          <p:cNvPr id="143" name="Google Shape;111;p14"/>
          <p:cNvSpPr txBox="1"/>
          <p:nvPr/>
        </p:nvSpPr>
        <p:spPr>
          <a:xfrm>
            <a:off x="1066800" y="59991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Scientific Breakthrough Award (ATS 2009).</a:t>
            </a:r>
          </a:p>
        </p:txBody>
      </p:sp>
      <p:sp>
        <p:nvSpPr>
          <p:cNvPr id="144" name="Google Shape;112;p1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Self Introduction</a:t>
            </a:r>
          </a:p>
        </p:txBody>
      </p:sp>
      <p:sp>
        <p:nvSpPr>
          <p:cNvPr id="145" name="Google Shape;113;p1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Google Shape;97;p14"/>
          <p:cNvSpPr txBox="1"/>
          <p:nvPr/>
        </p:nvSpPr>
        <p:spPr>
          <a:xfrm>
            <a:off x="571500" y="1973260"/>
            <a:ext cx="5238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Head of Biosciences, A Private Company In Singapore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18;p15" descr="Google Shape;118;p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-321860"/>
            <a:ext cx="12192001" cy="6858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Google Shape;119;p15" descr="Google Shape;119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2062160"/>
            <a:ext cx="5238750" cy="3810003"/>
          </a:xfrm>
          <a:prstGeom prst="rect">
            <a:avLst/>
          </a:prstGeom>
          <a:ln w="12700">
            <a:miter lim="400000"/>
          </a:ln>
        </p:spPr>
      </p:pic>
      <p:sp>
        <p:nvSpPr>
          <p:cNvPr id="150" name="Google Shape;129;p15"/>
          <p:cNvSpPr txBox="1"/>
          <p:nvPr/>
        </p:nvSpPr>
        <p:spPr>
          <a:xfrm>
            <a:off x="571500" y="571499"/>
            <a:ext cx="1160145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pPr>
            <a:r>
              <a:t>The Clinical Challenge</a:t>
            </a:r>
            <a:r>
              <a:t>：</a:t>
            </a:r>
            <a:r>
              <a:t>Severe</a:t>
            </a:r>
            <a:r>
              <a:t> </a:t>
            </a:r>
            <a:r>
              <a:t>Asthma</a:t>
            </a:r>
            <a:r>
              <a:t> </a:t>
            </a:r>
            <a:r>
              <a:t>Exacerbations</a:t>
            </a:r>
          </a:p>
        </p:txBody>
      </p:sp>
      <p:sp>
        <p:nvSpPr>
          <p:cNvPr id="151" name="Google Shape;130;p15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52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29379" y="1463675"/>
            <a:ext cx="5238752" cy="5238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3" name="Google Shape;86;p13" descr="Google Shape;86;p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322595" y="2256158"/>
            <a:ext cx="4364252" cy="11981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Google Shape;87;p13" descr="Google Shape;87;p1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353192" y="4126245"/>
            <a:ext cx="5086358" cy="1692372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Google Shape;88;p13"/>
          <p:cNvSpPr txBox="1"/>
          <p:nvPr/>
        </p:nvSpPr>
        <p:spPr>
          <a:xfrm>
            <a:off x="6381750" y="1844774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9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Definition</a:t>
            </a:r>
          </a:p>
        </p:txBody>
      </p:sp>
      <p:sp>
        <p:nvSpPr>
          <p:cNvPr id="156" name="Google Shape;89;p13"/>
          <p:cNvSpPr txBox="1"/>
          <p:nvPr/>
        </p:nvSpPr>
        <p:spPr>
          <a:xfrm>
            <a:off x="6381750" y="3729452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9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Prognostic Significance</a:t>
            </a:r>
          </a:p>
        </p:txBody>
      </p:sp>
      <p:sp>
        <p:nvSpPr>
          <p:cNvPr id="157" name="Google Shape;92;p13"/>
          <p:cNvSpPr txBox="1"/>
          <p:nvPr/>
        </p:nvSpPr>
        <p:spPr>
          <a:xfrm>
            <a:off x="6619875" y="2501999"/>
            <a:ext cx="48101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Severe Asthma Exacerbations: </a:t>
            </a:r>
            <a:r>
              <a:rPr b="1">
                <a:solidFill>
                  <a:srgbClr val="1E3A8A"/>
                </a:solidFill>
              </a:rPr>
              <a:t>emergency room visit or a hospitalization</a:t>
            </a:r>
            <a:r>
              <a:t> for asthma symptoms.</a:t>
            </a:r>
          </a:p>
        </p:txBody>
      </p:sp>
      <p:sp>
        <p:nvSpPr>
          <p:cNvPr id="158" name="Google Shape;93;p13"/>
          <p:cNvSpPr txBox="1"/>
          <p:nvPr/>
        </p:nvSpPr>
        <p:spPr>
          <a:xfrm>
            <a:off x="6596061" y="4309490"/>
            <a:ext cx="4810127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The ability to predict severe asthma exacerbations would therefore have </a:t>
            </a:r>
            <a:r>
              <a:rPr b="1">
                <a:solidFill>
                  <a:srgbClr val="1E3A8A"/>
                </a:solidFill>
              </a:rPr>
              <a:t>direct prognostic significance</a:t>
            </a:r>
            <a:r>
              <a:t> and might form the basis for the development of </a:t>
            </a:r>
            <a:r>
              <a:rPr b="1">
                <a:solidFill>
                  <a:srgbClr val="1E3A8A"/>
                </a:solidFill>
              </a:rPr>
              <a:t>earlier therapeutic interventions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35;p16" descr="Google Shape;135;p1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Google Shape;136;p16" descr="Google Shape;13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2077341"/>
            <a:ext cx="3492549" cy="37794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2" name="Google Shape;137;p16" descr="Google Shape;137;p1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49798" y="2077341"/>
            <a:ext cx="3492551" cy="37794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Google Shape;138;p16" descr="Google Shape;138;p1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128099" y="2077341"/>
            <a:ext cx="3492551" cy="3779492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Google Shape;139;p16"/>
          <p:cNvSpPr txBox="1"/>
          <p:nvPr/>
        </p:nvSpPr>
        <p:spPr>
          <a:xfrm>
            <a:off x="1262567" y="3086991"/>
            <a:ext cx="2110266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Sample Size (N)</a:t>
            </a:r>
          </a:p>
        </p:txBody>
      </p:sp>
      <p:sp>
        <p:nvSpPr>
          <p:cNvPr id="165" name="Google Shape;140;p16"/>
          <p:cNvSpPr txBox="1"/>
          <p:nvPr/>
        </p:nvSpPr>
        <p:spPr>
          <a:xfrm>
            <a:off x="1378798" y="3694036"/>
            <a:ext cx="1581996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72"/>
              </a:lnSpc>
              <a:defRPr b="1" sz="3600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~417</a:t>
            </a:r>
          </a:p>
        </p:txBody>
      </p:sp>
      <p:sp>
        <p:nvSpPr>
          <p:cNvPr id="166" name="Google Shape;141;p16"/>
          <p:cNvSpPr txBox="1"/>
          <p:nvPr/>
        </p:nvSpPr>
        <p:spPr>
          <a:xfrm>
            <a:off x="866700" y="4529682"/>
            <a:ext cx="2902001" cy="83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3333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Subjects (Trios)</a:t>
            </a:r>
            <a:br/>
            <a:r>
              <a:t> Childhood Asthma Management Program (CAMP)</a:t>
            </a:r>
          </a:p>
        </p:txBody>
      </p:sp>
      <p:sp>
        <p:nvSpPr>
          <p:cNvPr id="167" name="Google Shape;142;p16"/>
          <p:cNvSpPr txBox="1"/>
          <p:nvPr/>
        </p:nvSpPr>
        <p:spPr>
          <a:xfrm>
            <a:off x="4925852" y="3086991"/>
            <a:ext cx="2340294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Standard Method</a:t>
            </a:r>
          </a:p>
        </p:txBody>
      </p:sp>
      <p:sp>
        <p:nvSpPr>
          <p:cNvPr id="168" name="Google Shape;143;p16"/>
          <p:cNvSpPr txBox="1"/>
          <p:nvPr/>
        </p:nvSpPr>
        <p:spPr>
          <a:xfrm>
            <a:off x="5200650" y="3642617"/>
            <a:ext cx="17907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Logistic Regression</a:t>
            </a:r>
          </a:p>
        </p:txBody>
      </p:sp>
      <p:sp>
        <p:nvSpPr>
          <p:cNvPr id="169" name="Google Shape;144;p16"/>
          <p:cNvSpPr txBox="1"/>
          <p:nvPr/>
        </p:nvSpPr>
        <p:spPr>
          <a:xfrm>
            <a:off x="4644999" y="4400141"/>
            <a:ext cx="29020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Struggles when predictors (P) vastly outnumber samples (N). Cannot easily model complex interactions.</a:t>
            </a:r>
          </a:p>
        </p:txBody>
      </p:sp>
      <p:sp>
        <p:nvSpPr>
          <p:cNvPr id="170" name="Google Shape;145;p16"/>
          <p:cNvSpPr txBox="1"/>
          <p:nvPr/>
        </p:nvSpPr>
        <p:spPr>
          <a:xfrm>
            <a:off x="8964183" y="3086991"/>
            <a:ext cx="182022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Predictors (P)</a:t>
            </a:r>
          </a:p>
        </p:txBody>
      </p:sp>
      <p:sp>
        <p:nvSpPr>
          <p:cNvPr id="171" name="Google Shape;146;p16"/>
          <p:cNvSpPr txBox="1"/>
          <p:nvPr/>
        </p:nvSpPr>
        <p:spPr>
          <a:xfrm>
            <a:off x="8907512" y="3677542"/>
            <a:ext cx="2417862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72"/>
              </a:lnSpc>
              <a:defRPr b="1" sz="3600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&gt;550,000</a:t>
            </a:r>
          </a:p>
        </p:txBody>
      </p:sp>
      <p:sp>
        <p:nvSpPr>
          <p:cNvPr id="172" name="Google Shape;147;p16"/>
          <p:cNvSpPr txBox="1"/>
          <p:nvPr/>
        </p:nvSpPr>
        <p:spPr>
          <a:xfrm>
            <a:off x="8423374" y="4504282"/>
            <a:ext cx="2902001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Single Nucleotide Polymorphisms (SNPs) + Clinical Traits</a:t>
            </a:r>
          </a:p>
        </p:txBody>
      </p:sp>
      <p:pic>
        <p:nvPicPr>
          <p:cNvPr id="173" name="Google Shape;148;p16" descr="Google Shape;148;p16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031950" y="2391666"/>
            <a:ext cx="571502" cy="4572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Google Shape;149;p16" descr="Google Shape;149;p1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924550" y="2391666"/>
            <a:ext cx="342900" cy="4572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Google Shape;150;p16" descr="Google Shape;150;p1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645698" y="2391666"/>
            <a:ext cx="457202" cy="457202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Google Shape;151;p16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The "Small N, Large P" Problem</a:t>
            </a:r>
          </a:p>
        </p:txBody>
      </p:sp>
      <p:sp>
        <p:nvSpPr>
          <p:cNvPr id="177" name="Google Shape;152;p16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84;p13" descr="Google Shape;84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Google Shape;85;p13"/>
          <p:cNvSpPr txBox="1"/>
          <p:nvPr/>
        </p:nvSpPr>
        <p:spPr>
          <a:xfrm>
            <a:off x="571500" y="3810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defRPr>
            </a:lvl1pPr>
          </a:lstStyle>
          <a:p>
            <a:pPr/>
            <a:r>
              <a:t>Machine Learning With Random Forests</a:t>
            </a:r>
          </a:p>
        </p:txBody>
      </p:sp>
      <p:sp>
        <p:nvSpPr>
          <p:cNvPr id="181" name="Google Shape;86;p13"/>
          <p:cNvSpPr txBox="1"/>
          <p:nvPr/>
        </p:nvSpPr>
        <p:spPr>
          <a:xfrm>
            <a:off x="571500" y="995661"/>
            <a:ext cx="11049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defRPr>
            </a:lvl1pPr>
          </a:lstStyle>
          <a:p>
            <a:pPr/>
            <a:r>
              <a:t>Leveraging ensemble power for robust predictive modeling.</a:t>
            </a:r>
          </a:p>
        </p:txBody>
      </p:sp>
      <p:pic>
        <p:nvPicPr>
          <p:cNvPr id="182" name="Google Shape;88;p13" descr="Google Shape;88;p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5750" y="4002285"/>
            <a:ext cx="5238751" cy="2400301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Google Shape;89;p13"/>
          <p:cNvSpPr txBox="1"/>
          <p:nvPr/>
        </p:nvSpPr>
        <p:spPr>
          <a:xfrm>
            <a:off x="6209268" y="1641947"/>
            <a:ext cx="550068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defRPr>
            </a:lvl1pPr>
          </a:lstStyle>
          <a:p>
            <a:pPr/>
            <a:r>
              <a:t>Key Concepts of Random Forests</a:t>
            </a:r>
          </a:p>
        </p:txBody>
      </p:sp>
      <p:sp>
        <p:nvSpPr>
          <p:cNvPr id="184" name="Google Shape;94;p13"/>
          <p:cNvSpPr txBox="1"/>
          <p:nvPr/>
        </p:nvSpPr>
        <p:spPr>
          <a:xfrm>
            <a:off x="6495019" y="2118197"/>
            <a:ext cx="4953001" cy="528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A </a:t>
            </a:r>
            <a:r>
              <a:rPr b="1">
                <a:solidFill>
                  <a:srgbClr val="0EA5E9"/>
                </a:solidFill>
              </a:rPr>
              <a:t>decision tree</a:t>
            </a:r>
            <a:r>
              <a:t> predicts outcomes by splitting data based on feature values.</a:t>
            </a:r>
          </a:p>
        </p:txBody>
      </p:sp>
      <p:sp>
        <p:nvSpPr>
          <p:cNvPr id="185" name="Google Shape;95;p13"/>
          <p:cNvSpPr txBox="1"/>
          <p:nvPr/>
        </p:nvSpPr>
        <p:spPr>
          <a:xfrm>
            <a:off x="6495019" y="2809651"/>
            <a:ext cx="49530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An </a:t>
            </a:r>
            <a:r>
              <a:rPr b="1">
                <a:solidFill>
                  <a:srgbClr val="0EA5E9"/>
                </a:solidFill>
              </a:rPr>
              <a:t>ensemble of many decision trees</a:t>
            </a:r>
            <a:r>
              <a:t> forms a "forest".</a:t>
            </a:r>
          </a:p>
        </p:txBody>
      </p:sp>
      <p:sp>
        <p:nvSpPr>
          <p:cNvPr id="186" name="Google Shape;96;p13"/>
          <p:cNvSpPr txBox="1"/>
          <p:nvPr/>
        </p:nvSpPr>
        <p:spPr>
          <a:xfrm>
            <a:off x="6495019" y="3226817"/>
            <a:ext cx="4953001" cy="528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Each tree uses </a:t>
            </a:r>
            <a:r>
              <a:rPr b="1">
                <a:solidFill>
                  <a:srgbClr val="0EA5E9"/>
                </a:solidFill>
              </a:rPr>
              <a:t>random samples</a:t>
            </a:r>
            <a:r>
              <a:t> of the data and considers only </a:t>
            </a:r>
            <a:r>
              <a:rPr b="1">
                <a:solidFill>
                  <a:srgbClr val="0EA5E9"/>
                </a:solidFill>
              </a:rPr>
              <a:t>random features</a:t>
            </a:r>
            <a:r>
              <a:t> at each split, enhancing diversity.</a:t>
            </a:r>
          </a:p>
        </p:txBody>
      </p:sp>
      <p:sp>
        <p:nvSpPr>
          <p:cNvPr id="187" name="Google Shape;97;p13"/>
          <p:cNvSpPr txBox="1"/>
          <p:nvPr/>
        </p:nvSpPr>
        <p:spPr>
          <a:xfrm>
            <a:off x="6495019" y="3918272"/>
            <a:ext cx="4953001" cy="8406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>
                <a:latin typeface="+mj-lt"/>
                <a:ea typeface="+mj-ea"/>
                <a:cs typeface="+mj-cs"/>
                <a:sym typeface="Arial"/>
              </a:defRPr>
            </a:pPr>
            <a:r>
              <a:t>Voting Mechanism:</a:t>
            </a:r>
            <a:r>
              <a:rPr b="0"/>
              <a:t> The model aggregates predictions by taking the </a:t>
            </a:r>
            <a:r>
              <a:t>votes from each decision tree</a:t>
            </a:r>
            <a:r>
              <a:rPr b="0"/>
              <a:t> to determine the final outcome.</a:t>
            </a:r>
          </a:p>
        </p:txBody>
      </p:sp>
      <p:sp>
        <p:nvSpPr>
          <p:cNvPr id="188" name="Google Shape;98;p13"/>
          <p:cNvSpPr txBox="1"/>
          <p:nvPr/>
        </p:nvSpPr>
        <p:spPr>
          <a:xfrm>
            <a:off x="6495019" y="5037239"/>
            <a:ext cx="4953001" cy="528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Handles </a:t>
            </a:r>
            <a:r>
              <a:rPr b="1">
                <a:solidFill>
                  <a:srgbClr val="0EA5E9"/>
                </a:solidFill>
              </a:rPr>
              <a:t>nonlinear, high-dimensional data</a:t>
            </a:r>
            <a:r>
              <a:t> effectively, crucial for complex datasets.</a:t>
            </a:r>
          </a:p>
        </p:txBody>
      </p:sp>
      <p:sp>
        <p:nvSpPr>
          <p:cNvPr id="189" name="Google Shape;99;p13"/>
          <p:cNvSpPr txBox="1"/>
          <p:nvPr/>
        </p:nvSpPr>
        <p:spPr>
          <a:xfrm>
            <a:off x="6495019" y="5728694"/>
            <a:ext cx="4953001" cy="528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3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Provides valuable </a:t>
            </a:r>
            <a:r>
              <a:rPr b="1">
                <a:solidFill>
                  <a:srgbClr val="0EA5E9"/>
                </a:solidFill>
              </a:rPr>
              <a:t>feature importance</a:t>
            </a:r>
            <a:r>
              <a:t> scores, indicating which variables are most predictive.</a:t>
            </a:r>
          </a:p>
        </p:txBody>
      </p:sp>
      <p:pic>
        <p:nvPicPr>
          <p:cNvPr id="190" name="Google Shape;100;p13" descr="Google Shape;100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2137247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" name="Google Shape;101;p13" descr="Google Shape;101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2828701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2" name="Google Shape;102;p13" descr="Google Shape;102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3245867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3" name="Google Shape;103;p13" descr="Google Shape;103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3937322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4" name="Google Shape;104;p13" descr="Google Shape;104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5056289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5" name="Google Shape;105;p13" descr="Google Shape;105;p1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09269" y="5747744"/>
            <a:ext cx="190501" cy="2000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Picture 1" descr="Picture 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82043" y="1564008"/>
            <a:ext cx="4065244" cy="2411679"/>
          </a:xfrm>
          <a:prstGeom prst="rect">
            <a:avLst/>
          </a:prstGeom>
          <a:ln w="12700">
            <a:miter lim="400000"/>
          </a:ln>
        </p:spPr>
      </p:pic>
      <p:pic>
        <p:nvPicPr>
          <p:cNvPr id="197" name="Picture 2" descr="Picture 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78408" y="4094684"/>
            <a:ext cx="3781440" cy="2836080"/>
          </a:xfrm>
          <a:prstGeom prst="rect">
            <a:avLst/>
          </a:prstGeom>
          <a:ln w="12700">
            <a:miter lim="400000"/>
          </a:ln>
        </p:spPr>
      </p:pic>
      <p:sp>
        <p:nvSpPr>
          <p:cNvPr id="198" name="Google Shape;92;p13"/>
          <p:cNvSpPr txBox="1"/>
          <p:nvPr/>
        </p:nvSpPr>
        <p:spPr>
          <a:xfrm>
            <a:off x="745078" y="1677241"/>
            <a:ext cx="192405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defRPr>
            </a:pPr>
            <a:r>
              <a:t>DECISION</a:t>
            </a:r>
            <a:r>
              <a:t> </a:t>
            </a:r>
            <a:r>
              <a:t>TREE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175;p18" descr="Google Shape;175;p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Google Shape;176;p18" descr="Google Shape;176;p1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1873597"/>
            <a:ext cx="2755851" cy="35147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Google Shape;177;p18" descr="Google Shape;177;p1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718000" y="1873597"/>
            <a:ext cx="2755851" cy="35147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03" name="Google Shape;178;p18" descr="Google Shape;178;p1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864500" y="1873597"/>
            <a:ext cx="2755851" cy="3514727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Google Shape;179;p18"/>
          <p:cNvSpPr txBox="1"/>
          <p:nvPr/>
        </p:nvSpPr>
        <p:spPr>
          <a:xfrm>
            <a:off x="3514725" y="5674071"/>
            <a:ext cx="51625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2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Clinical Traits Used:</a:t>
            </a:r>
            <a:r>
              <a:rPr b="0"/>
              <a:t> Age, Sex, FEV1% (Lung Function), Treatment Group</a:t>
            </a:r>
          </a:p>
        </p:txBody>
      </p:sp>
      <p:sp>
        <p:nvSpPr>
          <p:cNvPr id="205" name="Google Shape;180;p18"/>
          <p:cNvSpPr txBox="1"/>
          <p:nvPr/>
        </p:nvSpPr>
        <p:spPr>
          <a:xfrm>
            <a:off x="812642" y="2883247"/>
            <a:ext cx="2273565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Step 1: Initial Screen</a:t>
            </a:r>
          </a:p>
        </p:txBody>
      </p:sp>
      <p:sp>
        <p:nvSpPr>
          <p:cNvPr id="206" name="Google Shape;181;p18"/>
          <p:cNvSpPr txBox="1"/>
          <p:nvPr/>
        </p:nvSpPr>
        <p:spPr>
          <a:xfrm>
            <a:off x="866775" y="3730971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Compute RF importance scores for all 550,000 SNPs in batches (chromosomal order).</a:t>
            </a:r>
          </a:p>
        </p:txBody>
      </p:sp>
      <p:pic>
        <p:nvPicPr>
          <p:cNvPr id="207" name="Google Shape;182;p18" descr="Google Shape;182;p18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898850" y="3488082"/>
            <a:ext cx="247651" cy="285752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Google Shape;183;p18"/>
          <p:cNvSpPr txBox="1"/>
          <p:nvPr/>
        </p:nvSpPr>
        <p:spPr>
          <a:xfrm>
            <a:off x="5050720" y="2883247"/>
            <a:ext cx="209026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Step 2: Ranking</a:t>
            </a:r>
          </a:p>
        </p:txBody>
      </p:sp>
      <p:sp>
        <p:nvSpPr>
          <p:cNvPr id="209" name="Google Shape;184;p18"/>
          <p:cNvSpPr txBox="1"/>
          <p:nvPr/>
        </p:nvSpPr>
        <p:spPr>
          <a:xfrm>
            <a:off x="5013275" y="3378546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Select the top 4,000 SNPs based on initial scores. Re-run RF to refine the ranking.</a:t>
            </a:r>
          </a:p>
        </p:txBody>
      </p:sp>
      <p:pic>
        <p:nvPicPr>
          <p:cNvPr id="210" name="Google Shape;185;p18" descr="Google Shape;185;p18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045350" y="3488082"/>
            <a:ext cx="247651" cy="285752"/>
          </a:xfrm>
          <a:prstGeom prst="rect">
            <a:avLst/>
          </a:prstGeom>
          <a:ln w="12700">
            <a:miter lim="400000"/>
          </a:ln>
        </p:spPr>
      </p:pic>
      <p:sp>
        <p:nvSpPr>
          <p:cNvPr id="211" name="Google Shape;186;p18"/>
          <p:cNvSpPr txBox="1"/>
          <p:nvPr/>
        </p:nvSpPr>
        <p:spPr>
          <a:xfrm>
            <a:off x="9105641" y="2883247"/>
            <a:ext cx="2273567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Step 3: Prediction</a:t>
            </a:r>
          </a:p>
        </p:txBody>
      </p:sp>
      <p:sp>
        <p:nvSpPr>
          <p:cNvPr id="212" name="Google Shape;187;p18"/>
          <p:cNvSpPr txBox="1"/>
          <p:nvPr/>
        </p:nvSpPr>
        <p:spPr>
          <a:xfrm>
            <a:off x="9159775" y="3730971"/>
            <a:ext cx="2165301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Build final models using Top N SNPs (10, 40, 160, 320) + 4 Clinical Traits.</a:t>
            </a:r>
          </a:p>
        </p:txBody>
      </p:sp>
      <p:pic>
        <p:nvPicPr>
          <p:cNvPr id="213" name="Google Shape;188;p18" descr="Google Shape;188;p18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720750" y="2187922"/>
            <a:ext cx="457202" cy="4572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Google Shape;189;p18" descr="Google Shape;189;p18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867251" y="2187922"/>
            <a:ext cx="457202" cy="457202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Google Shape;190;p18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Methodology: Feature Selection</a:t>
            </a:r>
          </a:p>
        </p:txBody>
      </p:sp>
      <p:sp>
        <p:nvSpPr>
          <p:cNvPr id="216" name="Google Shape;191;p18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196;p19" descr="Google Shape;196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Google Shape;197;p19"/>
          <p:cNvSpPr txBox="1"/>
          <p:nvPr/>
        </p:nvSpPr>
        <p:spPr>
          <a:xfrm>
            <a:off x="571500" y="762000"/>
            <a:ext cx="52006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Visualizing the Signal</a:t>
            </a:r>
          </a:p>
        </p:txBody>
      </p:sp>
      <p:sp>
        <p:nvSpPr>
          <p:cNvPr id="220" name="Google Shape;198;p19"/>
          <p:cNvSpPr/>
          <p:nvPr/>
        </p:nvSpPr>
        <p:spPr>
          <a:xfrm>
            <a:off x="571500" y="1428750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Google Shape;200;p19"/>
          <p:cNvSpPr txBox="1"/>
          <p:nvPr/>
        </p:nvSpPr>
        <p:spPr>
          <a:xfrm>
            <a:off x="571498" y="2305050"/>
            <a:ext cx="4080512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The RF Importance Landscape</a:t>
            </a:r>
          </a:p>
        </p:txBody>
      </p:sp>
      <p:sp>
        <p:nvSpPr>
          <p:cNvPr id="222" name="Google Shape;201;p19"/>
          <p:cNvSpPr txBox="1"/>
          <p:nvPr/>
        </p:nvSpPr>
        <p:spPr>
          <a:xfrm>
            <a:off x="571500" y="2800349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Unlike a traditional GWAS Manhattan plot which shows -log(p-values), this plot visualizes </a:t>
            </a:r>
            <a:r>
              <a:rPr b="1"/>
              <a:t>Random Forest Importance Scores</a:t>
            </a:r>
            <a:r>
              <a:t> across the genome.</a:t>
            </a:r>
          </a:p>
        </p:txBody>
      </p:sp>
      <p:sp>
        <p:nvSpPr>
          <p:cNvPr id="223" name="Google Shape;202;p19"/>
          <p:cNvSpPr txBox="1"/>
          <p:nvPr/>
        </p:nvSpPr>
        <p:spPr>
          <a:xfrm>
            <a:off x="571500" y="3857624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The "peaks" represent SNPs that contribute most significantly to classifying a patient as an "Exacerbator" vs. "Non-Exacerbator".</a:t>
            </a:r>
          </a:p>
        </p:txBody>
      </p:sp>
      <p:sp>
        <p:nvSpPr>
          <p:cNvPr id="224" name="Google Shape;203;p19"/>
          <p:cNvSpPr txBox="1"/>
          <p:nvPr/>
        </p:nvSpPr>
        <p:spPr>
          <a:xfrm>
            <a:off x="571500" y="4914899"/>
            <a:ext cx="4953000" cy="594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We identified a clear signal distinguishing the top predictive SNPs from the genomic background noise.</a:t>
            </a:r>
          </a:p>
        </p:txBody>
      </p:sp>
      <p:pic>
        <p:nvPicPr>
          <p:cNvPr id="225" name="Picture 11" descr="Picture 1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56477" y="1157749"/>
            <a:ext cx="6731011" cy="53895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196;p19" descr="Google Shape;196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8" name="Google Shape;197;p19"/>
          <p:cNvSpPr txBox="1"/>
          <p:nvPr/>
        </p:nvSpPr>
        <p:spPr>
          <a:xfrm>
            <a:off x="571500" y="762000"/>
            <a:ext cx="52006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Visualizing the Signal</a:t>
            </a:r>
          </a:p>
        </p:txBody>
      </p:sp>
      <p:sp>
        <p:nvSpPr>
          <p:cNvPr id="229" name="Google Shape;198;p19"/>
          <p:cNvSpPr/>
          <p:nvPr/>
        </p:nvSpPr>
        <p:spPr>
          <a:xfrm>
            <a:off x="571500" y="1428750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" name="Google Shape;200;p19"/>
          <p:cNvSpPr txBox="1"/>
          <p:nvPr/>
        </p:nvSpPr>
        <p:spPr>
          <a:xfrm>
            <a:off x="571498" y="2305050"/>
            <a:ext cx="4080512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The RF Importance Landscape</a:t>
            </a:r>
          </a:p>
        </p:txBody>
      </p:sp>
      <p:sp>
        <p:nvSpPr>
          <p:cNvPr id="231" name="Google Shape;201;p19"/>
          <p:cNvSpPr txBox="1"/>
          <p:nvPr/>
        </p:nvSpPr>
        <p:spPr>
          <a:xfrm>
            <a:off x="571500" y="2800350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Unlike a traditional GWAS Manhattan plot which shows -log(p-values), this plot visualizes </a:t>
            </a:r>
            <a:r>
              <a:rPr b="1"/>
              <a:t>Random Forest Importance Scores</a:t>
            </a:r>
            <a:r>
              <a:t> across the genome.</a:t>
            </a:r>
          </a:p>
        </p:txBody>
      </p:sp>
      <p:sp>
        <p:nvSpPr>
          <p:cNvPr id="232" name="Google Shape;202;p19"/>
          <p:cNvSpPr txBox="1"/>
          <p:nvPr/>
        </p:nvSpPr>
        <p:spPr>
          <a:xfrm>
            <a:off x="571500" y="3857625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The "peaks" represent SNPs that contribute most significantly to classifying a patient as an "Exacerbator" vs. "Non-Exacerbator".</a:t>
            </a:r>
          </a:p>
        </p:txBody>
      </p:sp>
      <p:sp>
        <p:nvSpPr>
          <p:cNvPr id="233" name="Google Shape;203;p19"/>
          <p:cNvSpPr txBox="1"/>
          <p:nvPr/>
        </p:nvSpPr>
        <p:spPr>
          <a:xfrm>
            <a:off x="571500" y="4914900"/>
            <a:ext cx="49530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We identified a clear signal distinguishing the top predictive SNPs from the genomic background noise.</a:t>
            </a:r>
          </a:p>
        </p:txBody>
      </p:sp>
      <p:pic>
        <p:nvPicPr>
          <p:cNvPr id="234" name="Picture 11" descr="Picture 1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56477" y="1157749"/>
            <a:ext cx="6731011" cy="53895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08;p20" descr="Google Shape;208;p2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7" name="Google Shape;209;p20" descr="Google Shape;209;p2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5154810"/>
            <a:ext cx="11049000" cy="9906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" name="Google Shape;210;p20" descr="Google Shape;210;p2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1647825"/>
            <a:ext cx="11049000" cy="4638675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Google Shape;211;p20"/>
          <p:cNvSpPr txBox="1"/>
          <p:nvPr/>
        </p:nvSpPr>
        <p:spPr>
          <a:xfrm>
            <a:off x="2757486" y="1884015"/>
            <a:ext cx="667702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Area Under the Curve (AUC) in Independent Replication Cohort</a:t>
            </a:r>
          </a:p>
        </p:txBody>
      </p:sp>
      <p:sp>
        <p:nvSpPr>
          <p:cNvPr id="240" name="Google Shape;212;p20"/>
          <p:cNvSpPr txBox="1"/>
          <p:nvPr/>
        </p:nvSpPr>
        <p:spPr>
          <a:xfrm>
            <a:off x="809625" y="5345310"/>
            <a:ext cx="1062037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065F46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Key Finding:</a:t>
            </a:r>
            <a:r>
              <a:rPr b="0"/>
              <a:t> Adding genetic markers significantly improved prediction over clinical history alone. The model plateaued at 160 SNPs, suggesting a robust genetic signature for exacerbation risk.</a:t>
            </a:r>
          </a:p>
        </p:txBody>
      </p:sp>
      <p:sp>
        <p:nvSpPr>
          <p:cNvPr id="241" name="Google Shape;213;p20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Genetics Improves Prediction</a:t>
            </a:r>
          </a:p>
        </p:txBody>
      </p:sp>
      <p:sp>
        <p:nvSpPr>
          <p:cNvPr id="242" name="Google Shape;214;p20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19;p21" descr="Google Shape;219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45" name="Google Shape;220;p21" descr="Google Shape;220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2014535"/>
            <a:ext cx="5238750" cy="3905253"/>
          </a:xfrm>
          <a:prstGeom prst="rect">
            <a:avLst/>
          </a:prstGeom>
          <a:ln w="12700">
            <a:miter lim="400000"/>
          </a:ln>
        </p:spPr>
      </p:pic>
      <p:pic>
        <p:nvPicPr>
          <p:cNvPr id="246" name="Google Shape;221;p21" descr="Google Shape;221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381750" y="1862135"/>
            <a:ext cx="5238750" cy="4210053"/>
          </a:xfrm>
          <a:prstGeom prst="rect">
            <a:avLst/>
          </a:prstGeom>
          <a:ln w="12700">
            <a:miter lim="400000"/>
          </a:ln>
        </p:spPr>
      </p:pic>
      <p:sp>
        <p:nvSpPr>
          <p:cNvPr id="247" name="Google Shape;222;p21"/>
          <p:cNvSpPr txBox="1"/>
          <p:nvPr/>
        </p:nvSpPr>
        <p:spPr>
          <a:xfrm>
            <a:off x="904873" y="2890835"/>
            <a:ext cx="4850610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Rigorous Validation</a:t>
            </a:r>
          </a:p>
        </p:txBody>
      </p:sp>
      <p:sp>
        <p:nvSpPr>
          <p:cNvPr id="248" name="Google Shape;223;p21"/>
          <p:cNvSpPr txBox="1"/>
          <p:nvPr/>
        </p:nvSpPr>
        <p:spPr>
          <a:xfrm>
            <a:off x="904875" y="3386137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We did not just test on the training data.</a:t>
            </a:r>
          </a:p>
        </p:txBody>
      </p:sp>
      <p:sp>
        <p:nvSpPr>
          <p:cNvPr id="249" name="Google Shape;224;p21"/>
          <p:cNvSpPr txBox="1"/>
          <p:nvPr/>
        </p:nvSpPr>
        <p:spPr>
          <a:xfrm>
            <a:off x="6715124" y="2738435"/>
            <a:ext cx="485060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Recognition</a:t>
            </a:r>
          </a:p>
        </p:txBody>
      </p:sp>
      <p:sp>
        <p:nvSpPr>
          <p:cNvPr id="250" name="Google Shape;225;p21"/>
          <p:cNvSpPr txBox="1"/>
          <p:nvPr/>
        </p:nvSpPr>
        <p:spPr>
          <a:xfrm>
            <a:off x="6715125" y="3233735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This work was highlighted for its innovative approach:</a:t>
            </a:r>
          </a:p>
        </p:txBody>
      </p:sp>
      <p:pic>
        <p:nvPicPr>
          <p:cNvPr id="251" name="Google Shape;226;p21" descr="Google Shape;226;p21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04875" y="2319335"/>
            <a:ext cx="333375" cy="381002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Google Shape;227;p21"/>
          <p:cNvSpPr txBox="1"/>
          <p:nvPr/>
        </p:nvSpPr>
        <p:spPr>
          <a:xfrm>
            <a:off x="1019175" y="38433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53" name="Google Shape;228;p21"/>
          <p:cNvSpPr txBox="1"/>
          <p:nvPr/>
        </p:nvSpPr>
        <p:spPr>
          <a:xfrm>
            <a:off x="1171575" y="38433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Permutation Testing:</a:t>
            </a:r>
            <a:r>
              <a:rPr b="0"/>
              <a:t> Confirmed results were not due to chance.</a:t>
            </a:r>
          </a:p>
        </p:txBody>
      </p:sp>
      <p:sp>
        <p:nvSpPr>
          <p:cNvPr id="254" name="Google Shape;229;p21"/>
          <p:cNvSpPr txBox="1"/>
          <p:nvPr/>
        </p:nvSpPr>
        <p:spPr>
          <a:xfrm>
            <a:off x="1019175" y="45672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55" name="Google Shape;230;p21"/>
          <p:cNvSpPr txBox="1"/>
          <p:nvPr/>
        </p:nvSpPr>
        <p:spPr>
          <a:xfrm>
            <a:off x="1171575" y="45672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Independent Replication:</a:t>
            </a:r>
            <a:r>
              <a:rPr b="0"/>
              <a:t> The model was tested on a separate cohort of 164 subjects, maintaining an AUC of 0.66.</a:t>
            </a:r>
          </a:p>
        </p:txBody>
      </p:sp>
      <p:pic>
        <p:nvPicPr>
          <p:cNvPr id="256" name="Google Shape;231;p21" descr="Google Shape;231;p21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715125" y="2166935"/>
            <a:ext cx="428625" cy="381002"/>
          </a:xfrm>
          <a:prstGeom prst="rect">
            <a:avLst/>
          </a:prstGeom>
          <a:ln w="12700">
            <a:miter lim="400000"/>
          </a:ln>
        </p:spPr>
      </p:pic>
      <p:sp>
        <p:nvSpPr>
          <p:cNvPr id="257" name="Google Shape;232;p21"/>
          <p:cNvSpPr txBox="1"/>
          <p:nvPr/>
        </p:nvSpPr>
        <p:spPr>
          <a:xfrm>
            <a:off x="6829425" y="39957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58" name="Google Shape;233;p21"/>
          <p:cNvSpPr txBox="1"/>
          <p:nvPr/>
        </p:nvSpPr>
        <p:spPr>
          <a:xfrm>
            <a:off x="6981825" y="39957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ATS 2009:</a:t>
            </a:r>
            <a:r>
              <a:rPr b="0"/>
              <a:t> Featured at the "Scientific Breakthroughs of the Year" symposium.</a:t>
            </a:r>
          </a:p>
        </p:txBody>
      </p:sp>
      <p:sp>
        <p:nvSpPr>
          <p:cNvPr id="259" name="Google Shape;234;p21"/>
          <p:cNvSpPr txBox="1"/>
          <p:nvPr/>
        </p:nvSpPr>
        <p:spPr>
          <a:xfrm>
            <a:off x="6829425" y="47196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60" name="Google Shape;235;p21"/>
          <p:cNvSpPr txBox="1"/>
          <p:nvPr/>
        </p:nvSpPr>
        <p:spPr>
          <a:xfrm>
            <a:off x="6981825" y="47196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Impact:</a:t>
            </a:r>
            <a:r>
              <a:rPr b="0"/>
              <a:t> Categorized as "Highly Accessed" by BMC Medical Genetics, influencing future ML-GWAS integration studies.</a:t>
            </a:r>
          </a:p>
        </p:txBody>
      </p:sp>
      <p:sp>
        <p:nvSpPr>
          <p:cNvPr id="261" name="Google Shape;236;p21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Validation &amp; Impact</a:t>
            </a:r>
          </a:p>
        </p:txBody>
      </p:sp>
      <p:sp>
        <p:nvSpPr>
          <p:cNvPr id="262" name="Google Shape;237;p21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42;p22" descr="Google Shape;242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Google Shape;243;p22"/>
          <p:cNvSpPr txBox="1"/>
          <p:nvPr/>
        </p:nvSpPr>
        <p:spPr>
          <a:xfrm>
            <a:off x="571500" y="762000"/>
            <a:ext cx="5200650" cy="939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Vision: Data Science in BFE</a:t>
            </a:r>
          </a:p>
        </p:txBody>
      </p:sp>
      <p:sp>
        <p:nvSpPr>
          <p:cNvPr id="266" name="Google Shape;244;p22"/>
          <p:cNvSpPr/>
          <p:nvPr/>
        </p:nvSpPr>
        <p:spPr>
          <a:xfrm>
            <a:off x="571500" y="1952625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7" name="Google Shape;245;p22" descr="Google Shape;245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Google Shape;246;p22"/>
          <p:cNvSpPr txBox="1"/>
          <p:nvPr/>
        </p:nvSpPr>
        <p:spPr>
          <a:xfrm>
            <a:off x="571500" y="2362200"/>
            <a:ext cx="4630578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100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Integrating Computation &amp; Biology</a:t>
            </a:r>
          </a:p>
        </p:txBody>
      </p:sp>
      <p:sp>
        <p:nvSpPr>
          <p:cNvPr id="269" name="Google Shape;247;p22"/>
          <p:cNvSpPr txBox="1"/>
          <p:nvPr/>
        </p:nvSpPr>
        <p:spPr>
          <a:xfrm>
            <a:off x="571500" y="2857499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My goal is to establish a functional lab at GTIIT that bridges the gap between biological engineering and data science.</a:t>
            </a:r>
          </a:p>
        </p:txBody>
      </p:sp>
      <p:sp>
        <p:nvSpPr>
          <p:cNvPr id="270" name="Google Shape;248;p22"/>
          <p:cNvSpPr txBox="1"/>
          <p:nvPr/>
        </p:nvSpPr>
        <p:spPr>
          <a:xfrm>
            <a:off x="685800" y="40576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71" name="Google Shape;249;p22"/>
          <p:cNvSpPr txBox="1"/>
          <p:nvPr/>
        </p:nvSpPr>
        <p:spPr>
          <a:xfrm>
            <a:off x="838200" y="4057649"/>
            <a:ext cx="4686300" cy="594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Curriculum:</a:t>
            </a:r>
            <a:r>
              <a:rPr b="0"/>
              <a:t> Introducing practical ML and Bioinformatics training for students.</a:t>
            </a:r>
          </a:p>
        </p:txBody>
      </p:sp>
      <p:sp>
        <p:nvSpPr>
          <p:cNvPr id="272" name="Google Shape;250;p22"/>
          <p:cNvSpPr txBox="1"/>
          <p:nvPr/>
        </p:nvSpPr>
        <p:spPr>
          <a:xfrm>
            <a:off x="685800" y="47815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73" name="Google Shape;251;p22"/>
          <p:cNvSpPr txBox="1"/>
          <p:nvPr/>
        </p:nvSpPr>
        <p:spPr>
          <a:xfrm>
            <a:off x="838200" y="4781549"/>
            <a:ext cx="4686300" cy="594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Research:</a:t>
            </a:r>
            <a:r>
              <a:rPr b="0"/>
              <a:t> Developing explainable AI pipelines for complex food and biological data.</a:t>
            </a:r>
          </a:p>
        </p:txBody>
      </p:sp>
      <p:sp>
        <p:nvSpPr>
          <p:cNvPr id="274" name="Google Shape;252;p22"/>
          <p:cNvSpPr txBox="1"/>
          <p:nvPr/>
        </p:nvSpPr>
        <p:spPr>
          <a:xfrm>
            <a:off x="685800" y="55054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•</a:t>
            </a:r>
          </a:p>
        </p:txBody>
      </p:sp>
      <p:sp>
        <p:nvSpPr>
          <p:cNvPr id="275" name="Google Shape;253;p22"/>
          <p:cNvSpPr txBox="1"/>
          <p:nvPr/>
        </p:nvSpPr>
        <p:spPr>
          <a:xfrm>
            <a:off x="838200" y="5505449"/>
            <a:ext cx="4686300" cy="594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Innovation:</a:t>
            </a:r>
            <a:r>
              <a:rPr b="0"/>
              <a:t> Translating large-scale "Big Data" into actionable engineering insights.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58;p23" descr="Google Shape;258;p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8" name="Google Shape;259;p23"/>
          <p:cNvSpPr txBox="1"/>
          <p:nvPr/>
        </p:nvSpPr>
        <p:spPr>
          <a:xfrm>
            <a:off x="4081462" y="1888776"/>
            <a:ext cx="4230529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60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279" name="Google Shape;260;p23"/>
          <p:cNvSpPr txBox="1"/>
          <p:nvPr/>
        </p:nvSpPr>
        <p:spPr>
          <a:xfrm>
            <a:off x="4857750" y="3184175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Questions &amp; Discussion</a:t>
            </a:r>
          </a:p>
        </p:txBody>
      </p:sp>
      <p:sp>
        <p:nvSpPr>
          <p:cNvPr id="280" name="Google Shape;261;p23"/>
          <p:cNvSpPr txBox="1"/>
          <p:nvPr/>
        </p:nvSpPr>
        <p:spPr>
          <a:xfrm>
            <a:off x="4972050" y="4073723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b="1"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Mousheng Xu, PhD</a:t>
            </a:r>
          </a:p>
        </p:txBody>
      </p:sp>
      <p:sp>
        <p:nvSpPr>
          <p:cNvPr id="281" name="Google Shape;262;p23"/>
          <p:cNvSpPr txBox="1"/>
          <p:nvPr/>
        </p:nvSpPr>
        <p:spPr>
          <a:xfrm>
            <a:off x="4972050" y="4521398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moushengxu@gmail.com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67;p24" descr="Google Shape;267;p2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4" name="Google Shape;268;p24"/>
          <p:cNvSpPr/>
          <p:nvPr/>
        </p:nvSpPr>
        <p:spPr>
          <a:xfrm>
            <a:off x="571500" y="3275012"/>
            <a:ext cx="11049000" cy="12702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Google Shape;269;p24"/>
          <p:cNvSpPr/>
          <p:nvPr/>
        </p:nvSpPr>
        <p:spPr>
          <a:xfrm>
            <a:off x="571500" y="4059782"/>
            <a:ext cx="11049000" cy="12702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Google Shape;270;p24"/>
          <p:cNvSpPr/>
          <p:nvPr/>
        </p:nvSpPr>
        <p:spPr>
          <a:xfrm>
            <a:off x="571500" y="4844553"/>
            <a:ext cx="11049000" cy="12702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87" name="Google Shape;271;p24" descr="Google Shape;271;p2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500" y="2551807"/>
            <a:ext cx="857250" cy="476252"/>
          </a:xfrm>
          <a:prstGeom prst="rect">
            <a:avLst/>
          </a:prstGeom>
          <a:ln w="12700">
            <a:miter lim="400000"/>
          </a:ln>
        </p:spPr>
      </p:pic>
      <p:sp>
        <p:nvSpPr>
          <p:cNvPr id="288" name="Google Shape;272;p24"/>
          <p:cNvSpPr txBox="1"/>
          <p:nvPr/>
        </p:nvSpPr>
        <p:spPr>
          <a:xfrm>
            <a:off x="1666875" y="2446139"/>
            <a:ext cx="9953625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https://media.istockphoto.com/id/1678122264/photo/doctor-helping-a-child-patient-with-an-asthma-inhaler-in-his-office-at-the-medical-clinic.jpg?s=612x612&amp;w=0&amp;k=20&amp;c=UvQYXKAYKKbLMTCehwX9DoMezQmUs5JzUAbfDl5jydc=</a:t>
            </a:r>
          </a:p>
        </p:txBody>
      </p:sp>
      <p:sp>
        <p:nvSpPr>
          <p:cNvPr id="289" name="Google Shape;273;p24"/>
          <p:cNvSpPr txBox="1"/>
          <p:nvPr/>
        </p:nvSpPr>
        <p:spPr>
          <a:xfrm>
            <a:off x="1666875" y="2889942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www.istockphoto.com</a:t>
            </a:r>
          </a:p>
        </p:txBody>
      </p:sp>
      <p:pic>
        <p:nvPicPr>
          <p:cNvPr id="290" name="Google Shape;274;p24" descr="Google Shape;274;p2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1500" y="3435548"/>
            <a:ext cx="857250" cy="476252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Google Shape;275;p24"/>
          <p:cNvSpPr txBox="1"/>
          <p:nvPr/>
        </p:nvSpPr>
        <p:spPr>
          <a:xfrm>
            <a:off x="1666875" y="3429000"/>
            <a:ext cx="9953625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https://media.geeksforgeeks.org/wp-content/uploads/20250627112439534287/Random-forest-algorithm.webp</a:t>
            </a:r>
          </a:p>
        </p:txBody>
      </p:sp>
      <p:sp>
        <p:nvSpPr>
          <p:cNvPr id="292" name="Google Shape;276;p24"/>
          <p:cNvSpPr txBox="1"/>
          <p:nvPr/>
        </p:nvSpPr>
        <p:spPr>
          <a:xfrm>
            <a:off x="1666875" y="3674714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www.geeksforgeeks.org</a:t>
            </a:r>
          </a:p>
        </p:txBody>
      </p:sp>
      <p:pic>
        <p:nvPicPr>
          <p:cNvPr id="293" name="Google Shape;277;p24" descr="Google Shape;277;p2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71500" y="4220319"/>
            <a:ext cx="857250" cy="476252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278;p24"/>
          <p:cNvSpPr txBox="1"/>
          <p:nvPr/>
        </p:nvSpPr>
        <p:spPr>
          <a:xfrm>
            <a:off x="1666875" y="4213769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https://raw.githubusercontent.com/ngs-docs/angus/2017/files/prostate_manhattan.396.png</a:t>
            </a:r>
          </a:p>
        </p:txBody>
      </p:sp>
      <p:sp>
        <p:nvSpPr>
          <p:cNvPr id="295" name="Google Shape;279;p24"/>
          <p:cNvSpPr txBox="1"/>
          <p:nvPr/>
        </p:nvSpPr>
        <p:spPr>
          <a:xfrm>
            <a:off x="1666875" y="445948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angus.readthedocs.io</a:t>
            </a:r>
          </a:p>
        </p:txBody>
      </p:sp>
      <p:pic>
        <p:nvPicPr>
          <p:cNvPr id="296" name="Google Shape;280;p24" descr="Google Shape;280;p2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71500" y="5005089"/>
            <a:ext cx="857250" cy="476252"/>
          </a:xfrm>
          <a:prstGeom prst="rect">
            <a:avLst/>
          </a:prstGeom>
          <a:ln w="12700">
            <a:miter lim="400000"/>
          </a:ln>
        </p:spPr>
      </p:pic>
      <p:sp>
        <p:nvSpPr>
          <p:cNvPr id="297" name="Google Shape;281;p24"/>
          <p:cNvSpPr txBox="1"/>
          <p:nvPr/>
        </p:nvSpPr>
        <p:spPr>
          <a:xfrm>
            <a:off x="1666875" y="4998541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/>
            <a:r>
              <a:t>https://cdn.labmanager.com/assets/image/55331/hybrid-lab-work-s.webp</a:t>
            </a:r>
          </a:p>
        </p:txBody>
      </p:sp>
      <p:sp>
        <p:nvSpPr>
          <p:cNvPr id="298" name="Google Shape;282;p24"/>
          <p:cNvSpPr txBox="1"/>
          <p:nvPr/>
        </p:nvSpPr>
        <p:spPr>
          <a:xfrm>
            <a:off x="1666875" y="524425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www.labmanager.com</a:t>
            </a:r>
          </a:p>
        </p:txBody>
      </p:sp>
      <p:sp>
        <p:nvSpPr>
          <p:cNvPr id="299" name="Google Shape;283;p2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100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pPr/>
            <a:r>
              <a:t>Image Sources</a:t>
            </a:r>
          </a:p>
        </p:txBody>
      </p:sp>
      <p:sp>
        <p:nvSpPr>
          <p:cNvPr id="300" name="Google Shape;284;p2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